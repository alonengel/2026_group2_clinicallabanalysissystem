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CA7D74-BA08-475A-AE83-4343255F9D22}">
  <a:tblStyle styleId="{1ECA7D74-BA08-475A-AE83-4343255F9D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חלא חלו" userId="5bd07cc1e1d8bd11" providerId="LiveId" clId="{805337EE-011C-4E72-801F-7AF6CEDD1404}"/>
    <pc:docChg chg="undo custSel addSld delSld modSld">
      <pc:chgData name="חלא חלו" userId="5bd07cc1e1d8bd11" providerId="LiveId" clId="{805337EE-011C-4E72-801F-7AF6CEDD1404}" dt="2026-06-15T16:26:44.642" v="87" actId="478"/>
      <pc:docMkLst>
        <pc:docMk/>
      </pc:docMkLst>
      <pc:sldChg chg="delSp modSp mod">
        <pc:chgData name="חלא חלו" userId="5bd07cc1e1d8bd11" providerId="LiveId" clId="{805337EE-011C-4E72-801F-7AF6CEDD1404}" dt="2026-06-15T15:47:31.332" v="45" actId="1076"/>
        <pc:sldMkLst>
          <pc:docMk/>
          <pc:sldMk cId="0" sldId="257"/>
        </pc:sldMkLst>
        <pc:spChg chg="mod">
          <ac:chgData name="חלא חלו" userId="5bd07cc1e1d8bd11" providerId="LiveId" clId="{805337EE-011C-4E72-801F-7AF6CEDD1404}" dt="2026-06-15T15:40:49.794" v="28" actId="1076"/>
          <ac:spMkLst>
            <pc:docMk/>
            <pc:sldMk cId="0" sldId="257"/>
            <ac:spMk id="52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49.794" v="28" actId="107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49.794" v="28" actId="1076"/>
          <ac:spMkLst>
            <pc:docMk/>
            <pc:sldMk cId="0" sldId="257"/>
            <ac:spMk id="54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1:23.679" v="35" actId="14100"/>
          <ac:spMkLst>
            <pc:docMk/>
            <pc:sldMk cId="0" sldId="257"/>
            <ac:spMk id="55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1:19.583" v="34" actId="14100"/>
          <ac:spMkLst>
            <pc:docMk/>
            <pc:sldMk cId="0" sldId="257"/>
            <ac:spMk id="56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36.053" v="27" actId="1036"/>
          <ac:spMkLst>
            <pc:docMk/>
            <pc:sldMk cId="0" sldId="257"/>
            <ac:spMk id="59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1:30.263" v="37" actId="14100"/>
          <ac:spMkLst>
            <pc:docMk/>
            <pc:sldMk cId="0" sldId="257"/>
            <ac:spMk id="60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1:27.769" v="36" actId="14100"/>
          <ac:spMkLst>
            <pc:docMk/>
            <pc:sldMk cId="0" sldId="257"/>
            <ac:spMk id="61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36.053" v="27" actId="1036"/>
          <ac:spMkLst>
            <pc:docMk/>
            <pc:sldMk cId="0" sldId="257"/>
            <ac:spMk id="62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36.053" v="27" actId="1036"/>
          <ac:spMkLst>
            <pc:docMk/>
            <pc:sldMk cId="0" sldId="257"/>
            <ac:spMk id="63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36.053" v="27" actId="1036"/>
          <ac:spMkLst>
            <pc:docMk/>
            <pc:sldMk cId="0" sldId="257"/>
            <ac:spMk id="64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1:37.031" v="40" actId="14100"/>
          <ac:spMkLst>
            <pc:docMk/>
            <pc:sldMk cId="0" sldId="257"/>
            <ac:spMk id="65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1:43.417" v="41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49.794" v="28" actId="1076"/>
          <ac:spMkLst>
            <pc:docMk/>
            <pc:sldMk cId="0" sldId="257"/>
            <ac:spMk id="67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36.053" v="27" actId="1036"/>
          <ac:spMkLst>
            <pc:docMk/>
            <pc:sldMk cId="0" sldId="257"/>
            <ac:spMk id="68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49.794" v="28" actId="1076"/>
          <ac:spMkLst>
            <pc:docMk/>
            <pc:sldMk cId="0" sldId="257"/>
            <ac:spMk id="69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59.974" v="30" actId="1076"/>
          <ac:spMkLst>
            <pc:docMk/>
            <pc:sldMk cId="0" sldId="257"/>
            <ac:spMk id="72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1:47.620" v="43" actId="14100"/>
          <ac:spMkLst>
            <pc:docMk/>
            <pc:sldMk cId="0" sldId="257"/>
            <ac:spMk id="73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18.785" v="21" actId="1076"/>
          <ac:spMkLst>
            <pc:docMk/>
            <pc:sldMk cId="0" sldId="257"/>
            <ac:spMk id="74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5:40:21.698" v="22" actId="1076"/>
          <ac:spMkLst>
            <pc:docMk/>
            <pc:sldMk cId="0" sldId="257"/>
            <ac:spMk id="75" creationId="{00000000-0000-0000-0000-000000000000}"/>
          </ac:spMkLst>
        </pc:spChg>
        <pc:spChg chg="del">
          <ac:chgData name="חלא חלו" userId="5bd07cc1e1d8bd11" providerId="LiveId" clId="{805337EE-011C-4E72-801F-7AF6CEDD1404}" dt="2026-06-15T13:58:18.187" v="17" actId="478"/>
          <ac:spMkLst>
            <pc:docMk/>
            <pc:sldMk cId="0" sldId="257"/>
            <ac:spMk id="76" creationId="{00000000-0000-0000-0000-000000000000}"/>
          </ac:spMkLst>
        </pc:spChg>
        <pc:spChg chg="del mod">
          <ac:chgData name="חלא חלו" userId="5bd07cc1e1d8bd11" providerId="LiveId" clId="{805337EE-011C-4E72-801F-7AF6CEDD1404}" dt="2026-06-15T13:58:23.079" v="19" actId="478"/>
          <ac:spMkLst>
            <pc:docMk/>
            <pc:sldMk cId="0" sldId="257"/>
            <ac:spMk id="77" creationId="{00000000-0000-0000-0000-000000000000}"/>
          </ac:spMkLst>
        </pc:spChg>
        <pc:picChg chg="mod">
          <ac:chgData name="חלא חלו" userId="5bd07cc1e1d8bd11" providerId="LiveId" clId="{805337EE-011C-4E72-801F-7AF6CEDD1404}" dt="2026-06-15T15:47:31.332" v="45" actId="1076"/>
          <ac:picMkLst>
            <pc:docMk/>
            <pc:sldMk cId="0" sldId="257"/>
            <ac:picMk id="71" creationId="{00000000-0000-0000-0000-000000000000}"/>
          </ac:picMkLst>
        </pc:picChg>
      </pc:sldChg>
      <pc:sldChg chg="addSp delSp modSp mod">
        <pc:chgData name="חלא חלו" userId="5bd07cc1e1d8bd11" providerId="LiveId" clId="{805337EE-011C-4E72-801F-7AF6CEDD1404}" dt="2026-06-15T16:25:30.153" v="83" actId="478"/>
        <pc:sldMkLst>
          <pc:docMk/>
          <pc:sldMk cId="0" sldId="261"/>
        </pc:sldMkLst>
        <pc:spChg chg="add del mod">
          <ac:chgData name="חלא חלו" userId="5bd07cc1e1d8bd11" providerId="LiveId" clId="{805337EE-011C-4E72-801F-7AF6CEDD1404}" dt="2026-06-15T16:23:56.220" v="81" actId="21"/>
          <ac:spMkLst>
            <pc:docMk/>
            <pc:sldMk cId="0" sldId="261"/>
            <ac:spMk id="224" creationId="{00000000-0000-0000-0000-000000000000}"/>
          </ac:spMkLst>
        </pc:spChg>
        <pc:spChg chg="del">
          <ac:chgData name="חלא חלו" userId="5bd07cc1e1d8bd11" providerId="LiveId" clId="{805337EE-011C-4E72-801F-7AF6CEDD1404}" dt="2026-06-15T16:23:59.703" v="82" actId="478"/>
          <ac:spMkLst>
            <pc:docMk/>
            <pc:sldMk cId="0" sldId="261"/>
            <ac:spMk id="230" creationId="{00000000-0000-0000-0000-000000000000}"/>
          </ac:spMkLst>
        </pc:spChg>
        <pc:spChg chg="del mod">
          <ac:chgData name="חלא חלו" userId="5bd07cc1e1d8bd11" providerId="LiveId" clId="{805337EE-011C-4E72-801F-7AF6CEDD1404}" dt="2026-06-15T16:03:52.858" v="50" actId="21"/>
          <ac:spMkLst>
            <pc:docMk/>
            <pc:sldMk cId="0" sldId="261"/>
            <ac:spMk id="231" creationId="{00000000-0000-0000-0000-000000000000}"/>
          </ac:spMkLst>
        </pc:spChg>
        <pc:spChg chg="del">
          <ac:chgData name="חלא חלו" userId="5bd07cc1e1d8bd11" providerId="LiveId" clId="{805337EE-011C-4E72-801F-7AF6CEDD1404}" dt="2026-06-15T16:25:30.153" v="83" actId="478"/>
          <ac:spMkLst>
            <pc:docMk/>
            <pc:sldMk cId="0" sldId="261"/>
            <ac:spMk id="240" creationId="{00000000-0000-0000-0000-000000000000}"/>
          </ac:spMkLst>
        </pc:spChg>
      </pc:sldChg>
      <pc:sldChg chg="modSp mod">
        <pc:chgData name="חלא חלו" userId="5bd07cc1e1d8bd11" providerId="LiveId" clId="{805337EE-011C-4E72-801F-7AF6CEDD1404}" dt="2026-06-15T16:26:26.497" v="84" actId="20577"/>
        <pc:sldMkLst>
          <pc:docMk/>
          <pc:sldMk cId="0" sldId="262"/>
        </pc:sldMkLst>
        <pc:spChg chg="mod">
          <ac:chgData name="חלא חלו" userId="5bd07cc1e1d8bd11" providerId="LiveId" clId="{805337EE-011C-4E72-801F-7AF6CEDD1404}" dt="2026-06-15T16:26:26.497" v="84" actId="20577"/>
          <ac:spMkLst>
            <pc:docMk/>
            <pc:sldMk cId="0" sldId="262"/>
            <ac:spMk id="266" creationId="{00000000-0000-0000-0000-000000000000}"/>
          </ac:spMkLst>
        </pc:spChg>
      </pc:sldChg>
      <pc:sldChg chg="delSp modSp mod">
        <pc:chgData name="חלא חלו" userId="5bd07cc1e1d8bd11" providerId="LiveId" clId="{805337EE-011C-4E72-801F-7AF6CEDD1404}" dt="2026-06-15T16:26:44.642" v="87" actId="478"/>
        <pc:sldMkLst>
          <pc:docMk/>
          <pc:sldMk cId="0" sldId="266"/>
        </pc:sldMkLst>
        <pc:spChg chg="del mod">
          <ac:chgData name="חלא חלו" userId="5bd07cc1e1d8bd11" providerId="LiveId" clId="{805337EE-011C-4E72-801F-7AF6CEDD1404}" dt="2026-06-15T16:26:40.835" v="86" actId="478"/>
          <ac:spMkLst>
            <pc:docMk/>
            <pc:sldMk cId="0" sldId="266"/>
            <ac:spMk id="379" creationId="{00000000-0000-0000-0000-000000000000}"/>
          </ac:spMkLst>
        </pc:spChg>
        <pc:spChg chg="del">
          <ac:chgData name="חלא חלו" userId="5bd07cc1e1d8bd11" providerId="LiveId" clId="{805337EE-011C-4E72-801F-7AF6CEDD1404}" dt="2026-06-15T16:26:44.642" v="87" actId="478"/>
          <ac:spMkLst>
            <pc:docMk/>
            <pc:sldMk cId="0" sldId="266"/>
            <ac:spMk id="380" creationId="{00000000-0000-0000-0000-000000000000}"/>
          </ac:spMkLst>
        </pc:spChg>
      </pc:sldChg>
      <pc:sldChg chg="addSp modSp mod">
        <pc:chgData name="חלא חלו" userId="5bd07cc1e1d8bd11" providerId="LiveId" clId="{805337EE-011C-4E72-801F-7AF6CEDD1404}" dt="2026-06-15T16:20:20.513" v="78" actId="1076"/>
        <pc:sldMkLst>
          <pc:docMk/>
          <pc:sldMk cId="0" sldId="268"/>
        </pc:sldMkLst>
        <pc:spChg chg="mod">
          <ac:chgData name="חלא חלו" userId="5bd07cc1e1d8bd11" providerId="LiveId" clId="{805337EE-011C-4E72-801F-7AF6CEDD1404}" dt="2026-06-15T16:18:33.940" v="60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6:18:37.221" v="61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6:18:41.199" v="62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6:20:20.513" v="78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6:20:20.513" v="78" actId="107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6:20:20.513" v="78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6:20:20.513" v="78" actId="107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6:20:20.513" v="78" actId="107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חלא חלו" userId="5bd07cc1e1d8bd11" providerId="LiveId" clId="{805337EE-011C-4E72-801F-7AF6CEDD1404}" dt="2026-06-15T16:20:20.513" v="78" actId="1076"/>
          <ac:spMkLst>
            <pc:docMk/>
            <pc:sldMk cId="0" sldId="268"/>
            <ac:spMk id="25" creationId="{00000000-0000-0000-0000-000000000000}"/>
          </ac:spMkLst>
        </pc:spChg>
        <pc:picChg chg="add mod">
          <ac:chgData name="חלא חלו" userId="5bd07cc1e1d8bd11" providerId="LiveId" clId="{805337EE-011C-4E72-801F-7AF6CEDD1404}" dt="2026-06-15T16:20:16.218" v="77" actId="1076"/>
          <ac:picMkLst>
            <pc:docMk/>
            <pc:sldMk cId="0" sldId="268"/>
            <ac:picMk id="3" creationId="{C87E431F-4E83-9640-7F31-FBA473315A8C}"/>
          </ac:picMkLst>
        </pc:picChg>
      </pc:sldChg>
      <pc:sldChg chg="del">
        <pc:chgData name="חלא חלו" userId="5bd07cc1e1d8bd11" providerId="LiveId" clId="{805337EE-011C-4E72-801F-7AF6CEDD1404}" dt="2026-06-15T13:34:08.211" v="8" actId="47"/>
        <pc:sldMkLst>
          <pc:docMk/>
          <pc:sldMk cId="0" sldId="269"/>
        </pc:sldMkLst>
      </pc:sldChg>
      <pc:sldChg chg="addSp modSp new del mod">
        <pc:chgData name="חלא חלו" userId="5bd07cc1e1d8bd11" providerId="LiveId" clId="{805337EE-011C-4E72-801F-7AF6CEDD1404}" dt="2026-06-15T16:20:26.198" v="79" actId="2696"/>
        <pc:sldMkLst>
          <pc:docMk/>
          <pc:sldMk cId="2962256047" sldId="269"/>
        </pc:sldMkLst>
        <pc:picChg chg="add mod">
          <ac:chgData name="חלא חלו" userId="5bd07cc1e1d8bd11" providerId="LiveId" clId="{805337EE-011C-4E72-801F-7AF6CEDD1404}" dt="2026-06-15T16:16:52.380" v="54" actId="1076"/>
          <ac:picMkLst>
            <pc:docMk/>
            <pc:sldMk cId="2962256047" sldId="269"/>
            <ac:picMk id="3" creationId="{8B856645-769A-897E-F268-785A412E1698}"/>
          </ac:picMkLst>
        </pc:picChg>
      </pc:sldChg>
      <pc:sldChg chg="del">
        <pc:chgData name="חלא חלו" userId="5bd07cc1e1d8bd11" providerId="LiveId" clId="{805337EE-011C-4E72-801F-7AF6CEDD1404}" dt="2026-06-15T13:34:10.862" v="9" actId="47"/>
        <pc:sldMkLst>
          <pc:docMk/>
          <pc:sldMk cId="0" sldId="270"/>
        </pc:sldMkLst>
      </pc:sldChg>
      <pc:sldChg chg="del">
        <pc:chgData name="חלא חלו" userId="5bd07cc1e1d8bd11" providerId="LiveId" clId="{805337EE-011C-4E72-801F-7AF6CEDD1404}" dt="2026-06-15T13:34:07.081" v="7" actId="47"/>
        <pc:sldMkLst>
          <pc:docMk/>
          <pc:sldMk cId="0" sldId="271"/>
        </pc:sldMkLst>
      </pc:sldChg>
      <pc:sldChg chg="del">
        <pc:chgData name="חלא חלו" userId="5bd07cc1e1d8bd11" providerId="LiveId" clId="{805337EE-011C-4E72-801F-7AF6CEDD1404}" dt="2026-06-15T13:34:13.032" v="10" actId="47"/>
        <pc:sldMkLst>
          <pc:docMk/>
          <pc:sldMk cId="0" sldId="272"/>
        </pc:sldMkLst>
      </pc:sldChg>
      <pc:sldChg chg="del">
        <pc:chgData name="חלא חלו" userId="5bd07cc1e1d8bd11" providerId="LiveId" clId="{805337EE-011C-4E72-801F-7AF6CEDD1404}" dt="2026-06-15T13:34:06.095" v="6" actId="47"/>
        <pc:sldMkLst>
          <pc:docMk/>
          <pc:sldMk cId="0" sldId="273"/>
        </pc:sldMkLst>
      </pc:sldChg>
      <pc:sldChg chg="del">
        <pc:chgData name="חלא חלו" userId="5bd07cc1e1d8bd11" providerId="LiveId" clId="{805337EE-011C-4E72-801F-7AF6CEDD1404}" dt="2026-06-15T13:34:14.800" v="11" actId="47"/>
        <pc:sldMkLst>
          <pc:docMk/>
          <pc:sldMk cId="0" sldId="274"/>
        </pc:sldMkLst>
      </pc:sldChg>
      <pc:sldChg chg="del">
        <pc:chgData name="חלא חלו" userId="5bd07cc1e1d8bd11" providerId="LiveId" clId="{805337EE-011C-4E72-801F-7AF6CEDD1404}" dt="2026-06-15T13:34:04.988" v="5" actId="47"/>
        <pc:sldMkLst>
          <pc:docMk/>
          <pc:sldMk cId="0" sldId="275"/>
        </pc:sldMkLst>
      </pc:sldChg>
      <pc:sldChg chg="del">
        <pc:chgData name="חלא חלו" userId="5bd07cc1e1d8bd11" providerId="LiveId" clId="{805337EE-011C-4E72-801F-7AF6CEDD1404}" dt="2026-06-15T13:34:16.108" v="12" actId="47"/>
        <pc:sldMkLst>
          <pc:docMk/>
          <pc:sldMk cId="0" sldId="276"/>
        </pc:sldMkLst>
      </pc:sldChg>
      <pc:sldChg chg="del">
        <pc:chgData name="חלא חלו" userId="5bd07cc1e1d8bd11" providerId="LiveId" clId="{805337EE-011C-4E72-801F-7AF6CEDD1404}" dt="2026-06-15T13:34:17.884" v="13" actId="47"/>
        <pc:sldMkLst>
          <pc:docMk/>
          <pc:sldMk cId="0" sldId="277"/>
        </pc:sldMkLst>
      </pc:sldChg>
      <pc:sldChg chg="del">
        <pc:chgData name="חלא חלו" userId="5bd07cc1e1d8bd11" providerId="LiveId" clId="{805337EE-011C-4E72-801F-7AF6CEDD1404}" dt="2026-06-15T13:34:04.068" v="4" actId="47"/>
        <pc:sldMkLst>
          <pc:docMk/>
          <pc:sldMk cId="0" sldId="278"/>
        </pc:sldMkLst>
      </pc:sldChg>
      <pc:sldChg chg="del">
        <pc:chgData name="חלא חלו" userId="5bd07cc1e1d8bd11" providerId="LiveId" clId="{805337EE-011C-4E72-801F-7AF6CEDD1404}" dt="2026-06-15T13:34:03.081" v="3" actId="47"/>
        <pc:sldMkLst>
          <pc:docMk/>
          <pc:sldMk cId="0" sldId="279"/>
        </pc:sldMkLst>
      </pc:sldChg>
      <pc:sldChg chg="del">
        <pc:chgData name="חלא חלו" userId="5bd07cc1e1d8bd11" providerId="LiveId" clId="{805337EE-011C-4E72-801F-7AF6CEDD1404}" dt="2026-06-15T13:34:19.230" v="14" actId="47"/>
        <pc:sldMkLst>
          <pc:docMk/>
          <pc:sldMk cId="0" sldId="280"/>
        </pc:sldMkLst>
      </pc:sldChg>
      <pc:sldChg chg="del">
        <pc:chgData name="חלא חלו" userId="5bd07cc1e1d8bd11" providerId="LiveId" clId="{805337EE-011C-4E72-801F-7AF6CEDD1404}" dt="2026-06-15T13:34:02.176" v="2" actId="47"/>
        <pc:sldMkLst>
          <pc:docMk/>
          <pc:sldMk cId="0" sldId="281"/>
        </pc:sldMkLst>
      </pc:sldChg>
      <pc:sldChg chg="del">
        <pc:chgData name="חלא חלו" userId="5bd07cc1e1d8bd11" providerId="LiveId" clId="{805337EE-011C-4E72-801F-7AF6CEDD1404}" dt="2026-06-15T13:34:20.958" v="15" actId="47"/>
        <pc:sldMkLst>
          <pc:docMk/>
          <pc:sldMk cId="0" sldId="282"/>
        </pc:sldMkLst>
      </pc:sldChg>
      <pc:sldChg chg="del">
        <pc:chgData name="חלא חלו" userId="5bd07cc1e1d8bd11" providerId="LiveId" clId="{805337EE-011C-4E72-801F-7AF6CEDD1404}" dt="2026-06-15T13:34:00.511" v="1" actId="47"/>
        <pc:sldMkLst>
          <pc:docMk/>
          <pc:sldMk cId="0" sldId="283"/>
        </pc:sldMkLst>
      </pc:sldChg>
      <pc:sldChg chg="del">
        <pc:chgData name="חלא חלו" userId="5bd07cc1e1d8bd11" providerId="LiveId" clId="{805337EE-011C-4E72-801F-7AF6CEDD1404}" dt="2026-06-15T13:33:59.426" v="0" actId="47"/>
        <pc:sldMkLst>
          <pc:docMk/>
          <pc:sldMk cId="0" sldId="284"/>
        </pc:sldMkLst>
      </pc:sldChg>
      <pc:sldChg chg="del">
        <pc:chgData name="חלא חלו" userId="5bd07cc1e1d8bd11" providerId="LiveId" clId="{805337EE-011C-4E72-801F-7AF6CEDD1404}" dt="2026-06-15T13:34:24.860" v="16" actId="47"/>
        <pc:sldMkLst>
          <pc:docMk/>
          <pc:sldMk cId="0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73240" y="-2140610"/>
            <a:ext cx="4114800" cy="4114800"/>
          </a:xfrm>
          <a:prstGeom prst="ellipse">
            <a:avLst/>
          </a:prstGeom>
          <a:solidFill>
            <a:srgbClr val="7C3AED">
              <a:alpha val="12156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498080" y="-1428293"/>
            <a:ext cx="2743200" cy="2743200"/>
          </a:xfrm>
          <a:prstGeom prst="ellipse">
            <a:avLst/>
          </a:prstGeom>
          <a:solidFill>
            <a:srgbClr val="06B6D4">
              <a:alpha val="7843"/>
            </a:srgbClr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305436" y="3666744"/>
            <a:ext cx="3200400" cy="3200400"/>
          </a:xfrm>
          <a:prstGeom prst="ellipse">
            <a:avLst/>
          </a:prstGeom>
          <a:solidFill>
            <a:srgbClr val="4C1D95">
              <a:alpha val="14901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2633472"/>
            <a:ext cx="9144000" cy="16459"/>
          </a:xfrm>
          <a:prstGeom prst="rect">
            <a:avLst/>
          </a:prstGeom>
          <a:solidFill>
            <a:srgbClr val="7C3AED">
              <a:alpha val="45098"/>
            </a:srgbClr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347472"/>
            <a:ext cx="2011680" cy="384048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34747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SEMINAR PRESENTATION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96012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rebuchet MS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Self-Edit: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1737360"/>
            <a:ext cx="7315200" cy="658368"/>
          </a:xfrm>
          <a:prstGeom prst="rect">
            <a:avLst/>
          </a:prstGeom>
          <a:solidFill>
            <a:srgbClr val="4C1D95">
              <a:alpha val="25098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173736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600"/>
              <a:buFont typeface="Trebuchet MS"/>
              <a:buNone/>
            </a:pPr>
            <a:r>
              <a:rPr lang="en-US" sz="2600" b="0" i="0" u="none" strike="noStrike" cap="non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Fault-Aware Code Editor for Code Generation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2834640"/>
            <a:ext cx="8229600" cy="18288"/>
          </a:xfrm>
          <a:prstGeom prst="rect">
            <a:avLst/>
          </a:prstGeom>
          <a:solidFill>
            <a:srgbClr val="164E63"/>
          </a:solidFill>
          <a:ln w="12700" cap="flat" cmpd="sng">
            <a:solidFill>
              <a:srgbClr val="164E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098065" y="4459280"/>
            <a:ext cx="3657600" cy="347472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" name="Google Shape;28;p3"/>
          <p:cNvSpPr/>
          <p:nvPr/>
        </p:nvSpPr>
        <p:spPr>
          <a:xfrm>
            <a:off x="2109700" y="4463328"/>
            <a:ext cx="45719" cy="347472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118434" y="445523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PRESENTED BY : 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0;p3"/>
          <p:cNvSpPr/>
          <p:nvPr/>
        </p:nvSpPr>
        <p:spPr>
          <a:xfrm>
            <a:off x="2036213" y="4226632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Dana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Nmarny</a:t>
            </a:r>
            <a:r>
              <a:rPr lang="en-US" sz="9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Hala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Hillou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7004304" y="-1024128"/>
            <a:ext cx="3200400" cy="3200400"/>
          </a:xfrm>
          <a:prstGeom prst="ellipse">
            <a:avLst/>
          </a:prstGeom>
          <a:solidFill>
            <a:srgbClr val="EF4444">
              <a:alpha val="7058"/>
            </a:srgbClr>
          </a:solidFill>
          <a:ln w="95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02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Why do LLMs struggle with code generation?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92857" y="1339596"/>
            <a:ext cx="2176272" cy="2084832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29433" y="1376172"/>
            <a:ext cx="2103120" cy="2011680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29433" y="144018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800"/>
              <a:buFont typeface="Calibri"/>
              <a:buNone/>
            </a:pPr>
            <a:r>
              <a:rPr lang="en-US" sz="6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7%</a:t>
            </a:r>
            <a:endParaRPr sz="6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29433" y="2382012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GPT-3 pass@1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on APPS-test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724577" y="1339596"/>
            <a:ext cx="3200438" cy="667512"/>
          </a:xfrm>
          <a:prstGeom prst="rect">
            <a:avLst/>
          </a:prstGeom>
          <a:solidFill>
            <a:srgbClr val="EF4444">
              <a:alpha val="18039"/>
            </a:srgbClr>
          </a:solidFill>
          <a:ln w="95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2761153" y="1376172"/>
            <a:ext cx="3163862" cy="59436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761153" y="1376172"/>
            <a:ext cx="54864" cy="59436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2898313" y="13944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Syntax Errors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898313" y="170535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LLMs produce Python 2-style print,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wrong brackets, missing colons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724577" y="2007108"/>
            <a:ext cx="3200400" cy="667512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761153" y="2043684"/>
            <a:ext cx="3163862" cy="59436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2761153" y="2043684"/>
            <a:ext cx="54864" cy="5943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898313" y="20619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Runtime Errors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898313" y="23728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NameError, IndexError, TypeError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crash the program at runtime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718407" y="2706624"/>
            <a:ext cx="3200400" cy="667512"/>
          </a:xfrm>
          <a:prstGeom prst="rect">
            <a:avLst/>
          </a:prstGeom>
          <a:solidFill>
            <a:srgbClr val="A855F7">
              <a:alpha val="18039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2729149" y="2756916"/>
            <a:ext cx="3163824" cy="59436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761153" y="2711196"/>
            <a:ext cx="54864" cy="594360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2898313" y="272948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Wrong Answers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898313" y="30403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Logical errors — code runs but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outputs incorrect results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00800" y="1005840"/>
            <a:ext cx="2423160" cy="338328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1E2D5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4977" y="1051560"/>
            <a:ext cx="3128845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6400800" y="4443984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lang="en-US" sz="750" b="0" i="1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Figure 1 — GPT3 output with </a:t>
            </a:r>
            <a:r>
              <a:rPr lang="en-US" sz="750" b="0" i="1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SyntaxError</a:t>
            </a:r>
            <a:r>
              <a:rPr lang="en-US" sz="750" b="0" i="1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on APPS-test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02001" y="3799332"/>
            <a:ext cx="5516806" cy="548640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164E63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38912" y="3753612"/>
            <a:ext cx="54864" cy="548640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3776" y="3767328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50"/>
              <a:buFont typeface="Calibri"/>
              <a:buNone/>
            </a:pPr>
            <a:r>
              <a:rPr lang="en-US" sz="115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Can we fix AI-generated code using its own execution results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50"/>
              <a:buFont typeface="Calibri"/>
              <a:buNone/>
            </a:pPr>
            <a:r>
              <a:rPr lang="en-US" sz="115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— instead of generating from scratch?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4C1D95">
              <a:alpha val="12156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03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Core Idea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Inspired by how human programmers actually 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11480" y="1078992"/>
            <a:ext cx="8321040" cy="1078992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1E2D5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48640" y="111556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👨‍💻  Human Programmers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697480" y="1188720"/>
            <a:ext cx="1143000" cy="868680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2697480" y="1188720"/>
            <a:ext cx="11430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Write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840480" y="13716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114800" y="1188720"/>
            <a:ext cx="1143000" cy="868680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114800" y="1188720"/>
            <a:ext cx="11430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257800" y="13716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532120" y="1188720"/>
            <a:ext cx="1143000" cy="868680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532120" y="1188720"/>
            <a:ext cx="11430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Debug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675120" y="13716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949440" y="1188720"/>
            <a:ext cx="1143000" cy="868680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949440" y="1188720"/>
            <a:ext cx="11430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93192" y="2331720"/>
            <a:ext cx="8357616" cy="1170432"/>
          </a:xfrm>
          <a:prstGeom prst="rect">
            <a:avLst/>
          </a:prstGeom>
          <a:solidFill>
            <a:srgbClr val="7C3AED">
              <a:alpha val="5882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11480" y="2350008"/>
            <a:ext cx="8321040" cy="1133856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94360" y="239572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🤖  Self-Edit  (Our Approach)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697480" y="2450592"/>
            <a:ext cx="1143000" cy="914400"/>
          </a:xfrm>
          <a:prstGeom prst="rect">
            <a:avLst/>
          </a:prstGeom>
          <a:solidFill>
            <a:srgbClr val="06B6D4">
              <a:alpha val="80000"/>
            </a:srgbClr>
          </a:solidFill>
          <a:ln w="1905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2697480" y="2450592"/>
            <a:ext cx="114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840480" y="2697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114800" y="2450592"/>
            <a:ext cx="1143000" cy="91440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114800" y="2450592"/>
            <a:ext cx="114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257800" y="2697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532120" y="2450592"/>
            <a:ext cx="1143000" cy="914400"/>
          </a:xfrm>
          <a:prstGeom prst="rect">
            <a:avLst/>
          </a:prstGeom>
          <a:solidFill>
            <a:srgbClr val="A855F7">
              <a:alpha val="80000"/>
            </a:srgbClr>
          </a:solidFill>
          <a:ln w="1905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532120" y="2450592"/>
            <a:ext cx="114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675120" y="2697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949440" y="2450592"/>
            <a:ext cx="1143000" cy="914400"/>
          </a:xfrm>
          <a:prstGeom prst="rect">
            <a:avLst/>
          </a:prstGeom>
          <a:solidFill>
            <a:srgbClr val="10B981">
              <a:alpha val="80000"/>
            </a:srgbClr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949440" y="2450592"/>
            <a:ext cx="114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74904" y="3666744"/>
            <a:ext cx="2706624" cy="1307592"/>
          </a:xfrm>
          <a:prstGeom prst="rect">
            <a:avLst/>
          </a:prstGeom>
          <a:solidFill>
            <a:srgbClr val="06B6D4">
              <a:alpha val="18039"/>
            </a:srgbClr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11480" y="3703320"/>
            <a:ext cx="2633472" cy="123444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11480" y="3703320"/>
            <a:ext cx="2633472" cy="54864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48640" y="3785616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◈  Black-box LLM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" y="4114800"/>
            <a:ext cx="235915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 retraining of the base model.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Works with any LLM via API.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191256" y="3666744"/>
            <a:ext cx="2706624" cy="1307592"/>
          </a:xfrm>
          <a:prstGeom prst="rect">
            <a:avLst/>
          </a:prstGeom>
          <a:solidFill>
            <a:srgbClr val="A855F7">
              <a:alpha val="18039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227832" y="3703320"/>
            <a:ext cx="2633472" cy="123444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227832" y="3703320"/>
            <a:ext cx="2633472" cy="54864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3364992" y="3785616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◉  First Editing Approach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364992" y="4114800"/>
            <a:ext cx="235915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Novel editing-based method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for competitive programming.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007608" y="3666744"/>
            <a:ext cx="2706624" cy="1307592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044184" y="3703320"/>
            <a:ext cx="2633472" cy="123444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044184" y="3703320"/>
            <a:ext cx="2633472" cy="5486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181344" y="3785616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◆  Constant Sample Budget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181344" y="4114800"/>
            <a:ext cx="235915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 large-scale sampling.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Fixed number of LLM calls.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8412480" y="4823460"/>
            <a:ext cx="1280160" cy="1133856"/>
          </a:xfrm>
          <a:prstGeom prst="ellipse">
            <a:avLst/>
          </a:prstGeom>
          <a:solidFill>
            <a:srgbClr val="164E63">
              <a:alpha val="12156"/>
            </a:srgbClr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04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Self-Edit Pipeline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Three-stage generate-and-edit workflow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74904" y="1042416"/>
            <a:ext cx="4279392" cy="1170432"/>
          </a:xfrm>
          <a:prstGeom prst="rect">
            <a:avLst/>
          </a:prstGeom>
          <a:solidFill>
            <a:srgbClr val="06B6D4">
              <a:alpha val="18039"/>
            </a:srgbClr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11480" y="1078992"/>
            <a:ext cx="4206240" cy="109728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02920" y="1335024"/>
            <a:ext cx="566928" cy="566928"/>
          </a:xfrm>
          <a:prstGeom prst="ellipse">
            <a:avLst/>
          </a:prstGeom>
          <a:solidFill>
            <a:srgbClr val="06B6D4">
              <a:alpha val="85098"/>
            </a:srgbClr>
          </a:solidFill>
          <a:ln w="1905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02920" y="133502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207008" y="113385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207008" y="1499616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LLM produces initial code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from problem description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&amp; example test cases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74904" y="2267712"/>
            <a:ext cx="4279392" cy="1170432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11480" y="2304288"/>
            <a:ext cx="4206240" cy="109728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02920" y="2560320"/>
            <a:ext cx="566928" cy="566928"/>
          </a:xfrm>
          <a:prstGeom prst="ellipse">
            <a:avLst/>
          </a:prstGeom>
          <a:solidFill>
            <a:srgbClr val="F59E0B">
              <a:alpha val="85098"/>
            </a:srgbClr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02920" y="2560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207008" y="235915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207008" y="2724912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Run code on example test case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Capture: Pass / Wrong Answer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or Error with message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74904" y="3493008"/>
            <a:ext cx="4279392" cy="1170432"/>
          </a:xfrm>
          <a:prstGeom prst="rect">
            <a:avLst/>
          </a:prstGeom>
          <a:solidFill>
            <a:srgbClr val="A855F7">
              <a:alpha val="18039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11480" y="3529584"/>
            <a:ext cx="4206240" cy="109728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02920" y="3785616"/>
            <a:ext cx="566928" cy="566928"/>
          </a:xfrm>
          <a:prstGeom prst="ellipse">
            <a:avLst/>
          </a:prstGeom>
          <a:solidFill>
            <a:srgbClr val="A855F7">
              <a:alpha val="85098"/>
            </a:srgbClr>
          </a:solidFill>
          <a:ln w="1905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02920" y="37856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207008" y="358444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207008" y="3950208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Fault-aware editor receives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description + code + feedback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Outputs corrected code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846320" y="1005840"/>
            <a:ext cx="3977640" cy="374904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1E2D5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2040" y="1051560"/>
            <a:ext cx="388620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4846320" y="468172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Figure 2 — Self-Edit pipeline diagram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05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Execution Feedback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Supplementary Comments — the bridge between errors and corrections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74904" y="1042416"/>
            <a:ext cx="4736592" cy="1078992"/>
          </a:xfrm>
          <a:prstGeom prst="rect">
            <a:avLst/>
          </a:prstGeom>
          <a:solidFill>
            <a:srgbClr val="10B981">
              <a:alpha val="18039"/>
            </a:srgbClr>
          </a:solidFill>
          <a:ln w="95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11480" y="1078992"/>
            <a:ext cx="4663440" cy="100584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11480" y="1078992"/>
            <a:ext cx="64008" cy="100584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594360" y="1133856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Passed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94360" y="1481328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nsolas"/>
              <a:buNone/>
            </a:pPr>
            <a:r>
              <a:rPr lang="en-US" sz="1000" b="0" i="1" u="none" strike="noStrike" cap="non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"Pass the example test case."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94360" y="177393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Editor may still optimize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74904" y="2194560"/>
            <a:ext cx="4736592" cy="1078992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11480" y="2231136"/>
            <a:ext cx="4663440" cy="100584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11480" y="2231136"/>
            <a:ext cx="64008" cy="10058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94360" y="228600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✗  Wrong Answer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94360" y="2633472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nsolas"/>
              <a:buNone/>
            </a:pPr>
            <a:r>
              <a:rPr lang="en-US" sz="1000" b="0" i="1" u="none" strike="noStrike" cap="non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"Expected Y, got Z. Rewrite the code."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94360" y="29260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Triggers full algorithm rewrite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74904" y="3346704"/>
            <a:ext cx="4736592" cy="1078992"/>
          </a:xfrm>
          <a:prstGeom prst="rect">
            <a:avLst/>
          </a:prstGeom>
          <a:solidFill>
            <a:srgbClr val="EF4444">
              <a:alpha val="18039"/>
            </a:srgbClr>
          </a:solidFill>
          <a:ln w="95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11480" y="3383280"/>
            <a:ext cx="4663440" cy="100584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11480" y="3383280"/>
            <a:ext cx="64008" cy="100584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594360" y="3438144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⚡  Error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94360" y="3785616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nsolas"/>
              <a:buNone/>
            </a:pPr>
            <a:r>
              <a:rPr lang="en-US" sz="1000" b="0" i="1" u="none" strike="noStrike" cap="non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"Line N, &lt;code&gt;. &lt;ErrorType&gt;: msg. Fix the bug."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94360" y="407822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Points to exact line + error type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303520" y="1005840"/>
            <a:ext cx="3520440" cy="352044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1E2D5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9240" y="1051560"/>
            <a:ext cx="342900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5303520" y="455371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Figure 4 — Supplementary Comment templates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06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Fault-Aware Code Editor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Technical design of the neural editor 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11480" y="1078992"/>
            <a:ext cx="8321040" cy="822960"/>
          </a:xfrm>
          <a:prstGeom prst="rect">
            <a:avLst/>
          </a:prstGeom>
          <a:solidFill>
            <a:srgbClr val="050810"/>
          </a:solidFill>
          <a:ln w="1905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solidFill>
            <a:srgbClr val="164E63"/>
          </a:solidFill>
          <a:ln w="12700" cap="flat" cmpd="sng">
            <a:solidFill>
              <a:srgbClr val="164E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594360" y="10789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INPUT FORMAT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94360" y="1335024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[SOS]  description  [CODE]  program  [CMNT]  comment  [EOS]   →   Ĉ  (corrected code)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74904" y="2066544"/>
            <a:ext cx="2706624" cy="2770632"/>
          </a:xfrm>
          <a:prstGeom prst="rect">
            <a:avLst/>
          </a:prstGeom>
          <a:solidFill>
            <a:srgbClr val="06B6D4">
              <a:alpha val="18039"/>
            </a:srgbClr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11480" y="2103120"/>
            <a:ext cx="2633472" cy="269748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11480" y="2103120"/>
            <a:ext cx="2633472" cy="457200"/>
          </a:xfrm>
          <a:prstGeom prst="rect">
            <a:avLst/>
          </a:prstGeom>
          <a:solidFill>
            <a:srgbClr val="06B6D4">
              <a:alpha val="74901"/>
            </a:srgbClr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21208" y="21031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Sequence-to-Sequence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48640" y="2651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Input: (N, S, C) triplet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48640" y="30449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N = problem description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48640" y="343814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S = LLM-generated code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48640" y="383133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C = supplementary comment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48640" y="422452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Output: corrected code Ĉ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191256" y="2066544"/>
            <a:ext cx="2706624" cy="2770632"/>
          </a:xfrm>
          <a:prstGeom prst="rect">
            <a:avLst/>
          </a:prstGeom>
          <a:solidFill>
            <a:srgbClr val="A855F7">
              <a:alpha val="18039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227832" y="2103120"/>
            <a:ext cx="2633472" cy="269748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3227832" y="2103120"/>
            <a:ext cx="2633472" cy="457200"/>
          </a:xfrm>
          <a:prstGeom prst="rect">
            <a:avLst/>
          </a:prstGeom>
          <a:solidFill>
            <a:srgbClr val="A855F7">
              <a:alpha val="74901"/>
            </a:srgbClr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337560" y="21031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Model: PyCodeGPT-110M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364992" y="2651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Decoder-only transformer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364992" y="30449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Fine-tuned on APPS-train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364992" y="343814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~4,500 programs per LLM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007608" y="2066544"/>
            <a:ext cx="2706624" cy="2770632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044184" y="2103120"/>
            <a:ext cx="2633472" cy="269748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6044184" y="2103120"/>
            <a:ext cx="2633472" cy="457200"/>
          </a:xfrm>
          <a:prstGeom prst="rect">
            <a:avLst/>
          </a:prstGeom>
          <a:solidFill>
            <a:srgbClr val="F59E0B">
              <a:alpha val="74901"/>
            </a:srgbClr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6153912" y="21031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Training: GOLD Objective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181344" y="2651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Off-policy importance weight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181344" y="30449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Focus on high-likelihood tokens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181344" y="343814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Encourages copying valid code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181344" y="383133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~19% shared prefix retained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4C1D95">
              <a:alpha val="10196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07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Experimental Setup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Datasets · Models · Metrics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374904" y="1042416"/>
            <a:ext cx="4233672" cy="3639312"/>
          </a:xfrm>
          <a:prstGeom prst="rect">
            <a:avLst/>
          </a:prstGeom>
          <a:solidFill>
            <a:srgbClr val="06B6D4">
              <a:alpha val="18039"/>
            </a:srgbClr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11480" y="1078992"/>
            <a:ext cx="4160520" cy="3566160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11480" y="1078992"/>
            <a:ext cx="4160520" cy="45720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566928" y="107899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APPS Dataset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6" name="Google Shape;256;p9"/>
          <p:cNvGraphicFramePr/>
          <p:nvPr/>
        </p:nvGraphicFramePr>
        <p:xfrm>
          <a:off x="457200" y="1600200"/>
          <a:ext cx="4023350" cy="2651700"/>
        </p:xfrm>
        <a:graphic>
          <a:graphicData uri="http://schemas.openxmlformats.org/drawingml/2006/table">
            <a:tbl>
              <a:tblPr>
                <a:noFill/>
                <a:tableStyleId>{1ECA7D74-BA08-475A-AE83-4343255F9D22}</a:tableStyleId>
              </a:tblPr>
              <a:tblGrid>
                <a:gridCol w="192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Split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Problems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Avg. Tests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4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Train (APPS-train)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5,000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5.56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Dev (APPS-dev)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598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4.03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Test – Introductory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1,000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21.19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Test – Interview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3,000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21.19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Test – Competition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1,000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BD5E1"/>
                          </a:solidFill>
                        </a:rPr>
                        <a:t>21.19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7" name="Google Shape;257;p9"/>
          <p:cNvSpPr/>
          <p:nvPr/>
        </p:nvSpPr>
        <p:spPr>
          <a:xfrm>
            <a:off x="4764024" y="1042416"/>
            <a:ext cx="2359152" cy="1764792"/>
          </a:xfrm>
          <a:prstGeom prst="rect">
            <a:avLst/>
          </a:prstGeom>
          <a:solidFill>
            <a:srgbClr val="10B981">
              <a:alpha val="18039"/>
            </a:srgbClr>
          </a:solidFill>
          <a:ln w="95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4800600" y="1078992"/>
            <a:ext cx="2286000" cy="169164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800600" y="1078992"/>
            <a:ext cx="2286000" cy="420624"/>
          </a:xfrm>
          <a:prstGeom prst="rect">
            <a:avLst/>
          </a:prstGeom>
          <a:solidFill>
            <a:srgbClr val="10B981">
              <a:alpha val="74901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919472" y="1078992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HumanEval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919472" y="1572768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164 programming problems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8.08 avg. hidden tests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OpenAI benchmark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Out-of-distribution test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764024" y="2889504"/>
            <a:ext cx="2359152" cy="1792224"/>
          </a:xfrm>
          <a:prstGeom prst="rect">
            <a:avLst/>
          </a:prstGeom>
          <a:solidFill>
            <a:srgbClr val="A855F7">
              <a:alpha val="18039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4800600" y="2926080"/>
            <a:ext cx="2286000" cy="1719072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800600" y="2926080"/>
            <a:ext cx="2286000" cy="420624"/>
          </a:xfrm>
          <a:prstGeom prst="rect">
            <a:avLst/>
          </a:prstGeom>
          <a:solidFill>
            <a:srgbClr val="A855F7">
              <a:alpha val="74901"/>
            </a:srgbClr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919472" y="29260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919472" y="3401568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lang="en-US" sz="1100" b="0" i="0" u="none" strike="noStrike" cap="none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pass@k</a:t>
            </a:r>
            <a:r>
              <a:rPr lang="en-US" sz="1100" b="0" i="0" u="none" strike="noStrike" cap="none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— % problems solved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lang="en-US" sz="1100" b="0" i="0" u="none" strike="noStrike" cap="none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sol@k</a:t>
            </a:r>
            <a:r>
              <a:rPr lang="en-US" sz="1100" b="0" i="0" u="none" strike="noStrike" cap="none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— total correct programs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k ∈ {1, 5, 10}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232904" y="1042416"/>
            <a:ext cx="1627632" cy="3639312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7269480" y="1078992"/>
            <a:ext cx="1554480" cy="3566160"/>
          </a:xfrm>
          <a:prstGeom prst="rect">
            <a:avLst/>
          </a:prstGeom>
          <a:solidFill>
            <a:srgbClr val="0D1228"/>
          </a:solidFill>
          <a:ln w="152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7269480" y="1078992"/>
            <a:ext cx="1554480" cy="420624"/>
          </a:xfrm>
          <a:prstGeom prst="rect">
            <a:avLst/>
          </a:prstGeom>
          <a:solidFill>
            <a:srgbClr val="F59E0B">
              <a:alpha val="74901"/>
            </a:srgbClr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7360920" y="1078992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LLMs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7360920" y="159105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GPT-3 (175B)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7360920" y="192938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GPT-J (6B)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7360920" y="226771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InCoder-1B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736092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GPT-Neo 1.3B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7360920" y="29443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CodeGen-2B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7360920" y="328269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GPT-Neo 125M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7360920" y="362102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CodeGen-350M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7360920" y="395935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PyCodeGPT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7360920" y="42976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text-davinci-002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08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Self-Edit improves all 9 models across all metrics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74904" y="1014984"/>
            <a:ext cx="1490472" cy="1152144"/>
          </a:xfrm>
          <a:prstGeom prst="rect">
            <a:avLst/>
          </a:prstGeom>
          <a:solidFill>
            <a:srgbClr val="06B6D4">
              <a:alpha val="18039"/>
            </a:srgbClr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411480" y="1051560"/>
            <a:ext cx="1417320" cy="1078992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411480" y="1078992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+89%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11480" y="1664208"/>
            <a:ext cx="1417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APPS-dev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pass@1 avg.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975104" y="1014984"/>
            <a:ext cx="1490472" cy="1152144"/>
          </a:xfrm>
          <a:prstGeom prst="rect">
            <a:avLst/>
          </a:prstGeom>
          <a:solidFill>
            <a:srgbClr val="10B981">
              <a:alpha val="18039"/>
            </a:srgbClr>
          </a:solidFill>
          <a:ln w="95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2011680" y="1051560"/>
            <a:ext cx="1417320" cy="1078992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2011680" y="1078992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+31%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2011680" y="1664208"/>
            <a:ext cx="1417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APPS-test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pass@1 avg.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575304" y="1014984"/>
            <a:ext cx="1490472" cy="1152144"/>
          </a:xfrm>
          <a:prstGeom prst="rect">
            <a:avLst/>
          </a:prstGeom>
          <a:solidFill>
            <a:srgbClr val="A855F7">
              <a:alpha val="18039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3611880" y="1051560"/>
            <a:ext cx="1417320" cy="1078992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3611880" y="1078992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+48%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611880" y="1664208"/>
            <a:ext cx="1417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HumanEval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pass@1 avg.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312664" y="1014984"/>
            <a:ext cx="3456432" cy="1152144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349240" y="1051560"/>
            <a:ext cx="3383280" cy="1078992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5440680" y="1078992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GPT-3 (175B)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440680" y="148132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26.6%  →  32.4%  pass@1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374904" y="2249424"/>
            <a:ext cx="8394192" cy="2587752"/>
          </a:xfrm>
          <a:prstGeom prst="rect">
            <a:avLst/>
          </a:prstGeom>
          <a:solidFill>
            <a:srgbClr val="7C3AED">
              <a:alpha val="18039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411480" y="2286000"/>
            <a:ext cx="8321040" cy="251460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1E2D50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Table 2 — APPS-dev: pass@k and sol@10 across 9 LLMs (finetuned &amp; zero-shot)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63E1DED-BB8B-2462-3A50-882BCFE3D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42" y="2251203"/>
            <a:ext cx="7448895" cy="25567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/>
          <p:nvPr/>
        </p:nvSpPr>
        <p:spPr>
          <a:xfrm>
            <a:off x="8266770" y="4101084"/>
            <a:ext cx="1709333" cy="2135124"/>
          </a:xfrm>
          <a:prstGeom prst="ellipse">
            <a:avLst/>
          </a:prstGeom>
          <a:solidFill>
            <a:srgbClr val="10B981">
              <a:alpha val="7058"/>
            </a:srgbClr>
          </a:solidFill>
          <a:ln w="95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09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Self-Edit vs. CodeRanker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Editing outperforms ranking with far fewer samples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22" name="Google Shape;322;p11"/>
          <p:cNvGraphicFramePr/>
          <p:nvPr/>
        </p:nvGraphicFramePr>
        <p:xfrm>
          <a:off x="411480" y="1078992"/>
          <a:ext cx="5440675" cy="3767400"/>
        </p:xfrm>
        <a:graphic>
          <a:graphicData uri="http://schemas.openxmlformats.org/drawingml/2006/table">
            <a:tbl>
              <a:tblPr>
                <a:noFill/>
                <a:tableStyleId>{1ECA7D74-BA08-475A-AE83-4343255F9D22}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</a:rPr>
                        <a:t>Feature</a:t>
                      </a:r>
                      <a:endParaRPr sz="11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</a:rPr>
                        <a:t>CodeRanker</a:t>
                      </a:r>
                      <a:endParaRPr sz="11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</a:rPr>
                        <a:t>Self-Edit ✓</a:t>
                      </a:r>
                      <a:endParaRPr sz="11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4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BD5E1"/>
                          </a:solidFill>
                        </a:rPr>
                        <a:t>Approach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CA5A5"/>
                          </a:solidFill>
                        </a:rPr>
                        <a:t>Reranking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86EFAC"/>
                          </a:solidFill>
                        </a:rPr>
                        <a:t>Editing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BD5E1"/>
                          </a:solidFill>
                        </a:rPr>
                        <a:t>Programs needed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CA5A5"/>
                          </a:solidFill>
                        </a:rPr>
                        <a:t>100 per problem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86EFAC"/>
                          </a:solidFill>
                        </a:rPr>
                        <a:t>1–5 per problem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BD5E1"/>
                          </a:solidFill>
                        </a:rPr>
                        <a:t>pass@1 APPS-test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CA5A5"/>
                          </a:solidFill>
                        </a:rPr>
                        <a:t>0.3%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86EFAC"/>
                          </a:solidFill>
                        </a:rPr>
                        <a:t>0.68%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BD5E1"/>
                          </a:solidFill>
                        </a:rPr>
                        <a:t>Run time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CA5A5"/>
                          </a:solidFill>
                        </a:rPr>
                        <a:t>≥ 110 sec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86EFAC"/>
                          </a:solidFill>
                        </a:rPr>
                        <a:t>~ 12 sec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BD5E1"/>
                          </a:solidFill>
                        </a:rPr>
                        <a:t>LLM calls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CA5A5"/>
                          </a:solidFill>
                        </a:rPr>
                        <a:t>Many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86EFAC"/>
                          </a:solidFill>
                        </a:rPr>
                        <a:t>Few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CBD5E1"/>
                          </a:solidFill>
                        </a:rPr>
                        <a:t>Problems solved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CA5A5"/>
                          </a:solidFill>
                        </a:rPr>
                        <a:t>Baseline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86EFAC"/>
                          </a:solidFill>
                        </a:rPr>
                        <a:t>+19 more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3" name="Google Shape;323;p11"/>
          <p:cNvSpPr/>
          <p:nvPr/>
        </p:nvSpPr>
        <p:spPr>
          <a:xfrm>
            <a:off x="6044184" y="1042416"/>
            <a:ext cx="2816352" cy="3840480"/>
          </a:xfrm>
          <a:prstGeom prst="rect">
            <a:avLst/>
          </a:prstGeom>
          <a:solidFill>
            <a:srgbClr val="10B981">
              <a:alpha val="18039"/>
            </a:srgbClr>
          </a:solidFill>
          <a:ln w="95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6080760" y="1078992"/>
            <a:ext cx="2743200" cy="3767328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6080760" y="1078992"/>
            <a:ext cx="274320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217920" y="107899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Advantages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6199632" y="1810512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6199632" y="1792224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537960" y="1773936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Less compute resources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199632" y="2340864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6199632" y="2322576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537960" y="230428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Fewer LLM API calls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6199632" y="2871216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6199632" y="2852928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6537960" y="283464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Better pass@1 accuracy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6199632" y="3401568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199632" y="3383280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6537960" y="336499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Works with limited budget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6199632" y="3931920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6199632" y="3913632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537960" y="3895344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More practical for real use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199632" y="4462272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199632" y="4443984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537960" y="4425696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Constant sample overhead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Ablation Studies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What matters most in the system?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374904" y="1042416"/>
            <a:ext cx="4279392" cy="3840480"/>
          </a:xfrm>
          <a:prstGeom prst="rect">
            <a:avLst/>
          </a:prstGeom>
          <a:solidFill>
            <a:srgbClr val="EF4444">
              <a:alpha val="18039"/>
            </a:srgbClr>
          </a:solidFill>
          <a:ln w="95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411480" y="1078992"/>
            <a:ext cx="4206240" cy="3767328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411480" y="1078992"/>
            <a:ext cx="4206240" cy="45720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548640" y="1078992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1  —  Remove Comments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0" name="Google Shape;360;p12"/>
          <p:cNvGraphicFramePr/>
          <p:nvPr/>
        </p:nvGraphicFramePr>
        <p:xfrm>
          <a:off x="457200" y="1609344"/>
          <a:ext cx="4069100" cy="1371600"/>
        </p:xfrm>
        <a:graphic>
          <a:graphicData uri="http://schemas.openxmlformats.org/drawingml/2006/table">
            <a:tbl>
              <a:tblPr>
                <a:noFill/>
                <a:tableStyleId>{1ECA7D74-BA08-475A-AE83-4343255F9D22}</a:tableStyleId>
              </a:tblPr>
              <a:tblGrid>
                <a:gridCol w="187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Setting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15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@1 dev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15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@5 dev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15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@1 test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1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CBD5E1"/>
                          </a:solidFill>
                        </a:rPr>
                        <a:t>Base model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CBD5E1"/>
                          </a:solidFill>
                        </a:rPr>
                        <a:t>4.8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CBD5E1"/>
                          </a:solidFill>
                        </a:rPr>
                        <a:t>7.9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CBD5E1"/>
                          </a:solidFill>
                        </a:rPr>
                        <a:t>0.2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86EFAC"/>
                          </a:solidFill>
                        </a:rPr>
                        <a:t>After edit ✓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86EFAC"/>
                          </a:solidFill>
                        </a:rPr>
                        <a:t>11.4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86EFAC"/>
                          </a:solidFill>
                        </a:rPr>
                        <a:t>15.1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86EFAC"/>
                          </a:solidFill>
                        </a:rPr>
                        <a:t>0.6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CA5A5"/>
                          </a:solidFill>
                        </a:rPr>
                        <a:t>No comments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CA5A5"/>
                          </a:solidFill>
                        </a:rPr>
                        <a:t>9.4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CA5A5"/>
                          </a:solidFill>
                        </a:rPr>
                        <a:t>11.5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CA5A5"/>
                          </a:solidFill>
                        </a:rPr>
                        <a:t>0.3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1" name="Google Shape;361;p12"/>
          <p:cNvSpPr/>
          <p:nvPr/>
        </p:nvSpPr>
        <p:spPr>
          <a:xfrm>
            <a:off x="566928" y="31272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566928" y="3456432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Execution feedback is the most critical component.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Without comments, APPS-test performance barely improves.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Losing comments ≈ losing most of the gain.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11480" y="4462272"/>
            <a:ext cx="4206240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502920" y="446227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Feedback = the most important component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764024" y="1042416"/>
            <a:ext cx="4005072" cy="3840480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4800600" y="1078992"/>
            <a:ext cx="3931920" cy="3767328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4800600" y="1078992"/>
            <a:ext cx="3931920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4937760" y="10789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2  —  Multiple Edit Rounds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9" name="Google Shape;369;p12"/>
          <p:cNvGraphicFramePr/>
          <p:nvPr/>
        </p:nvGraphicFramePr>
        <p:xfrm>
          <a:off x="4846320" y="1609344"/>
          <a:ext cx="3749025" cy="1005825"/>
        </p:xfrm>
        <a:graphic>
          <a:graphicData uri="http://schemas.openxmlformats.org/drawingml/2006/table">
            <a:tbl>
              <a:tblPr>
                <a:noFill/>
                <a:tableStyleId>{1ECA7D74-BA08-475A-AE83-4343255F9D22}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Setting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15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dev @1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15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test @1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1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86EFAC"/>
                          </a:solidFill>
                        </a:rPr>
                        <a:t>After 1st edit ✓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86EFAC"/>
                          </a:solidFill>
                        </a:rPr>
                        <a:t>11.4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EFA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86EFAC"/>
                          </a:solidFill>
                        </a:rPr>
                        <a:t>0.64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CA5A5"/>
                          </a:solidFill>
                        </a:rPr>
                        <a:t>After 2nd edit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CA5A5"/>
                          </a:solidFill>
                        </a:rPr>
                        <a:t>11.7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A5A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CA5A5"/>
                          </a:solidFill>
                        </a:rPr>
                        <a:t>0.40 ↓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5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0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0" name="Google Shape;370;p12"/>
          <p:cNvSpPr/>
          <p:nvPr/>
        </p:nvSpPr>
        <p:spPr>
          <a:xfrm>
            <a:off x="4956048" y="278892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956048" y="3127248"/>
            <a:ext cx="361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One edit round is optimal. A second round hurts on APPS-test because: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Editor was trained on LLM outputs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At test time, it edits its own output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Creates a train / test distribution gap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›  Single-round editing is the right choice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4800600" y="4462272"/>
            <a:ext cx="3931920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4892040" y="44622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DE68A"/>
                </a:solidFill>
                <a:latin typeface="Calibri"/>
                <a:ea typeface="Calibri"/>
                <a:cs typeface="Calibri"/>
                <a:sym typeface="Calibri"/>
              </a:rPr>
              <a:t>One round = optimal — more hurts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solidFill>
            <a:srgbClr val="10153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8321040" y="1645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57200" y="16459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 &amp; Future Work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457200" y="65836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Honest assessment of current boundaries and next directions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374904" y="1042416"/>
            <a:ext cx="4279392" cy="3840480"/>
          </a:xfrm>
          <a:prstGeom prst="rect">
            <a:avLst/>
          </a:prstGeom>
          <a:solidFill>
            <a:srgbClr val="EF4444">
              <a:alpha val="18039"/>
            </a:srgbClr>
          </a:solidFill>
          <a:ln w="95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411480" y="1078992"/>
            <a:ext cx="4206240" cy="3767328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411480" y="1078992"/>
            <a:ext cx="4206240" cy="45720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566928" y="107899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Current Limitations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566928" y="1828800"/>
            <a:ext cx="228600" cy="228600"/>
          </a:xfrm>
          <a:prstGeom prst="rect">
            <a:avLst/>
          </a:prstGeom>
          <a:solidFill>
            <a:srgbClr val="EF4444">
              <a:alpha val="70196"/>
            </a:srgbClr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566928" y="1810512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932688" y="1755648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 editor (110M params)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932688" y="2084832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May lack capacity for very complex bugs and deep algorithmic issues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566928" y="2633472"/>
            <a:ext cx="228600" cy="228600"/>
          </a:xfrm>
          <a:prstGeom prst="rect">
            <a:avLst/>
          </a:prstGeom>
          <a:solidFill>
            <a:srgbClr val="EF4444">
              <a:alpha val="70196"/>
            </a:srgbClr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566928" y="2615184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932688" y="2560320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 training dataset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932688" y="288950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Only ~10 samples per problem (~4.5k programs total per LLM)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66928" y="3438144"/>
            <a:ext cx="228600" cy="228600"/>
          </a:xfrm>
          <a:prstGeom prst="rect">
            <a:avLst/>
          </a:prstGeom>
          <a:solidFill>
            <a:srgbClr val="EF4444">
              <a:alpha val="70196"/>
            </a:srgbClr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66928" y="341985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932688" y="3364992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Single-round editing only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932688" y="3694176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Multi-round iteration degrades on APPS-test distribution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566928" y="4242816"/>
            <a:ext cx="228600" cy="228600"/>
          </a:xfrm>
          <a:prstGeom prst="rect">
            <a:avLst/>
          </a:prstGeom>
          <a:solidFill>
            <a:srgbClr val="EF4444">
              <a:alpha val="70196"/>
            </a:srgbClr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566928" y="4224528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932688" y="416966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 cost gaps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932688" y="449884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full computational comparison against all post-processing baselines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4764024" y="1042416"/>
            <a:ext cx="4005072" cy="3840480"/>
          </a:xfrm>
          <a:prstGeom prst="rect">
            <a:avLst/>
          </a:prstGeom>
          <a:solidFill>
            <a:srgbClr val="10B981">
              <a:alpha val="18039"/>
            </a:srgbClr>
          </a:solidFill>
          <a:ln w="95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4800600" y="1078992"/>
            <a:ext cx="3931920" cy="3767328"/>
          </a:xfrm>
          <a:prstGeom prst="rect">
            <a:avLst/>
          </a:prstGeom>
          <a:solidFill>
            <a:srgbClr val="0D1228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4800600" y="1078992"/>
            <a:ext cx="393192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4956048" y="10789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 Future Directions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956048" y="1810512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4956048" y="1792224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5349240" y="1755648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Larger editor models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349240" y="208483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Experiment with CodeGen-2B+ architectures for deeper corrections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4956048" y="2615184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4956048" y="259689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5349240" y="2560320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Richer training 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5349240" y="2889504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More diverse samples, extended coverage of problem types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4956048" y="3419856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4956048" y="3401568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5349240" y="3364992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Multi-round editing models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5349240" y="3694176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Specially designed for sequential self-correction pipelines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4956048" y="4224528"/>
            <a:ext cx="256032" cy="256032"/>
          </a:xfrm>
          <a:prstGeom prst="ellipse">
            <a:avLst/>
          </a:prstGeom>
          <a:solidFill>
            <a:srgbClr val="10B981">
              <a:alpha val="70196"/>
            </a:srgbClr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4956048" y="420624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5349240" y="4169664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In-context learning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5349240" y="449884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Leverage GPT-4 as both base model and editor — no training needed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7C3AED">
              <a:alpha val="45098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457200" y="987552"/>
            <a:ext cx="8229600" cy="594360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1E2D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914400" y="1014984"/>
            <a:ext cx="1463040" cy="530352"/>
          </a:xfrm>
          <a:prstGeom prst="rect">
            <a:avLst/>
          </a:prstGeom>
          <a:solidFill>
            <a:srgbClr val="06B6D4">
              <a:alpha val="80000"/>
            </a:srgbClr>
          </a:solidFill>
          <a:ln w="152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914400" y="1014984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2377440" y="109728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2788920" y="1014984"/>
            <a:ext cx="1463040" cy="530352"/>
          </a:xfrm>
          <a:prstGeom prst="rect">
            <a:avLst/>
          </a:prstGeom>
          <a:solidFill>
            <a:srgbClr val="F59E0B">
              <a:alpha val="80000"/>
            </a:srgbClr>
          </a:solidFill>
          <a:ln w="152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2788920" y="1014984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4251960" y="109728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4663440" y="1014984"/>
            <a:ext cx="1463040" cy="530352"/>
          </a:xfrm>
          <a:prstGeom prst="rect">
            <a:avLst/>
          </a:prstGeom>
          <a:solidFill>
            <a:srgbClr val="A855F7">
              <a:alpha val="80000"/>
            </a:srgbClr>
          </a:solidFill>
          <a:ln w="152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4663440" y="1014984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6126480" y="109728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6537960" y="1014984"/>
            <a:ext cx="1463040" cy="530352"/>
          </a:xfrm>
          <a:prstGeom prst="rect">
            <a:avLst/>
          </a:prstGeom>
          <a:solidFill>
            <a:srgbClr val="10B981">
              <a:alpha val="80000"/>
            </a:srgbClr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6537960" y="1014984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420624" y="1746504"/>
            <a:ext cx="8302752" cy="640080"/>
          </a:xfrm>
          <a:prstGeom prst="rect">
            <a:avLst/>
          </a:prstGeom>
          <a:solidFill>
            <a:srgbClr val="06B6D4">
              <a:alpha val="18039"/>
            </a:srgbClr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530352" y="1865376"/>
            <a:ext cx="402336" cy="402336"/>
          </a:xfrm>
          <a:prstGeom prst="ellipse">
            <a:avLst/>
          </a:prstGeom>
          <a:solidFill>
            <a:srgbClr val="06B6D4">
              <a:alpha val="80000"/>
            </a:srgbClr>
          </a:solidFill>
          <a:ln w="152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530352" y="1865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1078992" y="1783080"/>
            <a:ext cx="74797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+89% improvement on APPS-dev pass@1 across all 9 LLMs tested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420624" y="2404872"/>
            <a:ext cx="8302752" cy="640080"/>
          </a:xfrm>
          <a:prstGeom prst="rect">
            <a:avLst/>
          </a:prstGeom>
          <a:solidFill>
            <a:srgbClr val="A855F7">
              <a:alpha val="18039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457200" y="2441448"/>
            <a:ext cx="8229600" cy="566928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530352" y="2523744"/>
            <a:ext cx="402336" cy="402336"/>
          </a:xfrm>
          <a:prstGeom prst="ellipse">
            <a:avLst/>
          </a:prstGeom>
          <a:solidFill>
            <a:srgbClr val="A855F7">
              <a:alpha val="80000"/>
            </a:srgbClr>
          </a:solidFill>
          <a:ln w="152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530352" y="252374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1078992" y="2441448"/>
            <a:ext cx="74797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tiny 110M editor improved even GPT3-175B:  pass@1  26.6% → 32.4%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420624" y="3063240"/>
            <a:ext cx="8302752" cy="640080"/>
          </a:xfrm>
          <a:prstGeom prst="rect">
            <a:avLst/>
          </a:prstGeom>
          <a:solidFill>
            <a:srgbClr val="F59E0B">
              <a:alpha val="18039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457200" y="3099816"/>
            <a:ext cx="8229600" cy="566928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530352" y="3182112"/>
            <a:ext cx="402336" cy="402336"/>
          </a:xfrm>
          <a:prstGeom prst="ellipse">
            <a:avLst/>
          </a:prstGeom>
          <a:solidFill>
            <a:srgbClr val="F59E0B">
              <a:alpha val="80000"/>
            </a:srgbClr>
          </a:solidFill>
          <a:ln w="152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530352" y="31821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1078992" y="3099816"/>
            <a:ext cx="74797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Editing outperforms ranking — fewer samples, better results, less compute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420624" y="3721608"/>
            <a:ext cx="8302752" cy="640080"/>
          </a:xfrm>
          <a:prstGeom prst="rect">
            <a:avLst/>
          </a:prstGeom>
          <a:solidFill>
            <a:srgbClr val="10B981">
              <a:alpha val="18039"/>
            </a:srgbClr>
          </a:solidFill>
          <a:ln w="95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457200" y="3758184"/>
            <a:ext cx="8229600" cy="566928"/>
          </a:xfrm>
          <a:prstGeom prst="rect">
            <a:avLst/>
          </a:prstGeom>
          <a:solidFill>
            <a:srgbClr val="0D1228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530352" y="3840480"/>
            <a:ext cx="402336" cy="402336"/>
          </a:xfrm>
          <a:prstGeom prst="ellipse">
            <a:avLst/>
          </a:prstGeom>
          <a:solidFill>
            <a:srgbClr val="10B981">
              <a:alpha val="80000"/>
            </a:srgbClr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530352" y="38404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1078992" y="3758184"/>
            <a:ext cx="74797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Generalizes to out-of-distribution benchmarks (HumanEval +48%)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solidFill>
            <a:srgbClr val="050810"/>
          </a:solidFill>
          <a:ln w="12700" cap="flat" cmpd="sng">
            <a:solidFill>
              <a:srgbClr val="164E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457200" y="4434840"/>
            <a:ext cx="54864" cy="475488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640080" y="4434840"/>
            <a:ext cx="79552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alibri"/>
              <a:buNone/>
            </a:pPr>
            <a:r>
              <a:rPr lang="en-US" sz="1350" b="1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"Instead of generating more — generate smarter, execute, and fix."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A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deco1"/>
          <p:cNvSpPr/>
          <p:nvPr/>
        </p:nvSpPr>
        <p:spPr>
          <a:xfrm>
            <a:off x="7376160" y="-1435800"/>
            <a:ext cx="3444239" cy="3535800"/>
          </a:xfrm>
          <a:prstGeom prst="ellipse">
            <a:avLst/>
          </a:prstGeom>
          <a:solidFill>
            <a:srgbClr val="4C1D95">
              <a:alpha val="12156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deco2"/>
          <p:cNvSpPr/>
          <p:nvPr/>
        </p:nvSpPr>
        <p:spPr>
          <a:xfrm>
            <a:off x="7894319" y="-1093200"/>
            <a:ext cx="2346217" cy="2510520"/>
          </a:xfrm>
          <a:prstGeom prst="ellipse">
            <a:avLst/>
          </a:prstGeom>
          <a:solidFill>
            <a:srgbClr val="164E63">
              <a:alpha val="7843"/>
            </a:srgbClr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deco3"/>
          <p:cNvSpPr/>
          <p:nvPr/>
        </p:nvSpPr>
        <p:spPr>
          <a:xfrm>
            <a:off x="-672740" y="3943500"/>
            <a:ext cx="1958340" cy="1771300"/>
          </a:xfrm>
          <a:prstGeom prst="ellipse">
            <a:avLst/>
          </a:prstGeom>
          <a:solidFill>
            <a:srgbClr val="4C1D95">
              <a:alpha val="10196"/>
            </a:srgbClr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itle"/>
          <p:cNvSpPr/>
          <p:nvPr/>
        </p:nvSpPr>
        <p:spPr>
          <a:xfrm>
            <a:off x="0" y="69145"/>
            <a:ext cx="82296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Interactive Activity</a:t>
            </a:r>
          </a:p>
        </p:txBody>
      </p:sp>
      <p:sp>
        <p:nvSpPr>
          <p:cNvPr id="11" name="sub"/>
          <p:cNvSpPr/>
          <p:nvPr/>
        </p:nvSpPr>
        <p:spPr>
          <a:xfrm>
            <a:off x="457200" y="90732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Apply the Self-Edit framework — debug real code scenarios</a:t>
            </a:r>
          </a:p>
        </p:txBody>
      </p:sp>
      <p:sp>
        <p:nvSpPr>
          <p:cNvPr id="12" name="line"/>
          <p:cNvSpPr/>
          <p:nvPr/>
        </p:nvSpPr>
        <p:spPr>
          <a:xfrm>
            <a:off x="3128000" y="1417320"/>
            <a:ext cx="2744000" cy="22860"/>
          </a:xfrm>
          <a:prstGeom prst="rect">
            <a:avLst/>
          </a:prstGeom>
          <a:solidFill>
            <a:srgbClr val="A855F7">
              <a:alpha val="60000"/>
            </a:srgbClr>
          </a:solidFill>
          <a:ln w="952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badge_bg_0"/>
          <p:cNvSpPr/>
          <p:nvPr/>
        </p:nvSpPr>
        <p:spPr>
          <a:xfrm>
            <a:off x="4957853" y="1904941"/>
            <a:ext cx="2200000" cy="480000"/>
          </a:xfrm>
          <a:prstGeom prst="rect">
            <a:avLst/>
          </a:prstGeom>
          <a:solidFill>
            <a:srgbClr val="06B6D4">
              <a:alpha val="18000"/>
            </a:srgbClr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badge_t_0"/>
          <p:cNvSpPr/>
          <p:nvPr/>
        </p:nvSpPr>
        <p:spPr>
          <a:xfrm>
            <a:off x="4957853" y="1912423"/>
            <a:ext cx="22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Identify Errors</a:t>
            </a:r>
          </a:p>
        </p:txBody>
      </p:sp>
      <p:sp>
        <p:nvSpPr>
          <p:cNvPr id="22" name="badge_bg_1"/>
          <p:cNvSpPr/>
          <p:nvPr/>
        </p:nvSpPr>
        <p:spPr>
          <a:xfrm>
            <a:off x="4957853" y="2702391"/>
            <a:ext cx="2200000" cy="480000"/>
          </a:xfrm>
          <a:prstGeom prst="rect">
            <a:avLst/>
          </a:prstGeom>
          <a:solidFill>
            <a:srgbClr val="F59E0B">
              <a:alpha val="18000"/>
            </a:srgbClr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badge_t_1"/>
          <p:cNvSpPr/>
          <p:nvPr/>
        </p:nvSpPr>
        <p:spPr>
          <a:xfrm>
            <a:off x="4957853" y="2751921"/>
            <a:ext cx="22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💬 Write Feedback</a:t>
            </a:r>
          </a:p>
        </p:txBody>
      </p:sp>
      <p:sp>
        <p:nvSpPr>
          <p:cNvPr id="24" name="badge_bg_2"/>
          <p:cNvSpPr/>
          <p:nvPr/>
        </p:nvSpPr>
        <p:spPr>
          <a:xfrm>
            <a:off x="4957853" y="3407840"/>
            <a:ext cx="2200000" cy="480000"/>
          </a:xfrm>
          <a:prstGeom prst="rect">
            <a:avLst/>
          </a:prstGeom>
          <a:solidFill>
            <a:srgbClr val="10B981">
              <a:alpha val="18000"/>
            </a:srgbClr>
          </a:solidFill>
          <a:ln w="95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badge_t_2"/>
          <p:cNvSpPr/>
          <p:nvPr/>
        </p:nvSpPr>
        <p:spPr>
          <a:xfrm>
            <a:off x="4957853" y="3407840"/>
            <a:ext cx="22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🔧 Fix the Bug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87E431F-4E83-9640-7F31-FBA473315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195" y="1736404"/>
            <a:ext cx="2561710" cy="25617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1084</Words>
  <Application>Microsoft Office PowerPoint</Application>
  <PresentationFormat>‫הצגה על המסך (16:9)</PresentationFormat>
  <Paragraphs>301</Paragraphs>
  <Slides>13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חלא חלו</dc:creator>
  <cp:lastModifiedBy>חלא חלו</cp:lastModifiedBy>
  <cp:revision>8</cp:revision>
  <dcterms:modified xsi:type="dcterms:W3CDTF">2026-06-15T16:26:49Z</dcterms:modified>
</cp:coreProperties>
</file>