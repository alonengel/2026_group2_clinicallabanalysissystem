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4" r:id="rId3"/>
    <p:sldId id="258" r:id="rId4"/>
    <p:sldId id="328" r:id="rId5"/>
    <p:sldId id="330" r:id="rId6"/>
    <p:sldId id="259" r:id="rId7"/>
    <p:sldId id="289" r:id="rId8"/>
    <p:sldId id="331" r:id="rId9"/>
    <p:sldId id="288" r:id="rId10"/>
    <p:sldId id="265" r:id="rId11"/>
    <p:sldId id="266" r:id="rId12"/>
    <p:sldId id="267" r:id="rId13"/>
    <p:sldId id="333" r:id="rId14"/>
    <p:sldId id="341" r:id="rId15"/>
    <p:sldId id="342" r:id="rId16"/>
    <p:sldId id="32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26" autoAdjust="0"/>
    <p:restoredTop sz="94610"/>
  </p:normalViewPr>
  <p:slideViewPr>
    <p:cSldViewPr snapToGrid="0" snapToObjects="1">
      <p:cViewPr varScale="1">
        <p:scale>
          <a:sx n="108" d="100"/>
          <a:sy n="108" d="100"/>
        </p:scale>
        <p:origin x="101" y="403"/>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lgn="ctr">
              <a:defRPr sz="1600" b="1"/>
            </a:pPr>
            <a:r>
              <a:rPr lang="en-US" sz="1600" b="1" dirty="0"/>
              <a:t>pass@1 vs Multi-Agent Baselines (GPT-4)</a:t>
            </a:r>
          </a:p>
        </c:rich>
      </c:tx>
      <c:overlay val="0"/>
    </c:title>
    <c:autoTitleDeleted val="0"/>
    <c:plotArea>
      <c:layout/>
      <c:barChart>
        <c:barDir val="bar"/>
        <c:grouping val="clustered"/>
        <c:varyColors val="0"/>
        <c:ser>
          <c:idx val="0"/>
          <c:order val="0"/>
          <c:tx>
            <c:v>HumanEval</c:v>
          </c:tx>
          <c:spPr>
            <a:solidFill>
              <a:srgbClr val="1F4E79"/>
            </a:solidFill>
          </c:spPr>
          <c:invertIfNegative val="1"/>
          <c:dLbls>
            <c:spPr>
              <a:noFill/>
              <a:ln>
                <a:noFill/>
              </a:ln>
              <a:effectLst/>
            </c:spPr>
            <c:txPr>
              <a:bodyPr/>
              <a:lstStyle/>
              <a:p>
                <a:pPr>
                  <a:defRPr sz="12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AgentCoder</c:v>
              </c:pt>
              <c:pt idx="1">
                <c:v>Reflexion</c:v>
              </c:pt>
              <c:pt idx="2">
                <c:v>AgentVerse</c:v>
              </c:pt>
              <c:pt idx="3">
                <c:v>MetaGPT</c:v>
              </c:pt>
              <c:pt idx="4">
                <c:v>ChatDev</c:v>
              </c:pt>
            </c:strLit>
          </c:cat>
          <c:val>
            <c:numLit>
              <c:formatCode>0.0</c:formatCode>
              <c:ptCount val="5"/>
              <c:pt idx="0">
                <c:v>96.3</c:v>
              </c:pt>
              <c:pt idx="1">
                <c:v>91</c:v>
              </c:pt>
              <c:pt idx="2">
                <c:v>89</c:v>
              </c:pt>
              <c:pt idx="3">
                <c:v>85.9</c:v>
              </c:pt>
              <c:pt idx="4">
                <c:v>84.1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A32-4DDC-ACE0-807660A79445}"/>
            </c:ext>
          </c:extLst>
        </c:ser>
        <c:ser>
          <c:idx val="1"/>
          <c:order val="1"/>
          <c:tx>
            <c:v>MBPP</c:v>
          </c:tx>
          <c:spPr>
            <a:solidFill>
              <a:srgbClr val="14B8A6"/>
            </a:solidFill>
          </c:spPr>
          <c:invertIfNegative val="1"/>
          <c:dLbls>
            <c:spPr>
              <a:noFill/>
              <a:ln>
                <a:noFill/>
              </a:ln>
              <a:effectLst/>
            </c:spPr>
            <c:txPr>
              <a:bodyPr/>
              <a:lstStyle/>
              <a:p>
                <a:pPr>
                  <a:defRPr sz="12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AgentCoder</c:v>
              </c:pt>
              <c:pt idx="1">
                <c:v>Reflexion</c:v>
              </c:pt>
              <c:pt idx="2">
                <c:v>AgentVerse</c:v>
              </c:pt>
              <c:pt idx="3">
                <c:v>MetaGPT</c:v>
              </c:pt>
              <c:pt idx="4">
                <c:v>ChatDev</c:v>
              </c:pt>
            </c:strLit>
          </c:cat>
          <c:val>
            <c:numLit>
              <c:formatCode>0.0</c:formatCode>
              <c:ptCount val="5"/>
              <c:pt idx="0">
                <c:v>91.8</c:v>
              </c:pt>
              <c:pt idx="1">
                <c:v>77.099999999999994</c:v>
              </c:pt>
              <c:pt idx="2">
                <c:v>73.5</c:v>
              </c:pt>
              <c:pt idx="3">
                <c:v>87.7</c:v>
              </c:pt>
              <c:pt idx="4">
                <c:v>79.8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AA32-4DDC-ACE0-807660A79445}"/>
            </c:ext>
          </c:extLst>
        </c:ser>
        <c:dLbls>
          <c:showLegendKey val="0"/>
          <c:showVal val="0"/>
          <c:showCatName val="0"/>
          <c:showSerName val="0"/>
          <c:showPercent val="0"/>
          <c:showBubbleSize val="0"/>
        </c:dLbls>
        <c:gapWidth val="80"/>
        <c:axId val="1"/>
        <c:axId val="2"/>
      </c:barChart>
      <c:catAx>
        <c:axId val="1"/>
        <c:scaling>
          <c:orientation val="maxMin"/>
        </c:scaling>
        <c:delete val="0"/>
        <c:axPos val="l"/>
        <c:numFmt formatCode="General" sourceLinked="0"/>
        <c:majorTickMark val="none"/>
        <c:minorTickMark val="none"/>
        <c:tickLblPos val="nextTo"/>
        <c:txPr>
          <a:bodyPr/>
          <a:lstStyle/>
          <a:p>
            <a:pPr>
              <a:defRPr sz="1400"/>
            </a:pPr>
            <a:endParaRPr lang="en-US"/>
          </a:p>
        </c:txPr>
        <c:crossAx val="2"/>
        <c:crosses val="autoZero"/>
        <c:auto val="1"/>
        <c:lblAlgn val="ctr"/>
        <c:lblOffset val="100"/>
        <c:noMultiLvlLbl val="1"/>
      </c:catAx>
      <c:valAx>
        <c:axId val="2"/>
        <c:scaling>
          <c:orientation val="minMax"/>
        </c:scaling>
        <c:delete val="0"/>
        <c:axPos val="t"/>
        <c:numFmt formatCode="0.0" sourceLinked="1"/>
        <c:majorTickMark val="out"/>
        <c:minorTickMark val="none"/>
        <c:tickLblPos val="nextTo"/>
        <c:txPr>
          <a:bodyPr/>
          <a:lstStyle/>
          <a:p>
            <a:pPr>
              <a:defRPr sz="1400"/>
            </a:pPr>
            <a:endParaRPr lang="en-US"/>
          </a:p>
        </c:txPr>
        <c:crossAx val="1"/>
        <c:crosses val="autoZero"/>
        <c:crossBetween val="between"/>
      </c:valAx>
    </c:plotArea>
    <c:legend>
      <c:legendPos val="t"/>
      <c:overlay val="0"/>
      <c:txPr>
        <a:bodyPr/>
        <a:lstStyle/>
        <a:p>
          <a:pPr>
            <a:defRPr sz="1400" b="1"/>
          </a:pPr>
          <a:endParaRPr lang="en-US"/>
        </a:p>
      </c:txPr>
    </c:legend>
    <c:plotVisOnly val="1"/>
    <c:dispBlanksAs val="gap"/>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defRPr sz="1400" b="1">
                <a:solidFill>
                  <a:srgbClr val="21295C"/>
                </a:solidFill>
                <a:latin typeface="Calibri"/>
              </a:defRPr>
            </a:pPr>
            <a:r>
              <a:rPr lang="en-US" sz="1400" b="1">
                <a:solidFill>
                  <a:srgbClr val="21295C"/>
                </a:solidFill>
                <a:latin typeface="Calibri"/>
              </a:rPr>
              <a:t>SWE-bench Pro 2026 (% resolved)</a:t>
            </a:r>
          </a:p>
        </c:rich>
      </c:tx>
      <c:overlay val="0"/>
    </c:title>
    <c:autoTitleDeleted val="0"/>
    <c:plotArea>
      <c:layout/>
      <c:barChart>
        <c:barDir val="bar"/>
        <c:grouping val="clustered"/>
        <c:varyColors val="0"/>
        <c:ser>
          <c:idx val="0"/>
          <c:order val="0"/>
          <c:tx>
            <c:v>SWE-bench Pro</c:v>
          </c:tx>
          <c:spPr>
            <a:solidFill>
              <a:srgbClr val="94A3B8"/>
            </a:solidFill>
          </c:spPr>
          <c:invertIfNegative val="1"/>
          <c:dPt>
            <c:idx val="0"/>
            <c:invertIfNegative val="0"/>
            <c:bubble3D val="0"/>
            <c:extLst>
              <c:ext xmlns:c16="http://schemas.microsoft.com/office/drawing/2014/chart" uri="{C3380CC4-5D6E-409C-BE32-E72D297353CC}">
                <c16:uniqueId val="{00000001-18EA-4108-AC11-0B3463AE66F5}"/>
              </c:ext>
            </c:extLst>
          </c:dPt>
          <c:dPt>
            <c:idx val="1"/>
            <c:invertIfNegative val="0"/>
            <c:bubble3D val="0"/>
            <c:extLst>
              <c:ext xmlns:c16="http://schemas.microsoft.com/office/drawing/2014/chart" uri="{C3380CC4-5D6E-409C-BE32-E72D297353CC}">
                <c16:uniqueId val="{00000003-18EA-4108-AC11-0B3463AE66F5}"/>
              </c:ext>
            </c:extLst>
          </c:dPt>
          <c:dPt>
            <c:idx val="2"/>
            <c:invertIfNegative val="0"/>
            <c:bubble3D val="0"/>
            <c:spPr>
              <a:solidFill>
                <a:srgbClr val="21295C"/>
              </a:solidFill>
            </c:spPr>
            <c:extLst>
              <c:ext xmlns:c16="http://schemas.microsoft.com/office/drawing/2014/chart" uri="{C3380CC4-5D6E-409C-BE32-E72D297353CC}">
                <c16:uniqueId val="{00000005-18EA-4108-AC11-0B3463AE66F5}"/>
              </c:ext>
            </c:extLst>
          </c:dPt>
          <c:dLbls>
            <c:numFmt formatCode="0.0" sourceLinked="0"/>
            <c:spPr>
              <a:noFill/>
            </c:spPr>
            <c:txPr>
              <a:bodyPr/>
              <a:lstStyle/>
              <a:p>
                <a:pPr>
                  <a:defRPr sz="1400" b="1">
                    <a:solidFill>
                      <a:srgbClr val="21295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Sheet1!$A$1:$A$3</c:f>
              <c:strCache>
                <c:ptCount val="3"/>
                <c:pt idx="0">
                  <c:v>GPT-5.5</c:v>
                </c:pt>
                <c:pt idx="1">
                  <c:v>Opus 4.8</c:v>
                </c:pt>
                <c:pt idx="2">
                  <c:v>Claude Fable 5</c:v>
                </c:pt>
              </c:strCache>
            </c:strRef>
          </c:cat>
          <c:val>
            <c:numRef>
              <c:f>Sheet1!$B$1:$B$3</c:f>
              <c:numCache>
                <c:formatCode>0.0</c:formatCode>
                <c:ptCount val="3"/>
                <c:pt idx="0">
                  <c:v>58.6</c:v>
                </c:pt>
                <c:pt idx="1">
                  <c:v>69.2</c:v>
                </c:pt>
                <c:pt idx="2">
                  <c:v>80.3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18EA-4108-AC11-0B3463AE66F5}"/>
            </c:ext>
          </c:extLst>
        </c:ser>
        <c:dLbls>
          <c:showLegendKey val="0"/>
          <c:showVal val="0"/>
          <c:showCatName val="0"/>
          <c:showSerName val="0"/>
          <c:showPercent val="0"/>
          <c:showBubbleSize val="0"/>
        </c:dLbls>
        <c:gapWidth val="70"/>
        <c:axId val="111"/>
        <c:axId val="222"/>
      </c:barChart>
      <c:catAx>
        <c:axId val="111"/>
        <c:scaling>
          <c:orientation val="minMax"/>
        </c:scaling>
        <c:delete val="0"/>
        <c:axPos val="l"/>
        <c:numFmt formatCode="General" sourceLinked="0"/>
        <c:majorTickMark val="none"/>
        <c:minorTickMark val="none"/>
        <c:tickLblPos val="nextTo"/>
        <c:txPr>
          <a:bodyPr/>
          <a:lstStyle/>
          <a:p>
            <a:pPr>
              <a:defRPr sz="1400">
                <a:solidFill>
                  <a:srgbClr val="334155"/>
                </a:solidFill>
                <a:latin typeface="Calibri"/>
              </a:defRPr>
            </a:pPr>
            <a:endParaRPr lang="en-US"/>
          </a:p>
        </c:txPr>
        <c:crossAx val="222"/>
        <c:crosses val="autoZero"/>
        <c:auto val="1"/>
        <c:lblAlgn val="ctr"/>
        <c:lblOffset val="100"/>
        <c:noMultiLvlLbl val="1"/>
      </c:catAx>
      <c:valAx>
        <c:axId val="222"/>
        <c:scaling>
          <c:orientation val="minMax"/>
          <c:max val="100"/>
          <c:min val="0"/>
        </c:scaling>
        <c:delete val="1"/>
        <c:axPos val="b"/>
        <c:numFmt formatCode="0.0" sourceLinked="1"/>
        <c:majorTickMark val="none"/>
        <c:minorTickMark val="none"/>
        <c:tickLblPos val="none"/>
        <c:crossAx val="111"/>
        <c:crosses val="autoZero"/>
        <c:crossBetween val="between"/>
      </c:valAx>
    </c:plotArea>
    <c:plotVisOnly val="1"/>
    <c:dispBlanksAs val="gap"/>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3019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59E0B"/>
          </a:solidFill>
          <a:ln/>
        </p:spPr>
        <p:txBody>
          <a:bodyPr/>
          <a:lstStyle/>
          <a:p>
            <a:endParaRPr lang="en-US"/>
          </a:p>
        </p:txBody>
      </p:sp>
      <p:sp>
        <p:nvSpPr>
          <p:cNvPr id="3" name="Text 1"/>
          <p:cNvSpPr/>
          <p:nvPr/>
        </p:nvSpPr>
        <p:spPr>
          <a:xfrm>
            <a:off x="914400" y="1645920"/>
            <a:ext cx="10058400" cy="1097280"/>
          </a:xfrm>
          <a:prstGeom prst="rect">
            <a:avLst/>
          </a:prstGeom>
          <a:noFill/>
          <a:ln/>
        </p:spPr>
        <p:txBody>
          <a:bodyPr wrap="square" lIns="0" tIns="0" rIns="0" bIns="0"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AgentCoder</a:t>
            </a:r>
            <a:endParaRPr lang="en-US" sz="6000" dirty="0"/>
          </a:p>
        </p:txBody>
      </p:sp>
      <p:sp>
        <p:nvSpPr>
          <p:cNvPr id="4" name="Text 2"/>
          <p:cNvSpPr/>
          <p:nvPr/>
        </p:nvSpPr>
        <p:spPr>
          <a:xfrm>
            <a:off x="914400" y="2743200"/>
            <a:ext cx="10058400" cy="1280160"/>
          </a:xfrm>
          <a:prstGeom prst="rect">
            <a:avLst/>
          </a:prstGeom>
          <a:noFill/>
          <a:ln/>
        </p:spPr>
        <p:txBody>
          <a:bodyPr wrap="square" lIns="0" tIns="0" rIns="0" bIns="0" rtlCol="0" anchor="ctr"/>
          <a:lstStyle/>
          <a:p>
            <a:pPr marL="0" indent="0">
              <a:buNone/>
            </a:pPr>
            <a:r>
              <a:rPr lang="en-US" sz="2600" dirty="0">
                <a:solidFill>
                  <a:srgbClr val="CADCFC"/>
                </a:solidFill>
                <a:latin typeface="Calibri" pitchFamily="34" charset="0"/>
                <a:ea typeface="Calibri" pitchFamily="34" charset="-122"/>
                <a:cs typeface="Calibri" pitchFamily="34" charset="-120"/>
              </a:rPr>
              <a:t>Multi-Agent Code Generation with</a:t>
            </a:r>
            <a:endParaRPr lang="en-US" sz="2600" dirty="0"/>
          </a:p>
          <a:p>
            <a:pPr marL="0" indent="0">
              <a:buNone/>
            </a:pPr>
            <a:r>
              <a:rPr lang="en-US" sz="2600" dirty="0">
                <a:solidFill>
                  <a:srgbClr val="CADCFC"/>
                </a:solidFill>
                <a:latin typeface="Calibri" pitchFamily="34" charset="0"/>
                <a:ea typeface="Calibri" pitchFamily="34" charset="-122"/>
                <a:cs typeface="Calibri" pitchFamily="34" charset="-120"/>
              </a:rPr>
              <a:t>Iterative Testing and Optimisation</a:t>
            </a:r>
            <a:endParaRPr lang="en-US" sz="2600" dirty="0"/>
          </a:p>
        </p:txBody>
      </p:sp>
      <p:sp>
        <p:nvSpPr>
          <p:cNvPr id="5" name="Shape 3"/>
          <p:cNvSpPr/>
          <p:nvPr/>
        </p:nvSpPr>
        <p:spPr>
          <a:xfrm>
            <a:off x="914400" y="4206240"/>
            <a:ext cx="2286000" cy="0"/>
          </a:xfrm>
          <a:prstGeom prst="line">
            <a:avLst/>
          </a:prstGeom>
          <a:noFill/>
          <a:ln w="38100">
            <a:solidFill>
              <a:srgbClr val="F59E0B"/>
            </a:solidFill>
            <a:prstDash val="solid"/>
          </a:ln>
        </p:spPr>
        <p:txBody>
          <a:bodyPr/>
          <a:lstStyle/>
          <a:p>
            <a:endParaRPr lang="en-US"/>
          </a:p>
        </p:txBody>
      </p:sp>
      <p:sp>
        <p:nvSpPr>
          <p:cNvPr id="6" name="Text 4"/>
          <p:cNvSpPr/>
          <p:nvPr/>
        </p:nvSpPr>
        <p:spPr>
          <a:xfrm>
            <a:off x="914400" y="4389120"/>
            <a:ext cx="10058400" cy="457200"/>
          </a:xfrm>
          <a:prstGeom prst="rect">
            <a:avLst/>
          </a:prstGeom>
          <a:noFill/>
          <a:ln/>
        </p:spPr>
        <p:txBody>
          <a:bodyPr wrap="square" lIns="0" tIns="0" rIns="0" bIns="0"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Huang et al. — arXiv:2312.13010</a:t>
            </a:r>
            <a:endParaRPr lang="en-US" sz="1600" dirty="0"/>
          </a:p>
        </p:txBody>
      </p:sp>
      <p:sp>
        <p:nvSpPr>
          <p:cNvPr id="7" name="Text 5"/>
          <p:cNvSpPr/>
          <p:nvPr/>
        </p:nvSpPr>
        <p:spPr>
          <a:xfrm>
            <a:off x="914400" y="5943600"/>
            <a:ext cx="10058400" cy="365760"/>
          </a:xfrm>
          <a:prstGeom prst="rect">
            <a:avLst/>
          </a:prstGeom>
          <a:noFill/>
          <a:ln/>
        </p:spPr>
        <p:txBody>
          <a:bodyPr wrap="square" lIns="0" tIns="0" rIns="0" bIns="0" rtlCol="0" anchor="ctr"/>
          <a:lstStyle/>
          <a:p>
            <a:pPr marL="0" indent="0">
              <a:buNone/>
            </a:pPr>
            <a:r>
              <a:rPr lang="en-US" sz="1400" dirty="0">
                <a:solidFill>
                  <a:srgbClr val="F59E0B"/>
                </a:solidFill>
                <a:latin typeface="Calibri" pitchFamily="34" charset="0"/>
                <a:ea typeface="Calibri" pitchFamily="34" charset="-122"/>
                <a:cs typeface="Calibri" pitchFamily="34" charset="-120"/>
              </a:rPr>
              <a:t>Presented by: Alon Engel, Anas Khoury, Othman </a:t>
            </a:r>
            <a:r>
              <a:rPr lang="en-US" sz="1400" dirty="0" err="1">
                <a:solidFill>
                  <a:srgbClr val="F59E0B"/>
                </a:solidFill>
                <a:latin typeface="Calibri" pitchFamily="34" charset="0"/>
                <a:ea typeface="Calibri" pitchFamily="34" charset="-122"/>
                <a:cs typeface="Calibri" pitchFamily="34" charset="-120"/>
              </a:rPr>
              <a:t>Khleel</a:t>
            </a:r>
            <a:r>
              <a:rPr lang="en-US" sz="1400" dirty="0">
                <a:solidFill>
                  <a:srgbClr val="F59E0B"/>
                </a:solidFill>
                <a:latin typeface="Calibri" pitchFamily="34" charset="0"/>
                <a:ea typeface="Calibri" pitchFamily="34" charset="-122"/>
                <a:cs typeface="Calibri" pitchFamily="34" charset="-120"/>
              </a:rPr>
              <a:t> </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lIns="0" tIns="0" rIns="0" bIns="0" rtlCol="0" anchor="ctr"/>
          <a:lstStyle/>
          <a:p>
            <a:pPr marL="0" indent="0">
              <a:buNone/>
            </a:pPr>
            <a:r>
              <a:rPr lang="en-US" sz="3600" b="1" dirty="0">
                <a:solidFill>
                  <a:srgbClr val="21295C"/>
                </a:solidFill>
                <a:latin typeface="Calibri" pitchFamily="34" charset="0"/>
                <a:ea typeface="Calibri" pitchFamily="34" charset="-122"/>
                <a:cs typeface="Calibri" pitchFamily="34" charset="-120"/>
              </a:rPr>
              <a:t>The Problem</a:t>
            </a:r>
            <a:endParaRPr lang="en-US" sz="3600" dirty="0"/>
          </a:p>
        </p:txBody>
      </p:sp>
      <p:sp>
        <p:nvSpPr>
          <p:cNvPr id="3" name="Text 1"/>
          <p:cNvSpPr/>
          <p:nvPr/>
        </p:nvSpPr>
        <p:spPr>
          <a:xfrm>
            <a:off x="548640" y="1005840"/>
            <a:ext cx="10972800" cy="457200"/>
          </a:xfrm>
          <a:prstGeom prst="rect">
            <a:avLst/>
          </a:prstGeom>
          <a:noFill/>
          <a:ln/>
        </p:spPr>
        <p:txBody>
          <a:bodyPr wrap="square" lIns="0" tIns="0" rIns="0" bIns="0" rtlCol="0" anchor="ctr"/>
          <a:lstStyle/>
          <a:p>
            <a:pPr marL="0" indent="0">
              <a:buNone/>
            </a:pPr>
            <a:r>
              <a:rPr lang="en-US" sz="1800" i="1" dirty="0">
                <a:solidFill>
                  <a:srgbClr val="64748B"/>
                </a:solidFill>
                <a:latin typeface="Calibri" pitchFamily="34" charset="0"/>
                <a:ea typeface="Calibri" pitchFamily="34" charset="-122"/>
                <a:cs typeface="Calibri" pitchFamily="34" charset="-120"/>
              </a:rPr>
              <a:t>When the same model writes code AND tests, it cheats on itself</a:t>
            </a:r>
            <a:endParaRPr lang="en-US" sz="1800" dirty="0"/>
          </a:p>
        </p:txBody>
      </p:sp>
      <p:sp>
        <p:nvSpPr>
          <p:cNvPr id="4" name="Shape 2"/>
          <p:cNvSpPr/>
          <p:nvPr/>
        </p:nvSpPr>
        <p:spPr>
          <a:xfrm>
            <a:off x="548640" y="2011680"/>
            <a:ext cx="5394960" cy="3931920"/>
          </a:xfrm>
          <a:prstGeom prst="rect">
            <a:avLst/>
          </a:prstGeom>
          <a:solidFill>
            <a:srgbClr val="F8FAFC"/>
          </a:solidFill>
          <a:ln w="12700">
            <a:solidFill>
              <a:srgbClr val="E2E8F0"/>
            </a:solidFill>
            <a:prstDash val="solid"/>
          </a:ln>
          <a:effectLst>
            <a:outerShdw blurRad="101600" dist="25400" dir="5400000" algn="bl" rotWithShape="0">
              <a:srgbClr val="000000">
                <a:alpha val="12000"/>
              </a:srgbClr>
            </a:outerShdw>
          </a:effectLst>
        </p:spPr>
        <p:txBody>
          <a:bodyPr/>
          <a:lstStyle/>
          <a:p>
            <a:endParaRPr lang="en-US"/>
          </a:p>
        </p:txBody>
      </p:sp>
      <p:sp>
        <p:nvSpPr>
          <p:cNvPr id="5" name="Shape 3"/>
          <p:cNvSpPr/>
          <p:nvPr/>
        </p:nvSpPr>
        <p:spPr>
          <a:xfrm>
            <a:off x="548640" y="2011680"/>
            <a:ext cx="5394960" cy="457200"/>
          </a:xfrm>
          <a:prstGeom prst="rect">
            <a:avLst/>
          </a:prstGeom>
          <a:solidFill>
            <a:srgbClr val="DC2626"/>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77240" y="2103120"/>
            <a:ext cx="274320" cy="274320"/>
          </a:xfrm>
          <a:prstGeom prst="rect">
            <a:avLst/>
          </a:prstGeom>
        </p:spPr>
      </p:pic>
      <p:sp>
        <p:nvSpPr>
          <p:cNvPr id="7" name="Text 4"/>
          <p:cNvSpPr/>
          <p:nvPr/>
        </p:nvSpPr>
        <p:spPr>
          <a:xfrm>
            <a:off x="1143000" y="2057400"/>
            <a:ext cx="475488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Single-Agent Approach</a:t>
            </a:r>
            <a:endParaRPr lang="en-US" sz="1600" dirty="0"/>
          </a:p>
        </p:txBody>
      </p:sp>
      <p:sp>
        <p:nvSpPr>
          <p:cNvPr id="8" name="Text 5"/>
          <p:cNvSpPr/>
          <p:nvPr/>
        </p:nvSpPr>
        <p:spPr>
          <a:xfrm>
            <a:off x="777240" y="2743200"/>
            <a:ext cx="5029200" cy="2222500"/>
          </a:xfrm>
          <a:prstGeom prst="rect">
            <a:avLst/>
          </a:prstGeom>
          <a:noFill/>
          <a:ln/>
        </p:spPr>
        <p:txBody>
          <a:bodyPr wrap="square" rtlCol="0" anchor="ctr"/>
          <a:lstStyle/>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Same LLM writes code and tests</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Tests inherit bugs from the code</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No objectivity — like a student grading their own exam</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Edge cases get missed</a:t>
            </a:r>
            <a:endParaRPr lang="en-US" sz="1600" dirty="0"/>
          </a:p>
        </p:txBody>
      </p:sp>
      <p:sp>
        <p:nvSpPr>
          <p:cNvPr id="9" name="Shape 6"/>
          <p:cNvSpPr/>
          <p:nvPr/>
        </p:nvSpPr>
        <p:spPr>
          <a:xfrm>
            <a:off x="6217920" y="2011680"/>
            <a:ext cx="5394960" cy="3931920"/>
          </a:xfrm>
          <a:prstGeom prst="rect">
            <a:avLst/>
          </a:prstGeom>
          <a:solidFill>
            <a:srgbClr val="F8FAFC"/>
          </a:solidFill>
          <a:ln w="12700">
            <a:solidFill>
              <a:srgbClr val="E2E8F0"/>
            </a:solidFill>
            <a:prstDash val="solid"/>
          </a:ln>
          <a:effectLst>
            <a:outerShdw blurRad="101600" dist="25400" dir="5400000" algn="bl" rotWithShape="0">
              <a:srgbClr val="000000">
                <a:alpha val="12000"/>
              </a:srgbClr>
            </a:outerShdw>
          </a:effectLst>
        </p:spPr>
        <p:txBody>
          <a:bodyPr/>
          <a:lstStyle/>
          <a:p>
            <a:endParaRPr lang="en-US"/>
          </a:p>
        </p:txBody>
      </p:sp>
      <p:sp>
        <p:nvSpPr>
          <p:cNvPr id="10" name="Shape 7"/>
          <p:cNvSpPr/>
          <p:nvPr/>
        </p:nvSpPr>
        <p:spPr>
          <a:xfrm>
            <a:off x="6217920" y="2011680"/>
            <a:ext cx="5394960" cy="457200"/>
          </a:xfrm>
          <a:prstGeom prst="rect">
            <a:avLst/>
          </a:prstGeom>
          <a:solidFill>
            <a:srgbClr val="F59E0B"/>
          </a:solidFill>
          <a:ln/>
        </p:spPr>
        <p:txBody>
          <a:bodyPr/>
          <a:lstStyle/>
          <a:p>
            <a:endParaRPr lang="en-US"/>
          </a:p>
        </p:txBody>
      </p:sp>
      <p:pic>
        <p:nvPicPr>
          <p:cNvPr id="11" name="Image 1" descr="preencoded.png"/>
          <p:cNvPicPr>
            <a:picLocks noChangeAspect="1"/>
          </p:cNvPicPr>
          <p:nvPr/>
        </p:nvPicPr>
        <p:blipFill>
          <a:blip r:embed="rId3"/>
          <a:stretch>
            <a:fillRect/>
          </a:stretch>
        </p:blipFill>
        <p:spPr>
          <a:xfrm>
            <a:off x="6446520" y="2103120"/>
            <a:ext cx="274320" cy="274320"/>
          </a:xfrm>
          <a:prstGeom prst="rect">
            <a:avLst/>
          </a:prstGeom>
        </p:spPr>
      </p:pic>
      <p:sp>
        <p:nvSpPr>
          <p:cNvPr id="12" name="Text 8"/>
          <p:cNvSpPr/>
          <p:nvPr/>
        </p:nvSpPr>
        <p:spPr>
          <a:xfrm>
            <a:off x="6812280" y="2057400"/>
            <a:ext cx="475488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Existing Multi-Agent Frameworks</a:t>
            </a:r>
            <a:endParaRPr lang="en-US" sz="1600" dirty="0"/>
          </a:p>
        </p:txBody>
      </p:sp>
      <p:sp>
        <p:nvSpPr>
          <p:cNvPr id="13" name="Text 9"/>
          <p:cNvSpPr/>
          <p:nvPr/>
        </p:nvSpPr>
        <p:spPr>
          <a:xfrm>
            <a:off x="6446520" y="2743200"/>
            <a:ext cx="5029200" cy="2222500"/>
          </a:xfrm>
          <a:prstGeom prst="rect">
            <a:avLst/>
          </a:prstGeom>
          <a:noFill/>
          <a:ln/>
        </p:spPr>
        <p:txBody>
          <a:bodyPr wrap="square" rtlCol="0" anchor="ctr"/>
          <a:lstStyle/>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MetaGPT: 5 agents,  ChatDev: 7 agents</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High token cost from agent coordination</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Test accuracy only ~80%</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Tests not based on real execution</a:t>
            </a:r>
            <a:endParaRPr lang="en-US" sz="1600" dirty="0"/>
          </a:p>
        </p:txBody>
      </p:sp>
      <p:sp>
        <p:nvSpPr>
          <p:cNvPr id="200" name="FlowLabel 200"/>
          <p:cNvSpPr txBox="1"/>
          <p:nvPr/>
        </p:nvSpPr>
        <p:spPr>
          <a:xfrm>
            <a:off x="774700" y="5016500"/>
            <a:ext cx="2540000" cy="203200"/>
          </a:xfrm>
          <a:prstGeom prst="rect">
            <a:avLst/>
          </a:prstGeom>
          <a:noFill/>
        </p:spPr>
        <p:txBody>
          <a:bodyPr wrap="square" lIns="0" tIns="0" rIns="0" bIns="0" anchor="t"/>
          <a:lstStyle/>
          <a:p>
            <a:pPr marL="0" indent="0" algn="l">
              <a:buNone/>
            </a:pPr>
            <a:r>
              <a:rPr lang="en-US" sz="1200" b="1" dirty="0">
                <a:solidFill>
                  <a:srgbClr val="475569"/>
                </a:solidFill>
                <a:latin typeface="Calibri"/>
              </a:rPr>
              <a:t>Developer flow:</a:t>
            </a:r>
          </a:p>
        </p:txBody>
      </p:sp>
      <p:sp>
        <p:nvSpPr>
          <p:cNvPr id="201" name="FlowChip 201"/>
          <p:cNvSpPr/>
          <p:nvPr/>
        </p:nvSpPr>
        <p:spPr>
          <a:xfrm>
            <a:off x="850900" y="5334000"/>
            <a:ext cx="990600" cy="406400"/>
          </a:xfrm>
          <a:prstGeom prst="roundRect">
            <a:avLst>
              <a:gd name="adj" fmla="val 25000"/>
            </a:avLst>
          </a:prstGeom>
          <a:solidFill>
            <a:srgbClr val="DC2626"/>
          </a:solidFill>
          <a:ln w="9525">
            <a:solidFill>
              <a:srgbClr val="DC2626"/>
            </a:solidFill>
          </a:ln>
        </p:spPr>
        <p:txBody>
          <a:bodyPr wrap="square" lIns="36000" tIns="18000" rIns="36000" bIns="18000" anchor="ctr"/>
          <a:lstStyle/>
          <a:p>
            <a:pPr marL="0" indent="0" algn="ctr">
              <a:buNone/>
            </a:pPr>
            <a:r>
              <a:rPr lang="en-US" sz="1100" b="1" dirty="0">
                <a:solidFill>
                  <a:srgbClr val="FFFFFF"/>
                </a:solidFill>
                <a:latin typeface="Calibri"/>
              </a:rPr>
              <a:t>Prompt</a:t>
            </a:r>
          </a:p>
        </p:txBody>
      </p:sp>
      <p:sp>
        <p:nvSpPr>
          <p:cNvPr id="202" name="FlowArrow 202"/>
          <p:cNvSpPr/>
          <p:nvPr/>
        </p:nvSpPr>
        <p:spPr>
          <a:xfrm>
            <a:off x="1866900" y="5448300"/>
            <a:ext cx="177800" cy="177800"/>
          </a:xfrm>
          <a:prstGeom prst="rightArrow">
            <a:avLst/>
          </a:prstGeom>
          <a:solidFill>
            <a:srgbClr val="94A3B8"/>
          </a:solidFill>
          <a:ln>
            <a:noFill/>
          </a:ln>
        </p:spPr>
        <p:txBody>
          <a:bodyPr/>
          <a:lstStyle/>
          <a:p>
            <a:endParaRPr lang="en-US"/>
          </a:p>
        </p:txBody>
      </p:sp>
      <p:sp>
        <p:nvSpPr>
          <p:cNvPr id="203" name="FlowChip 203"/>
          <p:cNvSpPr/>
          <p:nvPr/>
        </p:nvSpPr>
        <p:spPr>
          <a:xfrm>
            <a:off x="2070100" y="5334000"/>
            <a:ext cx="990600" cy="406400"/>
          </a:xfrm>
          <a:prstGeom prst="roundRect">
            <a:avLst>
              <a:gd name="adj" fmla="val 25000"/>
            </a:avLst>
          </a:prstGeom>
          <a:solidFill>
            <a:srgbClr val="DC2626"/>
          </a:solidFill>
          <a:ln w="9525">
            <a:solidFill>
              <a:srgbClr val="DC2626"/>
            </a:solidFill>
          </a:ln>
        </p:spPr>
        <p:txBody>
          <a:bodyPr wrap="square" lIns="36000" tIns="18000" rIns="36000" bIns="18000" anchor="ctr"/>
          <a:lstStyle/>
          <a:p>
            <a:pPr marL="0" indent="0" algn="ctr">
              <a:buNone/>
            </a:pPr>
            <a:r>
              <a:rPr lang="en-US" sz="1100" b="1" dirty="0">
                <a:solidFill>
                  <a:srgbClr val="FFFFFF"/>
                </a:solidFill>
                <a:latin typeface="Calibri"/>
              </a:rPr>
              <a:t>LLM</a:t>
            </a:r>
          </a:p>
        </p:txBody>
      </p:sp>
      <p:sp>
        <p:nvSpPr>
          <p:cNvPr id="204" name="FlowArrow 204"/>
          <p:cNvSpPr/>
          <p:nvPr/>
        </p:nvSpPr>
        <p:spPr>
          <a:xfrm>
            <a:off x="3086100" y="5448300"/>
            <a:ext cx="177800" cy="177800"/>
          </a:xfrm>
          <a:prstGeom prst="rightArrow">
            <a:avLst/>
          </a:prstGeom>
          <a:solidFill>
            <a:srgbClr val="94A3B8"/>
          </a:solidFill>
          <a:ln>
            <a:noFill/>
          </a:ln>
        </p:spPr>
        <p:txBody>
          <a:bodyPr/>
          <a:lstStyle/>
          <a:p>
            <a:endParaRPr lang="en-US"/>
          </a:p>
        </p:txBody>
      </p:sp>
      <p:sp>
        <p:nvSpPr>
          <p:cNvPr id="205" name="FlowChip 205"/>
          <p:cNvSpPr/>
          <p:nvPr/>
        </p:nvSpPr>
        <p:spPr>
          <a:xfrm>
            <a:off x="3289300" y="5334000"/>
            <a:ext cx="990600" cy="406400"/>
          </a:xfrm>
          <a:prstGeom prst="roundRect">
            <a:avLst>
              <a:gd name="adj" fmla="val 25000"/>
            </a:avLst>
          </a:prstGeom>
          <a:solidFill>
            <a:srgbClr val="DC2626"/>
          </a:solidFill>
          <a:ln w="9525">
            <a:solidFill>
              <a:srgbClr val="DC2626"/>
            </a:solidFill>
          </a:ln>
        </p:spPr>
        <p:txBody>
          <a:bodyPr wrap="square" lIns="36000" tIns="18000" rIns="36000" bIns="18000" anchor="ctr"/>
          <a:lstStyle/>
          <a:p>
            <a:pPr marL="0" indent="0" algn="ctr">
              <a:buNone/>
            </a:pPr>
            <a:r>
              <a:rPr lang="en-US" sz="1100" b="1" dirty="0">
                <a:solidFill>
                  <a:srgbClr val="FFFFFF"/>
                </a:solidFill>
                <a:latin typeface="Calibri"/>
              </a:rPr>
              <a:t>Code+Tests</a:t>
            </a:r>
          </a:p>
        </p:txBody>
      </p:sp>
      <p:sp>
        <p:nvSpPr>
          <p:cNvPr id="206" name="FlowArrow 206"/>
          <p:cNvSpPr/>
          <p:nvPr/>
        </p:nvSpPr>
        <p:spPr>
          <a:xfrm>
            <a:off x="4305300" y="5448300"/>
            <a:ext cx="177800" cy="177800"/>
          </a:xfrm>
          <a:prstGeom prst="rightArrow">
            <a:avLst/>
          </a:prstGeom>
          <a:solidFill>
            <a:srgbClr val="94A3B8"/>
          </a:solidFill>
          <a:ln>
            <a:noFill/>
          </a:ln>
        </p:spPr>
        <p:txBody>
          <a:bodyPr/>
          <a:lstStyle/>
          <a:p>
            <a:endParaRPr lang="en-US"/>
          </a:p>
        </p:txBody>
      </p:sp>
      <p:sp>
        <p:nvSpPr>
          <p:cNvPr id="207" name="FlowChip 207"/>
          <p:cNvSpPr/>
          <p:nvPr/>
        </p:nvSpPr>
        <p:spPr>
          <a:xfrm>
            <a:off x="4508500" y="5334000"/>
            <a:ext cx="990600" cy="406400"/>
          </a:xfrm>
          <a:prstGeom prst="roundRect">
            <a:avLst>
              <a:gd name="adj" fmla="val 25000"/>
            </a:avLst>
          </a:prstGeom>
          <a:solidFill>
            <a:srgbClr val="991B1B"/>
          </a:solidFill>
          <a:ln w="9525">
            <a:solidFill>
              <a:srgbClr val="991B1B"/>
            </a:solidFill>
          </a:ln>
        </p:spPr>
        <p:txBody>
          <a:bodyPr wrap="square" lIns="36000" tIns="18000" rIns="36000" bIns="18000" anchor="ctr"/>
          <a:lstStyle/>
          <a:p>
            <a:pPr marL="0" indent="0" algn="ctr">
              <a:buNone/>
            </a:pPr>
            <a:r>
              <a:rPr lang="en-US" sz="1100" b="1" dirty="0">
                <a:solidFill>
                  <a:srgbClr val="FFFFFF"/>
                </a:solidFill>
                <a:latin typeface="Calibri"/>
              </a:rPr>
              <a:t>Self-check</a:t>
            </a:r>
          </a:p>
        </p:txBody>
      </p:sp>
      <p:sp>
        <p:nvSpPr>
          <p:cNvPr id="208" name="FlowLabel 208"/>
          <p:cNvSpPr txBox="1"/>
          <p:nvPr/>
        </p:nvSpPr>
        <p:spPr>
          <a:xfrm>
            <a:off x="6451600" y="5016500"/>
            <a:ext cx="2540000" cy="203200"/>
          </a:xfrm>
          <a:prstGeom prst="rect">
            <a:avLst/>
          </a:prstGeom>
          <a:noFill/>
        </p:spPr>
        <p:txBody>
          <a:bodyPr wrap="square" lIns="0" tIns="0" rIns="0" bIns="0" anchor="t"/>
          <a:lstStyle/>
          <a:p>
            <a:pPr marL="0" indent="0" algn="l">
              <a:buNone/>
            </a:pPr>
            <a:r>
              <a:rPr lang="en-US" sz="1200" b="1" dirty="0">
                <a:solidFill>
                  <a:srgbClr val="475569"/>
                </a:solidFill>
                <a:latin typeface="Calibri"/>
              </a:rPr>
              <a:t>Developer flow:</a:t>
            </a:r>
          </a:p>
        </p:txBody>
      </p:sp>
      <p:sp>
        <p:nvSpPr>
          <p:cNvPr id="209" name="FlowChip 209"/>
          <p:cNvSpPr/>
          <p:nvPr/>
        </p:nvSpPr>
        <p:spPr>
          <a:xfrm>
            <a:off x="6527800" y="5334000"/>
            <a:ext cx="812800" cy="406400"/>
          </a:xfrm>
          <a:prstGeom prst="roundRect">
            <a:avLst>
              <a:gd name="adj" fmla="val 25000"/>
            </a:avLst>
          </a:prstGeom>
          <a:solidFill>
            <a:srgbClr val="F59E0B"/>
          </a:solidFill>
          <a:ln w="9525">
            <a:solidFill>
              <a:srgbClr val="F59E0B"/>
            </a:solidFill>
          </a:ln>
        </p:spPr>
        <p:txBody>
          <a:bodyPr wrap="square" lIns="36000" tIns="18000" rIns="36000" bIns="18000" anchor="ctr"/>
          <a:lstStyle/>
          <a:p>
            <a:pPr algn="ctr">
              <a:buNone/>
            </a:pPr>
            <a:r>
              <a:rPr lang="en-US" sz="900" b="1" dirty="0">
                <a:solidFill>
                  <a:srgbClr val="FFFFFF"/>
                </a:solidFill>
              </a:rPr>
              <a:t>Project Manager</a:t>
            </a:r>
          </a:p>
        </p:txBody>
      </p:sp>
      <p:sp>
        <p:nvSpPr>
          <p:cNvPr id="210" name="FlowArrow 210"/>
          <p:cNvSpPr/>
          <p:nvPr/>
        </p:nvSpPr>
        <p:spPr>
          <a:xfrm>
            <a:off x="7353300" y="5448300"/>
            <a:ext cx="152400" cy="177800"/>
          </a:xfrm>
          <a:prstGeom prst="rightArrow">
            <a:avLst/>
          </a:prstGeom>
          <a:solidFill>
            <a:srgbClr val="94A3B8"/>
          </a:solidFill>
          <a:ln>
            <a:noFill/>
          </a:ln>
        </p:spPr>
        <p:txBody>
          <a:bodyPr/>
          <a:lstStyle/>
          <a:p>
            <a:endParaRPr lang="en-US"/>
          </a:p>
        </p:txBody>
      </p:sp>
      <p:sp>
        <p:nvSpPr>
          <p:cNvPr id="211" name="FlowChip 211"/>
          <p:cNvSpPr/>
          <p:nvPr/>
        </p:nvSpPr>
        <p:spPr>
          <a:xfrm>
            <a:off x="7518400" y="5334000"/>
            <a:ext cx="812800" cy="406400"/>
          </a:xfrm>
          <a:prstGeom prst="roundRect">
            <a:avLst>
              <a:gd name="adj" fmla="val 25000"/>
            </a:avLst>
          </a:prstGeom>
          <a:solidFill>
            <a:srgbClr val="F59E0B"/>
          </a:solidFill>
          <a:ln w="9525">
            <a:solidFill>
              <a:srgbClr val="F59E0B"/>
            </a:solidFill>
          </a:ln>
        </p:spPr>
        <p:txBody>
          <a:bodyPr wrap="square" lIns="36000" tIns="18000" rIns="36000" bIns="18000" anchor="ctr"/>
          <a:lstStyle/>
          <a:p>
            <a:pPr algn="ctr">
              <a:buNone/>
            </a:pPr>
            <a:r>
              <a:rPr lang="en-US" sz="900" b="1" dirty="0">
                <a:solidFill>
                  <a:srgbClr val="FFFFFF"/>
                </a:solidFill>
              </a:rPr>
              <a:t>Architect</a:t>
            </a:r>
          </a:p>
        </p:txBody>
      </p:sp>
      <p:sp>
        <p:nvSpPr>
          <p:cNvPr id="212" name="FlowArrow 212"/>
          <p:cNvSpPr/>
          <p:nvPr/>
        </p:nvSpPr>
        <p:spPr>
          <a:xfrm>
            <a:off x="8343900" y="5448300"/>
            <a:ext cx="152400" cy="177800"/>
          </a:xfrm>
          <a:prstGeom prst="rightArrow">
            <a:avLst/>
          </a:prstGeom>
          <a:solidFill>
            <a:srgbClr val="94A3B8"/>
          </a:solidFill>
          <a:ln>
            <a:noFill/>
          </a:ln>
        </p:spPr>
        <p:txBody>
          <a:bodyPr/>
          <a:lstStyle/>
          <a:p>
            <a:endParaRPr lang="en-US"/>
          </a:p>
        </p:txBody>
      </p:sp>
      <p:sp>
        <p:nvSpPr>
          <p:cNvPr id="213" name="FlowChip 213"/>
          <p:cNvSpPr/>
          <p:nvPr/>
        </p:nvSpPr>
        <p:spPr>
          <a:xfrm>
            <a:off x="8509000" y="5334000"/>
            <a:ext cx="812800" cy="406400"/>
          </a:xfrm>
          <a:prstGeom prst="roundRect">
            <a:avLst>
              <a:gd name="adj" fmla="val 25000"/>
            </a:avLst>
          </a:prstGeom>
          <a:solidFill>
            <a:srgbClr val="F59E0B"/>
          </a:solidFill>
          <a:ln w="9525">
            <a:solidFill>
              <a:srgbClr val="F59E0B"/>
            </a:solidFill>
          </a:ln>
        </p:spPr>
        <p:txBody>
          <a:bodyPr wrap="square" lIns="36000" tIns="18000" rIns="36000" bIns="18000" anchor="ctr"/>
          <a:lstStyle/>
          <a:p>
            <a:pPr algn="ctr">
              <a:buNone/>
            </a:pPr>
            <a:r>
              <a:rPr lang="en-US" sz="900" b="1" dirty="0">
                <a:solidFill>
                  <a:srgbClr val="FFFFFF"/>
                </a:solidFill>
              </a:rPr>
              <a:t>Project Manager</a:t>
            </a:r>
          </a:p>
        </p:txBody>
      </p:sp>
      <p:sp>
        <p:nvSpPr>
          <p:cNvPr id="214" name="FlowArrow 214"/>
          <p:cNvSpPr/>
          <p:nvPr/>
        </p:nvSpPr>
        <p:spPr>
          <a:xfrm>
            <a:off x="9334500" y="5448300"/>
            <a:ext cx="152400" cy="177800"/>
          </a:xfrm>
          <a:prstGeom prst="rightArrow">
            <a:avLst/>
          </a:prstGeom>
          <a:solidFill>
            <a:srgbClr val="94A3B8"/>
          </a:solidFill>
          <a:ln>
            <a:noFill/>
          </a:ln>
        </p:spPr>
        <p:txBody>
          <a:bodyPr/>
          <a:lstStyle/>
          <a:p>
            <a:endParaRPr lang="en-US"/>
          </a:p>
        </p:txBody>
      </p:sp>
      <p:sp>
        <p:nvSpPr>
          <p:cNvPr id="215" name="FlowChip 215"/>
          <p:cNvSpPr/>
          <p:nvPr/>
        </p:nvSpPr>
        <p:spPr>
          <a:xfrm>
            <a:off x="9499600" y="5334000"/>
            <a:ext cx="812800" cy="406400"/>
          </a:xfrm>
          <a:prstGeom prst="roundRect">
            <a:avLst>
              <a:gd name="adj" fmla="val 25000"/>
            </a:avLst>
          </a:prstGeom>
          <a:solidFill>
            <a:srgbClr val="F59E0B"/>
          </a:solidFill>
          <a:ln w="9525">
            <a:solidFill>
              <a:srgbClr val="F59E0B"/>
            </a:solidFill>
          </a:ln>
        </p:spPr>
        <p:txBody>
          <a:bodyPr wrap="square" lIns="36000" tIns="18000" rIns="36000" bIns="18000" anchor="ctr"/>
          <a:lstStyle/>
          <a:p>
            <a:pPr algn="ctr">
              <a:buNone/>
            </a:pPr>
            <a:r>
              <a:rPr lang="en-US" sz="900" b="1" dirty="0">
                <a:solidFill>
                  <a:srgbClr val="FFFFFF"/>
                </a:solidFill>
              </a:rPr>
              <a:t>Engineer</a:t>
            </a:r>
          </a:p>
        </p:txBody>
      </p:sp>
      <p:sp>
        <p:nvSpPr>
          <p:cNvPr id="216" name="FlowArrow 216"/>
          <p:cNvSpPr/>
          <p:nvPr/>
        </p:nvSpPr>
        <p:spPr>
          <a:xfrm>
            <a:off x="10325100" y="5448300"/>
            <a:ext cx="152400" cy="177800"/>
          </a:xfrm>
          <a:prstGeom prst="rightArrow">
            <a:avLst/>
          </a:prstGeom>
          <a:solidFill>
            <a:srgbClr val="94A3B8"/>
          </a:solidFill>
          <a:ln>
            <a:noFill/>
          </a:ln>
        </p:spPr>
        <p:txBody>
          <a:bodyPr/>
          <a:lstStyle/>
          <a:p>
            <a:endParaRPr lang="en-US"/>
          </a:p>
        </p:txBody>
      </p:sp>
      <p:sp>
        <p:nvSpPr>
          <p:cNvPr id="217" name="FlowChip 217"/>
          <p:cNvSpPr/>
          <p:nvPr/>
        </p:nvSpPr>
        <p:spPr>
          <a:xfrm>
            <a:off x="10490200" y="5334000"/>
            <a:ext cx="812800" cy="406400"/>
          </a:xfrm>
          <a:prstGeom prst="roundRect">
            <a:avLst>
              <a:gd name="adj" fmla="val 25000"/>
            </a:avLst>
          </a:prstGeom>
          <a:solidFill>
            <a:srgbClr val="B45309"/>
          </a:solidFill>
          <a:ln w="9525">
            <a:solidFill>
              <a:srgbClr val="B45309"/>
            </a:solidFill>
          </a:ln>
        </p:spPr>
        <p:txBody>
          <a:bodyPr wrap="square" lIns="36000" tIns="18000" rIns="36000" bIns="18000" anchor="ctr"/>
          <a:lstStyle/>
          <a:p>
            <a:pPr algn="ctr">
              <a:buNone/>
            </a:pPr>
            <a:r>
              <a:rPr lang="en-US" sz="900" b="1" dirty="0">
                <a:solidFill>
                  <a:srgbClr val="FFFFFF"/>
                </a:solidFill>
              </a:rPr>
              <a:t>QA</a:t>
            </a:r>
          </a:p>
        </p:txBody>
      </p:sp>
    </p:spTree>
    <p:extLst>
      <p:ext uri="{BB962C8B-B14F-4D97-AF65-F5344CB8AC3E}">
        <p14:creationId xmlns:p14="http://schemas.microsoft.com/office/powerpoint/2010/main" val="3948913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9" grpId="0" animBg="1"/>
      <p:bldP spid="10" grpId="0" animBg="1"/>
      <p:bldP spid="12"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lIns="0" tIns="0" rIns="0" bIns="0" rtlCol="0" anchor="ctr"/>
          <a:lstStyle/>
          <a:p>
            <a:pPr marL="0" indent="0">
              <a:buNone/>
            </a:pPr>
            <a:r>
              <a:rPr lang="en-US" sz="3600" b="1" dirty="0">
                <a:solidFill>
                  <a:srgbClr val="21295C"/>
                </a:solidFill>
                <a:latin typeface="Calibri" pitchFamily="34" charset="0"/>
                <a:ea typeface="Calibri" pitchFamily="34" charset="-122"/>
                <a:cs typeface="Calibri" pitchFamily="34" charset="-120"/>
              </a:rPr>
              <a:t>The Solution: 3 Specialized Agents</a:t>
            </a:r>
            <a:endParaRPr lang="en-US" sz="3600" dirty="0"/>
          </a:p>
        </p:txBody>
      </p:sp>
      <p:sp>
        <p:nvSpPr>
          <p:cNvPr id="3" name="Text 1"/>
          <p:cNvSpPr/>
          <p:nvPr/>
        </p:nvSpPr>
        <p:spPr>
          <a:xfrm>
            <a:off x="548640" y="1005840"/>
            <a:ext cx="10972800" cy="457200"/>
          </a:xfrm>
          <a:prstGeom prst="rect">
            <a:avLst/>
          </a:prstGeom>
          <a:noFill/>
          <a:ln/>
        </p:spPr>
        <p:txBody>
          <a:bodyPr wrap="square" lIns="0" tIns="0" rIns="0" bIns="0" rtlCol="0" anchor="ctr"/>
          <a:lstStyle/>
          <a:p>
            <a:pPr marL="0" indent="0">
              <a:buNone/>
            </a:pPr>
            <a:r>
              <a:rPr lang="en-US" sz="1800" i="1" dirty="0">
                <a:solidFill>
                  <a:srgbClr val="64748B"/>
                </a:solidFill>
                <a:latin typeface="Calibri" pitchFamily="34" charset="0"/>
                <a:ea typeface="Calibri" pitchFamily="34" charset="-122"/>
                <a:cs typeface="Calibri" pitchFamily="34" charset="-120"/>
              </a:rPr>
              <a:t>Each agent has one job — and does it well</a:t>
            </a:r>
            <a:endParaRPr lang="en-US" sz="1800" dirty="0"/>
          </a:p>
        </p:txBody>
      </p:sp>
      <p:sp>
        <p:nvSpPr>
          <p:cNvPr id="4" name="Shape 2"/>
          <p:cNvSpPr/>
          <p:nvPr/>
        </p:nvSpPr>
        <p:spPr>
          <a:xfrm>
            <a:off x="548640" y="1920240"/>
            <a:ext cx="3657600" cy="4114800"/>
          </a:xfrm>
          <a:prstGeom prst="rect">
            <a:avLst/>
          </a:prstGeom>
          <a:solidFill>
            <a:srgbClr val="F8FAFC"/>
          </a:solidFill>
          <a:ln w="12700">
            <a:solidFill>
              <a:srgbClr val="E2E8F0"/>
            </a:solidFill>
            <a:prstDash val="solid"/>
          </a:ln>
          <a:effectLst>
            <a:outerShdw blurRad="101600" dist="25400" dir="5400000" algn="bl" rotWithShape="0">
              <a:srgbClr val="000000">
                <a:alpha val="12000"/>
              </a:srgbClr>
            </a:outerShdw>
          </a:effectLst>
        </p:spPr>
        <p:txBody>
          <a:bodyPr/>
          <a:lstStyle/>
          <a:p>
            <a:endParaRPr lang="en-US"/>
          </a:p>
        </p:txBody>
      </p:sp>
      <p:sp>
        <p:nvSpPr>
          <p:cNvPr id="5" name="Shape 3"/>
          <p:cNvSpPr/>
          <p:nvPr/>
        </p:nvSpPr>
        <p:spPr>
          <a:xfrm>
            <a:off x="548640" y="1920240"/>
            <a:ext cx="3657600" cy="1005840"/>
          </a:xfrm>
          <a:prstGeom prst="rect">
            <a:avLst/>
          </a:prstGeom>
          <a:solidFill>
            <a:srgbClr val="065A82"/>
          </a:solidFill>
          <a:ln/>
        </p:spPr>
        <p:txBody>
          <a:bodyPr/>
          <a:lstStyle/>
          <a:p>
            <a:endParaRPr lang="en-US"/>
          </a:p>
        </p:txBody>
      </p:sp>
      <p:sp>
        <p:nvSpPr>
          <p:cNvPr id="6" name="Shape 4"/>
          <p:cNvSpPr/>
          <p:nvPr/>
        </p:nvSpPr>
        <p:spPr>
          <a:xfrm>
            <a:off x="822960" y="2148840"/>
            <a:ext cx="548640" cy="548640"/>
          </a:xfrm>
          <a:prstGeom prst="ellipse">
            <a:avLst/>
          </a:prstGeom>
          <a:solidFill>
            <a:srgbClr val="FFFFFF">
              <a:alpha val="20000"/>
            </a:srgbClr>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14400" y="2240280"/>
            <a:ext cx="365760" cy="365760"/>
          </a:xfrm>
          <a:prstGeom prst="rect">
            <a:avLst/>
          </a:prstGeom>
        </p:spPr>
      </p:pic>
      <p:sp>
        <p:nvSpPr>
          <p:cNvPr id="8" name="Text 5"/>
          <p:cNvSpPr/>
          <p:nvPr/>
        </p:nvSpPr>
        <p:spPr>
          <a:xfrm>
            <a:off x="3566160" y="2057400"/>
            <a:ext cx="457200" cy="640080"/>
          </a:xfrm>
          <a:prstGeom prst="rect">
            <a:avLst/>
          </a:prstGeom>
          <a:noFill/>
          <a:ln/>
        </p:spPr>
        <p:txBody>
          <a:bodyPr wrap="square" lIns="0" tIns="0" rIns="0" bIns="0" rtlCol="0" anchor="ctr"/>
          <a:lstStyle/>
          <a:p>
            <a:pPr marL="0" indent="0" algn="r">
              <a:buNone/>
            </a:pPr>
            <a:r>
              <a:rPr lang="en-US" sz="3600" b="1" dirty="0">
                <a:solidFill>
                  <a:srgbClr val="FFFFFF">
                    <a:alpha val="50000"/>
                  </a:srgbClr>
                </a:solidFill>
                <a:latin typeface="Calibri" pitchFamily="34" charset="0"/>
                <a:ea typeface="Calibri" pitchFamily="34" charset="-122"/>
                <a:cs typeface="Calibri" pitchFamily="34" charset="-120"/>
              </a:rPr>
              <a:t>1</a:t>
            </a:r>
            <a:endParaRPr lang="en-US" sz="3600" dirty="0"/>
          </a:p>
        </p:txBody>
      </p:sp>
      <p:sp>
        <p:nvSpPr>
          <p:cNvPr id="9" name="Text 6"/>
          <p:cNvSpPr/>
          <p:nvPr/>
        </p:nvSpPr>
        <p:spPr>
          <a:xfrm>
            <a:off x="1508760" y="2103120"/>
            <a:ext cx="22860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Programmer Agent</a:t>
            </a:r>
            <a:endParaRPr lang="en-US" sz="1600" dirty="0"/>
          </a:p>
        </p:txBody>
      </p:sp>
      <p:sp>
        <p:nvSpPr>
          <p:cNvPr id="10" name="Text 7"/>
          <p:cNvSpPr/>
          <p:nvPr/>
        </p:nvSpPr>
        <p:spPr>
          <a:xfrm>
            <a:off x="1508760" y="2468880"/>
            <a:ext cx="2286000" cy="3200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כותב את הקוד</a:t>
            </a:r>
            <a:endParaRPr lang="en-US" sz="1200" dirty="0"/>
          </a:p>
        </p:txBody>
      </p:sp>
      <p:sp>
        <p:nvSpPr>
          <p:cNvPr id="11" name="Shape 8"/>
          <p:cNvSpPr/>
          <p:nvPr/>
        </p:nvSpPr>
        <p:spPr>
          <a:xfrm>
            <a:off x="777240" y="3108960"/>
            <a:ext cx="914400" cy="320040"/>
          </a:xfrm>
          <a:prstGeom prst="rect">
            <a:avLst/>
          </a:prstGeom>
          <a:solidFill>
            <a:srgbClr val="065A82"/>
          </a:solidFill>
          <a:ln/>
        </p:spPr>
        <p:txBody>
          <a:bodyPr/>
          <a:lstStyle/>
          <a:p>
            <a:endParaRPr lang="en-US"/>
          </a:p>
        </p:txBody>
      </p:sp>
      <p:sp>
        <p:nvSpPr>
          <p:cNvPr id="12" name="Text 9"/>
          <p:cNvSpPr/>
          <p:nvPr/>
        </p:nvSpPr>
        <p:spPr>
          <a:xfrm>
            <a:off x="777240" y="3108960"/>
            <a:ext cx="91440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LLM</a:t>
            </a:r>
            <a:endParaRPr lang="en-US" sz="1100" dirty="0"/>
          </a:p>
        </p:txBody>
      </p:sp>
      <p:sp>
        <p:nvSpPr>
          <p:cNvPr id="13" name="Text 10"/>
          <p:cNvSpPr/>
          <p:nvPr/>
        </p:nvSpPr>
        <p:spPr>
          <a:xfrm>
            <a:off x="777240" y="3611880"/>
            <a:ext cx="3200400" cy="22860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Uses Chain-of-Thought:</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  • Understand task</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  • Choose algorithm</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  • Write pseudocode</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  • Generate code</a:t>
            </a:r>
            <a:endParaRPr lang="en-US" sz="1400" dirty="0"/>
          </a:p>
        </p:txBody>
      </p:sp>
      <p:sp>
        <p:nvSpPr>
          <p:cNvPr id="14" name="Shape 11"/>
          <p:cNvSpPr/>
          <p:nvPr/>
        </p:nvSpPr>
        <p:spPr>
          <a:xfrm>
            <a:off x="4434840" y="1920240"/>
            <a:ext cx="3657600" cy="4114800"/>
          </a:xfrm>
          <a:prstGeom prst="rect">
            <a:avLst/>
          </a:prstGeom>
          <a:solidFill>
            <a:srgbClr val="F8FAFC"/>
          </a:solidFill>
          <a:ln w="12700">
            <a:solidFill>
              <a:srgbClr val="E2E8F0"/>
            </a:solidFill>
            <a:prstDash val="solid"/>
          </a:ln>
          <a:effectLst>
            <a:outerShdw blurRad="101600" dist="25400" dir="5400000" algn="bl" rotWithShape="0">
              <a:srgbClr val="000000">
                <a:alpha val="12000"/>
              </a:srgbClr>
            </a:outerShdw>
          </a:effectLst>
        </p:spPr>
        <p:txBody>
          <a:bodyPr/>
          <a:lstStyle/>
          <a:p>
            <a:endParaRPr lang="en-US"/>
          </a:p>
        </p:txBody>
      </p:sp>
      <p:sp>
        <p:nvSpPr>
          <p:cNvPr id="15" name="Shape 12"/>
          <p:cNvSpPr/>
          <p:nvPr/>
        </p:nvSpPr>
        <p:spPr>
          <a:xfrm>
            <a:off x="4434840" y="1920240"/>
            <a:ext cx="3657600" cy="1005840"/>
          </a:xfrm>
          <a:prstGeom prst="rect">
            <a:avLst/>
          </a:prstGeom>
          <a:solidFill>
            <a:srgbClr val="1C7293"/>
          </a:solidFill>
          <a:ln/>
        </p:spPr>
        <p:txBody>
          <a:bodyPr/>
          <a:lstStyle/>
          <a:p>
            <a:endParaRPr lang="en-US"/>
          </a:p>
        </p:txBody>
      </p:sp>
      <p:sp>
        <p:nvSpPr>
          <p:cNvPr id="16" name="Shape 13"/>
          <p:cNvSpPr/>
          <p:nvPr/>
        </p:nvSpPr>
        <p:spPr>
          <a:xfrm>
            <a:off x="4709160" y="2148840"/>
            <a:ext cx="548640" cy="548640"/>
          </a:xfrm>
          <a:prstGeom prst="ellipse">
            <a:avLst/>
          </a:prstGeom>
          <a:solidFill>
            <a:srgbClr val="FFFFFF">
              <a:alpha val="20000"/>
            </a:srgbClr>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4800600" y="2240280"/>
            <a:ext cx="365760" cy="365760"/>
          </a:xfrm>
          <a:prstGeom prst="rect">
            <a:avLst/>
          </a:prstGeom>
        </p:spPr>
      </p:pic>
      <p:sp>
        <p:nvSpPr>
          <p:cNvPr id="18" name="Text 14"/>
          <p:cNvSpPr/>
          <p:nvPr/>
        </p:nvSpPr>
        <p:spPr>
          <a:xfrm>
            <a:off x="7452360" y="2057400"/>
            <a:ext cx="457200" cy="640080"/>
          </a:xfrm>
          <a:prstGeom prst="rect">
            <a:avLst/>
          </a:prstGeom>
          <a:noFill/>
          <a:ln/>
        </p:spPr>
        <p:txBody>
          <a:bodyPr wrap="square" lIns="0" tIns="0" rIns="0" bIns="0" rtlCol="0" anchor="ctr"/>
          <a:lstStyle/>
          <a:p>
            <a:pPr marL="0" indent="0" algn="r">
              <a:buNone/>
            </a:pPr>
            <a:r>
              <a:rPr lang="en-US" sz="3600" b="1" dirty="0">
                <a:solidFill>
                  <a:srgbClr val="FFFFFF">
                    <a:alpha val="50000"/>
                  </a:srgbClr>
                </a:solidFill>
                <a:latin typeface="Calibri" pitchFamily="34" charset="0"/>
                <a:ea typeface="Calibri" pitchFamily="34" charset="-122"/>
                <a:cs typeface="Calibri" pitchFamily="34" charset="-120"/>
              </a:rPr>
              <a:t>2</a:t>
            </a:r>
            <a:endParaRPr lang="en-US" sz="3600" dirty="0"/>
          </a:p>
        </p:txBody>
      </p:sp>
      <p:sp>
        <p:nvSpPr>
          <p:cNvPr id="19" name="Text 15"/>
          <p:cNvSpPr/>
          <p:nvPr/>
        </p:nvSpPr>
        <p:spPr>
          <a:xfrm>
            <a:off x="5394960" y="2103120"/>
            <a:ext cx="22860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Test Designer Agent</a:t>
            </a:r>
            <a:endParaRPr lang="en-US" sz="1600" dirty="0"/>
          </a:p>
        </p:txBody>
      </p:sp>
      <p:sp>
        <p:nvSpPr>
          <p:cNvPr id="20" name="Text 16"/>
          <p:cNvSpPr/>
          <p:nvPr/>
        </p:nvSpPr>
        <p:spPr>
          <a:xfrm>
            <a:off x="5394960" y="2468880"/>
            <a:ext cx="2286000" cy="3200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מעצב בדיקות</a:t>
            </a:r>
            <a:endParaRPr lang="en-US" sz="1200" dirty="0"/>
          </a:p>
        </p:txBody>
      </p:sp>
      <p:sp>
        <p:nvSpPr>
          <p:cNvPr id="21" name="Shape 17"/>
          <p:cNvSpPr/>
          <p:nvPr/>
        </p:nvSpPr>
        <p:spPr>
          <a:xfrm>
            <a:off x="4663440" y="3108960"/>
            <a:ext cx="914400" cy="320040"/>
          </a:xfrm>
          <a:prstGeom prst="rect">
            <a:avLst/>
          </a:prstGeom>
          <a:solidFill>
            <a:srgbClr val="065A82"/>
          </a:solidFill>
          <a:ln/>
        </p:spPr>
        <p:txBody>
          <a:bodyPr/>
          <a:lstStyle/>
          <a:p>
            <a:endParaRPr lang="en-US"/>
          </a:p>
        </p:txBody>
      </p:sp>
      <p:sp>
        <p:nvSpPr>
          <p:cNvPr id="22" name="Text 18"/>
          <p:cNvSpPr/>
          <p:nvPr/>
        </p:nvSpPr>
        <p:spPr>
          <a:xfrm>
            <a:off x="4663440" y="3108960"/>
            <a:ext cx="91440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LLM</a:t>
            </a:r>
            <a:endParaRPr lang="en-US" sz="1100" dirty="0"/>
          </a:p>
        </p:txBody>
      </p:sp>
      <p:sp>
        <p:nvSpPr>
          <p:cNvPr id="23" name="Text 19"/>
          <p:cNvSpPr/>
          <p:nvPr/>
        </p:nvSpPr>
        <p:spPr>
          <a:xfrm>
            <a:off x="4663440" y="3611880"/>
            <a:ext cx="3200400" cy="22860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Independent of code:</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  • Basic test cases</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  • Edge cases</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  • Large-scale tests</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  • No bias!</a:t>
            </a:r>
            <a:endParaRPr lang="en-US" sz="1400" dirty="0"/>
          </a:p>
        </p:txBody>
      </p:sp>
      <p:sp>
        <p:nvSpPr>
          <p:cNvPr id="24" name="Shape 20"/>
          <p:cNvSpPr/>
          <p:nvPr/>
        </p:nvSpPr>
        <p:spPr>
          <a:xfrm>
            <a:off x="8321040" y="1920240"/>
            <a:ext cx="3657600" cy="4114800"/>
          </a:xfrm>
          <a:prstGeom prst="rect">
            <a:avLst/>
          </a:prstGeom>
          <a:solidFill>
            <a:srgbClr val="F8FAFC"/>
          </a:solidFill>
          <a:ln w="12700">
            <a:solidFill>
              <a:srgbClr val="E2E8F0"/>
            </a:solidFill>
            <a:prstDash val="solid"/>
          </a:ln>
          <a:effectLst>
            <a:outerShdw blurRad="101600" dist="25400" dir="5400000" algn="bl" rotWithShape="0">
              <a:srgbClr val="000000">
                <a:alpha val="12000"/>
              </a:srgbClr>
            </a:outerShdw>
          </a:effectLst>
        </p:spPr>
        <p:txBody>
          <a:bodyPr/>
          <a:lstStyle/>
          <a:p>
            <a:endParaRPr lang="en-US"/>
          </a:p>
        </p:txBody>
      </p:sp>
      <p:sp>
        <p:nvSpPr>
          <p:cNvPr id="25" name="Shape 21"/>
          <p:cNvSpPr/>
          <p:nvPr/>
        </p:nvSpPr>
        <p:spPr>
          <a:xfrm>
            <a:off x="8321040" y="1920240"/>
            <a:ext cx="3657600" cy="1005840"/>
          </a:xfrm>
          <a:prstGeom prst="rect">
            <a:avLst/>
          </a:prstGeom>
          <a:solidFill>
            <a:srgbClr val="21295C"/>
          </a:solidFill>
          <a:ln/>
        </p:spPr>
        <p:txBody>
          <a:bodyPr/>
          <a:lstStyle/>
          <a:p>
            <a:endParaRPr lang="en-US"/>
          </a:p>
        </p:txBody>
      </p:sp>
      <p:sp>
        <p:nvSpPr>
          <p:cNvPr id="26" name="Shape 22"/>
          <p:cNvSpPr/>
          <p:nvPr/>
        </p:nvSpPr>
        <p:spPr>
          <a:xfrm>
            <a:off x="8595360" y="2148840"/>
            <a:ext cx="548640" cy="548640"/>
          </a:xfrm>
          <a:prstGeom prst="ellipse">
            <a:avLst/>
          </a:prstGeom>
          <a:solidFill>
            <a:srgbClr val="FFFFFF">
              <a:alpha val="20000"/>
            </a:srgbClr>
          </a:solidFill>
          <a:ln/>
        </p:spPr>
        <p:txBody>
          <a:bodyPr/>
          <a:lstStyle/>
          <a:p>
            <a:endParaRPr lang="en-US"/>
          </a:p>
        </p:txBody>
      </p:sp>
      <p:pic>
        <p:nvPicPr>
          <p:cNvPr id="27" name="Image 2" descr="preencoded.png"/>
          <p:cNvPicPr>
            <a:picLocks noChangeAspect="1"/>
          </p:cNvPicPr>
          <p:nvPr/>
        </p:nvPicPr>
        <p:blipFill>
          <a:blip r:embed="rId5"/>
          <a:stretch>
            <a:fillRect/>
          </a:stretch>
        </p:blipFill>
        <p:spPr>
          <a:xfrm>
            <a:off x="8686800" y="2240280"/>
            <a:ext cx="365760" cy="365760"/>
          </a:xfrm>
          <a:prstGeom prst="rect">
            <a:avLst/>
          </a:prstGeom>
        </p:spPr>
      </p:pic>
      <p:sp>
        <p:nvSpPr>
          <p:cNvPr id="28" name="Text 23"/>
          <p:cNvSpPr/>
          <p:nvPr/>
        </p:nvSpPr>
        <p:spPr>
          <a:xfrm>
            <a:off x="11338560" y="2057400"/>
            <a:ext cx="457200" cy="640080"/>
          </a:xfrm>
          <a:prstGeom prst="rect">
            <a:avLst/>
          </a:prstGeom>
          <a:noFill/>
          <a:ln/>
        </p:spPr>
        <p:txBody>
          <a:bodyPr wrap="square" lIns="0" tIns="0" rIns="0" bIns="0" rtlCol="0" anchor="ctr"/>
          <a:lstStyle/>
          <a:p>
            <a:pPr marL="0" indent="0" algn="r">
              <a:buNone/>
            </a:pPr>
            <a:r>
              <a:rPr lang="en-US" sz="3600" b="1" dirty="0">
                <a:solidFill>
                  <a:srgbClr val="FFFFFF">
                    <a:alpha val="50000"/>
                  </a:srgbClr>
                </a:solidFill>
                <a:latin typeface="Calibri" pitchFamily="34" charset="0"/>
                <a:ea typeface="Calibri" pitchFamily="34" charset="-122"/>
                <a:cs typeface="Calibri" pitchFamily="34" charset="-120"/>
              </a:rPr>
              <a:t>3</a:t>
            </a:r>
            <a:endParaRPr lang="en-US" sz="3600" dirty="0"/>
          </a:p>
        </p:txBody>
      </p:sp>
      <p:sp>
        <p:nvSpPr>
          <p:cNvPr id="29" name="Text 24"/>
          <p:cNvSpPr/>
          <p:nvPr/>
        </p:nvSpPr>
        <p:spPr>
          <a:xfrm>
            <a:off x="9281160" y="2103120"/>
            <a:ext cx="22860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Test Executor Agent</a:t>
            </a:r>
            <a:endParaRPr lang="en-US" sz="1600" dirty="0"/>
          </a:p>
        </p:txBody>
      </p:sp>
      <p:sp>
        <p:nvSpPr>
          <p:cNvPr id="30" name="Text 25"/>
          <p:cNvSpPr/>
          <p:nvPr/>
        </p:nvSpPr>
        <p:spPr>
          <a:xfrm>
            <a:off x="9281160" y="2468880"/>
            <a:ext cx="2286000" cy="3200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מריץ ובודק</a:t>
            </a:r>
            <a:endParaRPr lang="en-US" sz="1200" dirty="0"/>
          </a:p>
        </p:txBody>
      </p:sp>
      <p:sp>
        <p:nvSpPr>
          <p:cNvPr id="31" name="Shape 26"/>
          <p:cNvSpPr/>
          <p:nvPr/>
        </p:nvSpPr>
        <p:spPr>
          <a:xfrm>
            <a:off x="8549640" y="3108960"/>
            <a:ext cx="914400" cy="320040"/>
          </a:xfrm>
          <a:prstGeom prst="rect">
            <a:avLst/>
          </a:prstGeom>
          <a:solidFill>
            <a:srgbClr val="059669"/>
          </a:solidFill>
          <a:ln/>
        </p:spPr>
        <p:txBody>
          <a:bodyPr/>
          <a:lstStyle/>
          <a:p>
            <a:endParaRPr lang="en-US"/>
          </a:p>
        </p:txBody>
      </p:sp>
      <p:sp>
        <p:nvSpPr>
          <p:cNvPr id="32" name="Text 27"/>
          <p:cNvSpPr/>
          <p:nvPr/>
        </p:nvSpPr>
        <p:spPr>
          <a:xfrm>
            <a:off x="8549640" y="3108960"/>
            <a:ext cx="91440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33" name="Text 28"/>
          <p:cNvSpPr/>
          <p:nvPr/>
        </p:nvSpPr>
        <p:spPr>
          <a:xfrm>
            <a:off x="8549640" y="3611880"/>
            <a:ext cx="3200400" cy="22860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Python script (</a:t>
            </a:r>
            <a:r>
              <a:rPr lang="en-US" sz="1400" b="1" u="sng" dirty="0">
                <a:solidFill>
                  <a:srgbClr val="1E293B"/>
                </a:solidFill>
                <a:latin typeface="Calibri" pitchFamily="34" charset="0"/>
                <a:ea typeface="Calibri" pitchFamily="34" charset="-122"/>
                <a:cs typeface="Calibri" pitchFamily="34" charset="-120"/>
              </a:rPr>
              <a:t>not LLM!</a:t>
            </a:r>
            <a:r>
              <a:rPr lang="en-US" sz="1400" dirty="0">
                <a:solidFill>
                  <a:srgbClr val="1E293B"/>
                </a:solidFill>
                <a:latin typeface="Calibri" pitchFamily="34" charset="0"/>
                <a:ea typeface="Calibri" pitchFamily="34" charset="-122"/>
                <a:cs typeface="Calibri" pitchFamily="34" charset="-120"/>
              </a:rPr>
              <a:t>):</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  • Runs code in terminal</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  • Captures real errors</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  • Sends feedback</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  • </a:t>
            </a:r>
            <a:r>
              <a:rPr lang="en-US" sz="1400" b="1" u="sng" dirty="0">
                <a:solidFill>
                  <a:srgbClr val="1E293B"/>
                </a:solidFill>
                <a:latin typeface="Calibri" pitchFamily="34" charset="0"/>
                <a:ea typeface="Calibri" pitchFamily="34" charset="-122"/>
                <a:cs typeface="Calibri" pitchFamily="34" charset="-120"/>
              </a:rPr>
              <a:t>0 tokens cost</a:t>
            </a:r>
            <a:r>
              <a:rPr lang="he-IL" sz="1400" b="1" u="sng" dirty="0">
                <a:solidFill>
                  <a:srgbClr val="1E293B"/>
                </a:solidFill>
                <a:latin typeface="Calibri" pitchFamily="34" charset="0"/>
                <a:ea typeface="Calibri" pitchFamily="34" charset="-122"/>
                <a:cs typeface="Calibri" pitchFamily="34" charset="-120"/>
              </a:rPr>
              <a:t>!</a:t>
            </a:r>
            <a:endParaRPr lang="en-US" sz="1400" b="1" u="sng" dirty="0"/>
          </a:p>
        </p:txBody>
      </p:sp>
      <p:sp>
        <p:nvSpPr>
          <p:cNvPr id="34" name="Shape 29"/>
          <p:cNvSpPr/>
          <p:nvPr/>
        </p:nvSpPr>
        <p:spPr>
          <a:xfrm>
            <a:off x="548640" y="6263640"/>
            <a:ext cx="11064240" cy="457200"/>
          </a:xfrm>
          <a:prstGeom prst="rect">
            <a:avLst/>
          </a:prstGeom>
          <a:solidFill>
            <a:srgbClr val="21295C"/>
          </a:solidFill>
          <a:ln/>
        </p:spPr>
        <p:txBody>
          <a:bodyPr/>
          <a:lstStyle/>
          <a:p>
            <a:endParaRPr lang="en-US"/>
          </a:p>
        </p:txBody>
      </p:sp>
      <p:sp>
        <p:nvSpPr>
          <p:cNvPr id="35" name="Text 30"/>
          <p:cNvSpPr/>
          <p:nvPr/>
        </p:nvSpPr>
        <p:spPr>
          <a:xfrm>
            <a:off x="548640" y="6263640"/>
            <a:ext cx="11064240" cy="457200"/>
          </a:xfrm>
          <a:prstGeom prst="rect">
            <a:avLst/>
          </a:prstGeom>
          <a:noFill/>
          <a:ln/>
        </p:spPr>
        <p:txBody>
          <a:bodyPr wrap="square" lIns="0" tIns="0" rIns="0" bIns="0" rtlCol="0" anchor="ctr"/>
          <a:lstStyle/>
          <a:p>
            <a:pPr marL="0" indent="0" algn="ctr">
              <a:buNone/>
            </a:pPr>
            <a:r>
              <a:rPr lang="en-US" sz="1400" b="1" i="1" dirty="0">
                <a:solidFill>
                  <a:srgbClr val="FFFFFF"/>
                </a:solidFill>
                <a:latin typeface="Calibri" pitchFamily="34" charset="0"/>
                <a:ea typeface="Calibri" pitchFamily="34" charset="-122"/>
                <a:cs typeface="Calibri" pitchFamily="34" charset="-120"/>
              </a:rPr>
              <a:t>Key Insight: Test Designer never sees the code → objective tests, no inherited bias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lIns="0" tIns="0" rIns="0" bIns="0" rtlCol="0" anchor="ctr"/>
          <a:lstStyle/>
          <a:p>
            <a:pPr marL="0" indent="0">
              <a:buNone/>
            </a:pPr>
            <a:r>
              <a:rPr lang="en-US" sz="3600" b="1" dirty="0">
                <a:solidFill>
                  <a:srgbClr val="21295C"/>
                </a:solidFill>
                <a:latin typeface="Calibri" pitchFamily="34" charset="0"/>
                <a:ea typeface="Calibri" pitchFamily="34" charset="-122"/>
                <a:cs typeface="Calibri" pitchFamily="34" charset="-120"/>
              </a:rPr>
              <a:t>The Iterative Feedback Loop</a:t>
            </a:r>
            <a:endParaRPr lang="en-US" sz="3600" dirty="0"/>
          </a:p>
        </p:txBody>
      </p:sp>
      <p:sp>
        <p:nvSpPr>
          <p:cNvPr id="3" name="Text 1"/>
          <p:cNvSpPr/>
          <p:nvPr/>
        </p:nvSpPr>
        <p:spPr>
          <a:xfrm>
            <a:off x="548640" y="1005840"/>
            <a:ext cx="10972800" cy="365760"/>
          </a:xfrm>
          <a:prstGeom prst="rect">
            <a:avLst/>
          </a:prstGeom>
          <a:noFill/>
          <a:ln/>
        </p:spPr>
        <p:txBody>
          <a:bodyPr wrap="square" lIns="0" tIns="0" rIns="0" bIns="0" rtlCol="0" anchor="ctr"/>
          <a:lstStyle/>
          <a:p>
            <a:pPr marL="0" indent="0">
              <a:buNone/>
            </a:pPr>
            <a:r>
              <a:rPr lang="en-US" sz="1800" i="1" dirty="0">
                <a:solidFill>
                  <a:srgbClr val="64748B"/>
                </a:solidFill>
                <a:latin typeface="Calibri" pitchFamily="34" charset="0"/>
                <a:ea typeface="Calibri" pitchFamily="34" charset="-122"/>
                <a:cs typeface="Calibri" pitchFamily="34" charset="-120"/>
              </a:rPr>
              <a:t>The heart of AgentCoder — like TDD (Test Driven Development) for AI</a:t>
            </a:r>
            <a:endParaRPr lang="en-US" sz="1800" dirty="0"/>
          </a:p>
        </p:txBody>
      </p:sp>
      <p:sp>
        <p:nvSpPr>
          <p:cNvPr id="4" name="Shape 2"/>
          <p:cNvSpPr/>
          <p:nvPr/>
        </p:nvSpPr>
        <p:spPr>
          <a:xfrm>
            <a:off x="640080" y="2194560"/>
            <a:ext cx="2377440" cy="1463040"/>
          </a:xfrm>
          <a:prstGeom prst="rect">
            <a:avLst/>
          </a:prstGeom>
          <a:solidFill>
            <a:srgbClr val="065A82"/>
          </a:solidFill>
          <a:ln/>
          <a:effectLst>
            <a:outerShdw blurRad="101600" dist="25400" dir="5400000" algn="bl" rotWithShape="0">
              <a:srgbClr val="000000">
                <a:alpha val="12000"/>
              </a:srgbClr>
            </a:outerShdw>
          </a:effectLst>
        </p:spPr>
        <p:txBody>
          <a:bodyPr/>
          <a:lstStyle/>
          <a:p>
            <a:endParaRPr lang="en-US"/>
          </a:p>
        </p:txBody>
      </p:sp>
      <p:sp>
        <p:nvSpPr>
          <p:cNvPr id="5" name="Text 3"/>
          <p:cNvSpPr/>
          <p:nvPr/>
        </p:nvSpPr>
        <p:spPr>
          <a:xfrm>
            <a:off x="777240" y="2286000"/>
            <a:ext cx="548640" cy="457200"/>
          </a:xfrm>
          <a:prstGeom prst="rect">
            <a:avLst/>
          </a:prstGeom>
          <a:noFill/>
          <a:ln/>
        </p:spPr>
        <p:txBody>
          <a:bodyPr wrap="square" lIns="0" tIns="0" rIns="0" bIns="0" rtlCol="0" anchor="ctr"/>
          <a:lstStyle/>
          <a:p>
            <a:pPr marL="0" indent="0">
              <a:buNone/>
            </a:pPr>
            <a:r>
              <a:rPr lang="en-US" sz="2800" b="1" dirty="0">
                <a:solidFill>
                  <a:srgbClr val="FFFFFF">
                    <a:alpha val="70000"/>
                  </a:srgbClr>
                </a:solidFill>
                <a:latin typeface="Calibri" pitchFamily="34" charset="0"/>
                <a:ea typeface="Calibri" pitchFamily="34" charset="-122"/>
                <a:cs typeface="Calibri" pitchFamily="34" charset="-120"/>
              </a:rPr>
              <a:t>1</a:t>
            </a:r>
            <a:endParaRPr lang="en-US" sz="2800" dirty="0"/>
          </a:p>
        </p:txBody>
      </p:sp>
      <p:sp>
        <p:nvSpPr>
          <p:cNvPr id="6" name="Text 4"/>
          <p:cNvSpPr/>
          <p:nvPr/>
        </p:nvSpPr>
        <p:spPr>
          <a:xfrm>
            <a:off x="822960" y="2697480"/>
            <a:ext cx="2011680" cy="4114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Generate</a:t>
            </a:r>
            <a:endParaRPr lang="en-US" sz="1800" dirty="0"/>
          </a:p>
        </p:txBody>
      </p:sp>
      <p:sp>
        <p:nvSpPr>
          <p:cNvPr id="7" name="Text 5"/>
          <p:cNvSpPr/>
          <p:nvPr/>
        </p:nvSpPr>
        <p:spPr>
          <a:xfrm>
            <a:off x="822960" y="3108960"/>
            <a:ext cx="2011680" cy="5486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Programmer writes code</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Test Designer creates tests</a:t>
            </a:r>
            <a:endParaRPr lang="en-US" sz="1200" dirty="0"/>
          </a:p>
        </p:txBody>
      </p:sp>
      <p:sp>
        <p:nvSpPr>
          <p:cNvPr id="8" name="Text 6"/>
          <p:cNvSpPr/>
          <p:nvPr/>
        </p:nvSpPr>
        <p:spPr>
          <a:xfrm>
            <a:off x="2971800" y="2743200"/>
            <a:ext cx="457200" cy="365760"/>
          </a:xfrm>
          <a:prstGeom prst="rect">
            <a:avLst/>
          </a:prstGeom>
          <a:noFill/>
          <a:ln/>
        </p:spPr>
        <p:txBody>
          <a:bodyPr wrap="square" lIns="0" tIns="0" rIns="0" bIns="0" rtlCol="0" anchor="ctr"/>
          <a:lstStyle/>
          <a:p>
            <a:pPr marL="0" indent="0" algn="ctr">
              <a:buNone/>
            </a:pPr>
            <a:r>
              <a:rPr lang="en-US" sz="2000" b="1" dirty="0">
                <a:solidFill>
                  <a:srgbClr val="64748B"/>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3383280" y="2194560"/>
            <a:ext cx="2377440" cy="1463040"/>
          </a:xfrm>
          <a:prstGeom prst="rect">
            <a:avLst/>
          </a:prstGeom>
          <a:solidFill>
            <a:srgbClr val="1C7293"/>
          </a:solidFill>
          <a:ln/>
          <a:effectLst>
            <a:outerShdw blurRad="101600" dist="25400" dir="5400000" algn="bl" rotWithShape="0">
              <a:srgbClr val="000000">
                <a:alpha val="12000"/>
              </a:srgbClr>
            </a:outerShdw>
          </a:effectLst>
        </p:spPr>
        <p:txBody>
          <a:bodyPr/>
          <a:lstStyle/>
          <a:p>
            <a:endParaRPr lang="en-US"/>
          </a:p>
        </p:txBody>
      </p:sp>
      <p:sp>
        <p:nvSpPr>
          <p:cNvPr id="10" name="Text 8"/>
          <p:cNvSpPr/>
          <p:nvPr/>
        </p:nvSpPr>
        <p:spPr>
          <a:xfrm>
            <a:off x="3520440" y="2286000"/>
            <a:ext cx="548640" cy="457200"/>
          </a:xfrm>
          <a:prstGeom prst="rect">
            <a:avLst/>
          </a:prstGeom>
          <a:noFill/>
          <a:ln/>
        </p:spPr>
        <p:txBody>
          <a:bodyPr wrap="square" lIns="0" tIns="0" rIns="0" bIns="0" rtlCol="0" anchor="ctr"/>
          <a:lstStyle/>
          <a:p>
            <a:pPr marL="0" indent="0">
              <a:buNone/>
            </a:pPr>
            <a:r>
              <a:rPr lang="en-US" sz="2800" b="1" dirty="0">
                <a:solidFill>
                  <a:srgbClr val="FFFFFF">
                    <a:alpha val="70000"/>
                  </a:srgbClr>
                </a:solidFill>
                <a:latin typeface="Calibri" pitchFamily="34" charset="0"/>
                <a:ea typeface="Calibri" pitchFamily="34" charset="-122"/>
                <a:cs typeface="Calibri" pitchFamily="34" charset="-120"/>
              </a:rPr>
              <a:t>2</a:t>
            </a:r>
            <a:endParaRPr lang="en-US" sz="2800" dirty="0"/>
          </a:p>
        </p:txBody>
      </p:sp>
      <p:sp>
        <p:nvSpPr>
          <p:cNvPr id="11" name="Text 9"/>
          <p:cNvSpPr/>
          <p:nvPr/>
        </p:nvSpPr>
        <p:spPr>
          <a:xfrm>
            <a:off x="3566160" y="2697480"/>
            <a:ext cx="2011680" cy="4114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Execute</a:t>
            </a:r>
            <a:endParaRPr lang="en-US" sz="1800" dirty="0"/>
          </a:p>
        </p:txBody>
      </p:sp>
      <p:sp>
        <p:nvSpPr>
          <p:cNvPr id="12" name="Text 10"/>
          <p:cNvSpPr/>
          <p:nvPr/>
        </p:nvSpPr>
        <p:spPr>
          <a:xfrm>
            <a:off x="3566160" y="3108960"/>
            <a:ext cx="2011680" cy="5486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Executor runs code</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in real terminal</a:t>
            </a:r>
            <a:endParaRPr lang="en-US" sz="1200" dirty="0"/>
          </a:p>
        </p:txBody>
      </p:sp>
      <p:sp>
        <p:nvSpPr>
          <p:cNvPr id="13" name="Text 11"/>
          <p:cNvSpPr/>
          <p:nvPr/>
        </p:nvSpPr>
        <p:spPr>
          <a:xfrm>
            <a:off x="5715000" y="2743200"/>
            <a:ext cx="457200" cy="365760"/>
          </a:xfrm>
          <a:prstGeom prst="rect">
            <a:avLst/>
          </a:prstGeom>
          <a:noFill/>
          <a:ln/>
        </p:spPr>
        <p:txBody>
          <a:bodyPr wrap="square" lIns="0" tIns="0" rIns="0" bIns="0" rtlCol="0" anchor="ctr"/>
          <a:lstStyle/>
          <a:p>
            <a:pPr marL="0" indent="0" algn="ctr">
              <a:buNone/>
            </a:pPr>
            <a:r>
              <a:rPr lang="en-US" sz="2000" b="1" dirty="0">
                <a:solidFill>
                  <a:srgbClr val="64748B"/>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6126480" y="2194560"/>
            <a:ext cx="2377440" cy="1463040"/>
          </a:xfrm>
          <a:prstGeom prst="rect">
            <a:avLst/>
          </a:prstGeom>
          <a:solidFill>
            <a:srgbClr val="F59E0B"/>
          </a:solidFill>
          <a:ln/>
          <a:effectLst>
            <a:outerShdw blurRad="101600" dist="25400" dir="5400000" algn="bl" rotWithShape="0">
              <a:srgbClr val="000000">
                <a:alpha val="12000"/>
              </a:srgbClr>
            </a:outerShdw>
          </a:effectLst>
        </p:spPr>
        <p:txBody>
          <a:bodyPr/>
          <a:lstStyle/>
          <a:p>
            <a:endParaRPr lang="en-US"/>
          </a:p>
        </p:txBody>
      </p:sp>
      <p:sp>
        <p:nvSpPr>
          <p:cNvPr id="15" name="Text 13"/>
          <p:cNvSpPr/>
          <p:nvPr/>
        </p:nvSpPr>
        <p:spPr>
          <a:xfrm>
            <a:off x="6263640" y="2286000"/>
            <a:ext cx="548640" cy="457200"/>
          </a:xfrm>
          <a:prstGeom prst="rect">
            <a:avLst/>
          </a:prstGeom>
          <a:noFill/>
          <a:ln/>
        </p:spPr>
        <p:txBody>
          <a:bodyPr wrap="square" lIns="0" tIns="0" rIns="0" bIns="0" rtlCol="0" anchor="ctr"/>
          <a:lstStyle/>
          <a:p>
            <a:pPr marL="0" indent="0">
              <a:buNone/>
            </a:pPr>
            <a:r>
              <a:rPr lang="en-US" sz="2800" b="1" dirty="0">
                <a:solidFill>
                  <a:srgbClr val="FFFFFF">
                    <a:alpha val="70000"/>
                  </a:srgbClr>
                </a:solidFill>
                <a:latin typeface="Calibri" pitchFamily="34" charset="0"/>
                <a:ea typeface="Calibri" pitchFamily="34" charset="-122"/>
                <a:cs typeface="Calibri" pitchFamily="34" charset="-120"/>
              </a:rPr>
              <a:t>3</a:t>
            </a:r>
            <a:endParaRPr lang="en-US" sz="2800" dirty="0"/>
          </a:p>
        </p:txBody>
      </p:sp>
      <p:sp>
        <p:nvSpPr>
          <p:cNvPr id="16" name="Text 14"/>
          <p:cNvSpPr/>
          <p:nvPr/>
        </p:nvSpPr>
        <p:spPr>
          <a:xfrm>
            <a:off x="6309360" y="2697480"/>
            <a:ext cx="2011680" cy="4114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Decide</a:t>
            </a:r>
            <a:endParaRPr lang="en-US" sz="1800" dirty="0"/>
          </a:p>
        </p:txBody>
      </p:sp>
      <p:sp>
        <p:nvSpPr>
          <p:cNvPr id="17" name="Text 15"/>
          <p:cNvSpPr/>
          <p:nvPr/>
        </p:nvSpPr>
        <p:spPr>
          <a:xfrm>
            <a:off x="6309360" y="3108960"/>
            <a:ext cx="2011680" cy="5486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All tests pass?</a:t>
            </a:r>
            <a:endParaRPr lang="en-US" sz="1200" dirty="0"/>
          </a:p>
        </p:txBody>
      </p:sp>
      <p:sp>
        <p:nvSpPr>
          <p:cNvPr id="18" name="Text 16"/>
          <p:cNvSpPr/>
          <p:nvPr/>
        </p:nvSpPr>
        <p:spPr>
          <a:xfrm>
            <a:off x="8458200" y="2743200"/>
            <a:ext cx="457200" cy="365760"/>
          </a:xfrm>
          <a:prstGeom prst="rect">
            <a:avLst/>
          </a:prstGeom>
          <a:noFill/>
          <a:ln/>
        </p:spPr>
        <p:txBody>
          <a:bodyPr wrap="square" lIns="0" tIns="0" rIns="0" bIns="0" rtlCol="0" anchor="ctr"/>
          <a:lstStyle/>
          <a:p>
            <a:pPr marL="0" indent="0" algn="ctr">
              <a:buNone/>
            </a:pPr>
            <a:r>
              <a:rPr lang="en-US" sz="2000" b="1" dirty="0">
                <a:solidFill>
                  <a:srgbClr val="64748B"/>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8869680" y="2194560"/>
            <a:ext cx="2377440" cy="1463040"/>
          </a:xfrm>
          <a:prstGeom prst="rect">
            <a:avLst/>
          </a:prstGeom>
          <a:solidFill>
            <a:srgbClr val="DC2626"/>
          </a:solidFill>
          <a:ln/>
          <a:effectLst>
            <a:outerShdw blurRad="101600" dist="25400" dir="5400000" algn="bl" rotWithShape="0">
              <a:srgbClr val="000000">
                <a:alpha val="12000"/>
              </a:srgbClr>
            </a:outerShdw>
          </a:effectLst>
        </p:spPr>
        <p:txBody>
          <a:bodyPr/>
          <a:lstStyle/>
          <a:p>
            <a:endParaRPr lang="en-US"/>
          </a:p>
        </p:txBody>
      </p:sp>
      <p:sp>
        <p:nvSpPr>
          <p:cNvPr id="20" name="Text 18"/>
          <p:cNvSpPr/>
          <p:nvPr/>
        </p:nvSpPr>
        <p:spPr>
          <a:xfrm>
            <a:off x="9006840" y="2286000"/>
            <a:ext cx="548640" cy="457200"/>
          </a:xfrm>
          <a:prstGeom prst="rect">
            <a:avLst/>
          </a:prstGeom>
          <a:noFill/>
          <a:ln/>
        </p:spPr>
        <p:txBody>
          <a:bodyPr wrap="square" lIns="0" tIns="0" rIns="0" bIns="0" rtlCol="0" anchor="ctr"/>
          <a:lstStyle/>
          <a:p>
            <a:pPr marL="0" indent="0">
              <a:buNone/>
            </a:pPr>
            <a:r>
              <a:rPr lang="en-US" sz="2800" b="1" dirty="0">
                <a:solidFill>
                  <a:srgbClr val="FFFFFF">
                    <a:alpha val="70000"/>
                  </a:srgbClr>
                </a:solidFill>
                <a:latin typeface="Calibri" pitchFamily="34" charset="0"/>
                <a:ea typeface="Calibri" pitchFamily="34" charset="-122"/>
                <a:cs typeface="Calibri" pitchFamily="34" charset="-120"/>
              </a:rPr>
              <a:t>4</a:t>
            </a:r>
            <a:endParaRPr lang="en-US" sz="2800" dirty="0"/>
          </a:p>
        </p:txBody>
      </p:sp>
      <p:sp>
        <p:nvSpPr>
          <p:cNvPr id="21" name="Text 19"/>
          <p:cNvSpPr/>
          <p:nvPr/>
        </p:nvSpPr>
        <p:spPr>
          <a:xfrm>
            <a:off x="9052560" y="2697480"/>
            <a:ext cx="2011680" cy="4114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Refine</a:t>
            </a:r>
            <a:endParaRPr lang="en-US" sz="1800" dirty="0"/>
          </a:p>
        </p:txBody>
      </p:sp>
      <p:sp>
        <p:nvSpPr>
          <p:cNvPr id="22" name="Text 20"/>
          <p:cNvSpPr/>
          <p:nvPr/>
        </p:nvSpPr>
        <p:spPr>
          <a:xfrm>
            <a:off x="9052560" y="3108960"/>
            <a:ext cx="2011680" cy="548640"/>
          </a:xfrm>
          <a:prstGeom prst="rect">
            <a:avLst/>
          </a:prstGeom>
          <a:noFill/>
          <a:ln/>
        </p:spPr>
        <p:txBody>
          <a:bodyPr wrap="square" lIns="0" tIns="0" rIns="0" bIns="0" rtlCol="0" anchor="ctr"/>
          <a:lstStyle/>
          <a:p>
            <a:pPr marL="0" indent="0">
              <a:buNone/>
            </a:pPr>
            <a:r>
              <a:rPr lang="en-US" sz="1200" dirty="0">
                <a:solidFill>
                  <a:srgbClr val="FFFFFF"/>
                </a:solidFill>
              </a:rPr>
              <a:t>Programmer Agent rewrites</a:t>
            </a:r>
          </a:p>
          <a:p>
            <a:pPr marL="0" indent="0">
              <a:buNone/>
            </a:pPr>
            <a:r>
              <a:rPr lang="en-US" sz="1200" dirty="0">
                <a:solidFill>
                  <a:srgbClr val="FFFFFF"/>
                </a:solidFill>
              </a:rPr>
              <a:t>code from the error message</a:t>
            </a:r>
          </a:p>
        </p:txBody>
      </p:sp>
      <p:sp>
        <p:nvSpPr>
          <p:cNvPr id="23" name="Shape 21"/>
          <p:cNvSpPr/>
          <p:nvPr/>
        </p:nvSpPr>
        <p:spPr>
          <a:xfrm>
            <a:off x="10515600" y="3840480"/>
            <a:ext cx="0" cy="548640"/>
          </a:xfrm>
          <a:prstGeom prst="line">
            <a:avLst/>
          </a:prstGeom>
          <a:noFill/>
          <a:ln w="38100">
            <a:solidFill>
              <a:srgbClr val="21295C"/>
            </a:solidFill>
            <a:prstDash val="solid"/>
          </a:ln>
        </p:spPr>
        <p:txBody>
          <a:bodyPr/>
          <a:lstStyle/>
          <a:p>
            <a:endParaRPr lang="en-US"/>
          </a:p>
        </p:txBody>
      </p:sp>
      <p:sp>
        <p:nvSpPr>
          <p:cNvPr id="24" name="Shape 22"/>
          <p:cNvSpPr/>
          <p:nvPr/>
        </p:nvSpPr>
        <p:spPr>
          <a:xfrm>
            <a:off x="1737360" y="4389120"/>
            <a:ext cx="8778240" cy="0"/>
          </a:xfrm>
          <a:prstGeom prst="line">
            <a:avLst/>
          </a:prstGeom>
          <a:noFill/>
          <a:ln w="38100">
            <a:solidFill>
              <a:srgbClr val="21295C"/>
            </a:solidFill>
            <a:prstDash val="solid"/>
          </a:ln>
        </p:spPr>
        <p:txBody>
          <a:bodyPr/>
          <a:lstStyle/>
          <a:p>
            <a:endParaRPr lang="en-US"/>
          </a:p>
        </p:txBody>
      </p:sp>
      <p:sp>
        <p:nvSpPr>
          <p:cNvPr id="25" name="Shape 23"/>
          <p:cNvSpPr/>
          <p:nvPr/>
        </p:nvSpPr>
        <p:spPr>
          <a:xfrm>
            <a:off x="1737360" y="3840480"/>
            <a:ext cx="0" cy="548640"/>
          </a:xfrm>
          <a:prstGeom prst="line">
            <a:avLst/>
          </a:prstGeom>
          <a:noFill/>
          <a:ln w="38100">
            <a:solidFill>
              <a:srgbClr val="21295C"/>
            </a:solidFill>
            <a:prstDash val="solid"/>
            <a:tailEnd type="triangle"/>
          </a:ln>
        </p:spPr>
        <p:txBody>
          <a:bodyPr/>
          <a:lstStyle/>
          <a:p>
            <a:endParaRPr lang="en-US"/>
          </a:p>
        </p:txBody>
      </p:sp>
      <p:sp>
        <p:nvSpPr>
          <p:cNvPr id="26" name="Text 24"/>
          <p:cNvSpPr/>
          <p:nvPr/>
        </p:nvSpPr>
        <p:spPr>
          <a:xfrm>
            <a:off x="3657600" y="4434840"/>
            <a:ext cx="5943600" cy="365760"/>
          </a:xfrm>
          <a:prstGeom prst="rect">
            <a:avLst/>
          </a:prstGeom>
          <a:noFill/>
          <a:ln/>
        </p:spPr>
        <p:txBody>
          <a:bodyPr wrap="square" lIns="0" tIns="0" rIns="0" bIns="0" rtlCol="0" anchor="ctr"/>
          <a:lstStyle/>
          <a:p>
            <a:pPr marL="0" indent="0" algn="ctr">
              <a:buNone/>
            </a:pPr>
            <a:r>
              <a:rPr lang="en-US" sz="1300" b="1" i="1" dirty="0">
                <a:solidFill>
                  <a:srgbClr val="21295C"/>
                </a:solidFill>
              </a:rPr>
              <a:t>If a test failed → loop back to Execute (up to 5 iterations, then stop)</a:t>
            </a:r>
          </a:p>
        </p:txBody>
      </p:sp>
      <p:sp>
        <p:nvSpPr>
          <p:cNvPr id="27" name="Shape 25"/>
          <p:cNvSpPr/>
          <p:nvPr/>
        </p:nvSpPr>
        <p:spPr>
          <a:xfrm>
            <a:off x="548640" y="5212080"/>
            <a:ext cx="11064240" cy="1371600"/>
          </a:xfrm>
          <a:prstGeom prst="rect">
            <a:avLst/>
          </a:prstGeom>
          <a:solidFill>
            <a:srgbClr val="F8FAFC"/>
          </a:solidFill>
          <a:ln w="12700">
            <a:solidFill>
              <a:srgbClr val="E2E8F0"/>
            </a:solidFill>
            <a:prstDash val="solid"/>
          </a:ln>
        </p:spPr>
        <p:txBody>
          <a:bodyPr/>
          <a:lstStyle/>
          <a:p>
            <a:endParaRPr lang="en-US"/>
          </a:p>
        </p:txBody>
      </p:sp>
      <p:pic>
        <p:nvPicPr>
          <p:cNvPr id="28" name="Image 0" descr="preencoded.png"/>
          <p:cNvPicPr>
            <a:picLocks noChangeAspect="1"/>
          </p:cNvPicPr>
          <p:nvPr/>
        </p:nvPicPr>
        <p:blipFill>
          <a:blip r:embed="rId3"/>
          <a:stretch>
            <a:fillRect/>
          </a:stretch>
        </p:blipFill>
        <p:spPr>
          <a:xfrm>
            <a:off x="777240" y="5349240"/>
            <a:ext cx="457200" cy="457200"/>
          </a:xfrm>
          <a:prstGeom prst="rect">
            <a:avLst/>
          </a:prstGeom>
        </p:spPr>
      </p:pic>
      <p:sp>
        <p:nvSpPr>
          <p:cNvPr id="29" name="Text 26"/>
          <p:cNvSpPr/>
          <p:nvPr/>
        </p:nvSpPr>
        <p:spPr>
          <a:xfrm>
            <a:off x="1371600" y="5285232"/>
            <a:ext cx="10058400" cy="365760"/>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Why is this powerful?</a:t>
            </a:r>
            <a:endParaRPr lang="en-US" sz="1600" dirty="0"/>
          </a:p>
        </p:txBody>
      </p:sp>
      <p:sp>
        <p:nvSpPr>
          <p:cNvPr id="30" name="Text 27"/>
          <p:cNvSpPr/>
          <p:nvPr/>
        </p:nvSpPr>
        <p:spPr>
          <a:xfrm>
            <a:off x="1371600" y="5669280"/>
            <a:ext cx="10058400" cy="914400"/>
          </a:xfrm>
          <a:prstGeom prst="rect">
            <a:avLst/>
          </a:prstGeom>
          <a:noFill/>
          <a:ln/>
        </p:spPr>
        <p:txBody>
          <a:bodyPr wrap="square" rtlCol="0" anchor="ctr"/>
          <a:lstStyle/>
          <a:p>
            <a:pPr marL="342900" indent="-342900">
              <a:spcAft>
                <a:spcPts val="200"/>
              </a:spcAft>
              <a:buSzPct val="100000"/>
              <a:buChar char="•"/>
            </a:pPr>
            <a:r>
              <a:rPr lang="en-US" sz="1300" dirty="0">
                <a:solidFill>
                  <a:srgbClr val="1E293B"/>
                </a:solidFill>
              </a:rPr>
              <a:t>Concrete feedback — actual errors from terminal, not LLM guesses</a:t>
            </a:r>
          </a:p>
          <a:p>
            <a:pPr marL="342900" indent="-342900">
              <a:spcAft>
                <a:spcPts val="200"/>
              </a:spcAft>
              <a:buSzPct val="100000"/>
              <a:buChar char="•"/>
            </a:pPr>
            <a:r>
              <a:rPr lang="en-US" sz="1300" dirty="0">
                <a:solidFill>
                  <a:srgbClr val="1E293B"/>
                </a:solidFill>
              </a:rPr>
              <a:t>Programmer Agent fixes itself — LLM rewrites the code from the error; no human in the loop</a:t>
            </a:r>
          </a:p>
          <a:p>
            <a:pPr marL="342900" indent="-342900">
              <a:spcAft>
                <a:spcPts val="200"/>
              </a:spcAft>
              <a:buSzPct val="100000"/>
              <a:buChar char="•"/>
            </a:pPr>
            <a:r>
              <a:rPr lang="en-US" sz="1300" dirty="0">
                <a:solidFill>
                  <a:srgbClr val="1E293B"/>
                </a:solidFill>
              </a:rPr>
              <a:t>Tests stay fixed — Programmer Agent can't 'convince' the Test Designer to change its mind</a:t>
            </a:r>
          </a:p>
          <a:p>
            <a:pPr marL="342900" indent="-342900">
              <a:spcAft>
                <a:spcPts val="200"/>
              </a:spcAft>
              <a:buSzPct val="100000"/>
              <a:buChar char="•"/>
            </a:pPr>
            <a:r>
              <a:rPr lang="en-US" sz="1300" b="1" dirty="0">
                <a:solidFill>
                  <a:srgbClr val="1E293B"/>
                </a:solidFill>
              </a:rPr>
              <a:t>Bounded budget — </a:t>
            </a:r>
            <a:r>
              <a:rPr lang="en-US" sz="1300" dirty="0">
                <a:solidFill>
                  <a:srgbClr val="1E293B"/>
                </a:solidFill>
              </a:rPr>
              <a:t>paper caps the loop at 5 iterations; most fixes happen in the first 1–2 (74% → 80% over 5 rounds)</a:t>
            </a:r>
          </a:p>
        </p:txBody>
      </p:sp>
    </p:spTree>
    <p:extLst>
      <p:ext uri="{BB962C8B-B14F-4D97-AF65-F5344CB8AC3E}">
        <p14:creationId xmlns:p14="http://schemas.microsoft.com/office/powerpoint/2010/main" val="3591509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9" grpId="0" animBg="1"/>
      <p:bldP spid="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AA3E9C-8428-4B19-A940-25ACBCE65156}"/>
              </a:ext>
            </a:extLst>
          </p:cNvPr>
          <p:cNvSpPr txBox="1"/>
          <p:nvPr/>
        </p:nvSpPr>
        <p:spPr>
          <a:xfrm>
            <a:off x="546100" y="368300"/>
            <a:ext cx="10972800" cy="635000"/>
          </a:xfrm>
          <a:prstGeom prst="rect">
            <a:avLst/>
          </a:prstGeom>
          <a:noFill/>
        </p:spPr>
        <p:txBody>
          <a:bodyPr vertOverflow="overflow" vert="horz" wrap="square" rtlCol="0" anchor="t">
            <a:spAutoFit/>
          </a:bodyPr>
          <a:lstStyle/>
          <a:p>
            <a:pPr algn="l"/>
            <a:r>
              <a:rPr lang="en-US" sz="3600" b="1">
                <a:solidFill>
                  <a:srgbClr val="21295C"/>
                </a:solidFill>
                <a:latin typeface="Calibri"/>
                <a:cs typeface="Calibri"/>
              </a:rPr>
              <a:t>The Original AgentCoder Pipeline</a:t>
            </a:r>
            <a:endParaRPr lang="en-IL" sz="3600" b="1">
              <a:solidFill>
                <a:srgbClr val="21295C"/>
              </a:solidFill>
              <a:latin typeface="Calibri"/>
              <a:cs typeface="Calibri"/>
            </a:endParaRPr>
          </a:p>
        </p:txBody>
      </p:sp>
      <p:sp>
        <p:nvSpPr>
          <p:cNvPr id="3" name="TextBox 2">
            <a:extLst>
              <a:ext uri="{FF2B5EF4-FFF2-40B4-BE49-F238E27FC236}">
                <a16:creationId xmlns:a16="http://schemas.microsoft.com/office/drawing/2014/main" id="{1E5EDDF7-82E6-48D8-88A5-E73D9DC4CAC9}"/>
              </a:ext>
            </a:extLst>
          </p:cNvPr>
          <p:cNvSpPr txBox="1"/>
          <p:nvPr/>
        </p:nvSpPr>
        <p:spPr>
          <a:xfrm>
            <a:off x="546100" y="1003300"/>
            <a:ext cx="10972800" cy="368300"/>
          </a:xfrm>
          <a:prstGeom prst="rect">
            <a:avLst/>
          </a:prstGeom>
          <a:noFill/>
        </p:spPr>
        <p:txBody>
          <a:bodyPr vertOverflow="overflow" vert="horz" wrap="square" rtlCol="0" anchor="t">
            <a:spAutoFit/>
          </a:bodyPr>
          <a:lstStyle/>
          <a:p>
            <a:pPr algn="l"/>
            <a:r>
              <a:rPr lang="en-US" i="1">
                <a:solidFill>
                  <a:srgbClr val="64748B"/>
                </a:solidFill>
                <a:latin typeface="Calibri"/>
                <a:cs typeface="Calibri"/>
              </a:rPr>
              <a:t>Figure 1 — the full pipeline with a HumanEval code-generation example</a:t>
            </a:r>
            <a:endParaRPr lang="en-IL" i="1">
              <a:solidFill>
                <a:srgbClr val="64748B"/>
              </a:solidFill>
              <a:latin typeface="Calibri"/>
              <a:cs typeface="Calibri"/>
            </a:endParaRPr>
          </a:p>
        </p:txBody>
      </p:sp>
      <p:sp>
        <p:nvSpPr>
          <p:cNvPr id="4" name="TextBox 3">
            <a:extLst>
              <a:ext uri="{FF2B5EF4-FFF2-40B4-BE49-F238E27FC236}">
                <a16:creationId xmlns:a16="http://schemas.microsoft.com/office/drawing/2014/main" id="{8F616D8D-76BD-4A8C-9818-8DDAF1EC650A}"/>
              </a:ext>
            </a:extLst>
          </p:cNvPr>
          <p:cNvSpPr txBox="1"/>
          <p:nvPr/>
        </p:nvSpPr>
        <p:spPr>
          <a:xfrm>
            <a:off x="546100" y="6477000"/>
            <a:ext cx="10972800" cy="304800"/>
          </a:xfrm>
          <a:prstGeom prst="rect">
            <a:avLst/>
          </a:prstGeom>
          <a:noFill/>
        </p:spPr>
        <p:txBody>
          <a:bodyPr vertOverflow="overflow" vert="horz" wrap="square" rtlCol="0" anchor="t">
            <a:spAutoFit/>
          </a:bodyPr>
          <a:lstStyle/>
          <a:p>
            <a:pPr algn="l"/>
            <a:r>
              <a:rPr lang="da-DK" sz="1400" i="1">
                <a:solidFill>
                  <a:srgbClr val="64748B"/>
                </a:solidFill>
                <a:latin typeface="Calibri"/>
                <a:cs typeface="Calibri"/>
              </a:rPr>
              <a:t>Source: Huang et al. (2023), "AgentCoder," arXiv:2312.13010</a:t>
            </a:r>
            <a:endParaRPr lang="en-IL" sz="1400" i="1">
              <a:solidFill>
                <a:srgbClr val="64748B"/>
              </a:solidFill>
              <a:latin typeface="Calibri"/>
              <a:cs typeface="Calibri"/>
            </a:endParaRPr>
          </a:p>
        </p:txBody>
      </p:sp>
      <p:pic>
        <p:nvPicPr>
          <p:cNvPr id="5" name="Picture 4">
            <a:extLst>
              <a:ext uri="{FF2B5EF4-FFF2-40B4-BE49-F238E27FC236}">
                <a16:creationId xmlns:a16="http://schemas.microsoft.com/office/drawing/2014/main" id="{7FEDDE55-651B-5315-8247-CAFB91907605}"/>
              </a:ext>
            </a:extLst>
          </p:cNvPr>
          <p:cNvPicPr>
            <a:picLocks noChangeAspect="1"/>
          </p:cNvPicPr>
          <p:nvPr/>
        </p:nvPicPr>
        <p:blipFill>
          <a:blip r:embed="rId2"/>
          <a:stretch>
            <a:fillRect/>
          </a:stretch>
        </p:blipFill>
        <p:spPr>
          <a:xfrm>
            <a:off x="457200" y="1879600"/>
            <a:ext cx="11277600" cy="3710330"/>
          </a:xfrm>
          <a:prstGeom prst="rect">
            <a:avLst/>
          </a:prstGeom>
        </p:spPr>
      </p:pic>
      <p:sp>
        <p:nvSpPr>
          <p:cNvPr id="6" name="Rectangle: Rounded Corners 5">
            <a:extLst>
              <a:ext uri="{FF2B5EF4-FFF2-40B4-BE49-F238E27FC236}">
                <a16:creationId xmlns:a16="http://schemas.microsoft.com/office/drawing/2014/main" id="{49F8B365-4E6A-46E3-9B9D-C9175B6607FE}"/>
              </a:ext>
            </a:extLst>
          </p:cNvPr>
          <p:cNvSpPr/>
          <p:nvPr/>
        </p:nvSpPr>
        <p:spPr>
          <a:xfrm>
            <a:off x="546100" y="5638800"/>
            <a:ext cx="11061700" cy="685800"/>
          </a:xfrm>
          <a:prstGeom prst="roundRect">
            <a:avLst/>
          </a:prstGeom>
          <a:solidFill>
            <a:srgbClr val="EEF2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21295C"/>
                </a:solidFill>
                <a:latin typeface="Calibri"/>
                <a:cs typeface="Calibri"/>
              </a:rPr>
              <a:t>Key idea: tests are written independently of the code, so the executor's feedback is objective — driving each refinement loop.</a:t>
            </a:r>
            <a:endParaRPr lang="en-IL" sz="1400" dirty="0">
              <a:solidFill>
                <a:srgbClr val="21295C"/>
              </a:solidFill>
              <a:latin typeface="Calibri"/>
              <a:cs typeface="Calibri"/>
            </a:endParaRPr>
          </a:p>
        </p:txBody>
      </p:sp>
    </p:spTree>
    <p:extLst>
      <p:ext uri="{BB962C8B-B14F-4D97-AF65-F5344CB8AC3E}">
        <p14:creationId xmlns:p14="http://schemas.microsoft.com/office/powerpoint/2010/main" val="58548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lIns="0" tIns="0" rIns="0" bIns="0" rtlCol="0" anchor="ctr"/>
          <a:lstStyle/>
          <a:p>
            <a:pPr marL="0" indent="0">
              <a:buNone/>
            </a:pPr>
            <a:r>
              <a:rPr lang="en-US" sz="3200" b="1" dirty="0">
                <a:solidFill>
                  <a:srgbClr val="21295C"/>
                </a:solidFill>
                <a:latin typeface="Calibri" pitchFamily="34" charset="0"/>
                <a:ea typeface="Calibri" pitchFamily="34" charset="-122"/>
                <a:cs typeface="Calibri" pitchFamily="34" charset="-120"/>
              </a:rPr>
              <a:t>Task Demonstration: has_close_elements</a:t>
            </a:r>
            <a:endParaRPr lang="en-US" sz="3200" dirty="0"/>
          </a:p>
        </p:txBody>
      </p:sp>
      <p:sp>
        <p:nvSpPr>
          <p:cNvPr id="3" name="Text 1"/>
          <p:cNvSpPr/>
          <p:nvPr/>
        </p:nvSpPr>
        <p:spPr>
          <a:xfrm>
            <a:off x="548640" y="1005840"/>
            <a:ext cx="10972800" cy="365760"/>
          </a:xfrm>
          <a:prstGeom prst="rect">
            <a:avLst/>
          </a:prstGeom>
          <a:noFill/>
          <a:ln/>
        </p:spPr>
        <p:txBody>
          <a:bodyPr wrap="square" lIns="0" tIns="0" rIns="0" bIns="0" rtlCol="0" anchor="ctr"/>
          <a:lstStyle/>
          <a:p>
            <a:pPr marL="0" indent="0">
              <a:buNone/>
            </a:pPr>
            <a:r>
              <a:rPr lang="en-US" sz="1600" i="1" dirty="0">
                <a:solidFill>
                  <a:srgbClr val="64748B"/>
                </a:solidFill>
                <a:latin typeface="Calibri" pitchFamily="34" charset="0"/>
                <a:ea typeface="Calibri" pitchFamily="34" charset="-122"/>
                <a:cs typeface="Calibri" pitchFamily="34" charset="-120"/>
              </a:rPr>
              <a:t>Check if any two numbers in a list are closer than a given threshold</a:t>
            </a:r>
            <a:endParaRPr lang="en-US" sz="1600" dirty="0"/>
          </a:p>
        </p:txBody>
      </p:sp>
      <p:sp>
        <p:nvSpPr>
          <p:cNvPr id="4" name="Shape 2"/>
          <p:cNvSpPr/>
          <p:nvPr/>
        </p:nvSpPr>
        <p:spPr>
          <a:xfrm>
            <a:off x="548640" y="1554480"/>
            <a:ext cx="5486400" cy="2103120"/>
          </a:xfrm>
          <a:prstGeom prst="rect">
            <a:avLst/>
          </a:prstGeom>
          <a:solidFill>
            <a:srgbClr val="1E293B"/>
          </a:solidFill>
          <a:ln/>
          <a:effectLst>
            <a:outerShdw blurRad="101600" dist="25400" dir="5400000" algn="bl" rotWithShape="0">
              <a:srgbClr val="000000">
                <a:alpha val="12000"/>
              </a:srgbClr>
            </a:outerShdw>
          </a:effectLst>
        </p:spPr>
        <p:txBody>
          <a:bodyPr/>
          <a:lstStyle/>
          <a:p>
            <a:endParaRPr lang="en-US"/>
          </a:p>
        </p:txBody>
      </p:sp>
      <p:sp>
        <p:nvSpPr>
          <p:cNvPr id="5" name="Text 3"/>
          <p:cNvSpPr/>
          <p:nvPr/>
        </p:nvSpPr>
        <p:spPr>
          <a:xfrm>
            <a:off x="731520" y="1645920"/>
            <a:ext cx="5029200" cy="32004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 Programmer's first attempt</a:t>
            </a:r>
            <a:endParaRPr lang="en-US" sz="1300" dirty="0"/>
          </a:p>
        </p:txBody>
      </p:sp>
      <p:sp>
        <p:nvSpPr>
          <p:cNvPr id="6" name="Text 4"/>
          <p:cNvSpPr/>
          <p:nvPr/>
        </p:nvSpPr>
        <p:spPr>
          <a:xfrm>
            <a:off x="731520" y="2011680"/>
            <a:ext cx="5029200" cy="822960"/>
          </a:xfrm>
          <a:prstGeom prst="rect">
            <a:avLst/>
          </a:prstGeom>
          <a:noFill/>
          <a:ln/>
        </p:spPr>
        <p:txBody>
          <a:bodyPr wrap="square" lIns="0" tIns="0" rIns="0" bIns="0"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if numbers[i] - numbers[j] &lt;= threshold:</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    return True</a:t>
            </a:r>
            <a:endParaRPr lang="en-US" sz="1400" dirty="0"/>
          </a:p>
        </p:txBody>
      </p:sp>
      <p:sp>
        <p:nvSpPr>
          <p:cNvPr id="7" name="Text 5"/>
          <p:cNvSpPr/>
          <p:nvPr/>
        </p:nvSpPr>
        <p:spPr>
          <a:xfrm>
            <a:off x="731520" y="3108960"/>
            <a:ext cx="5029200" cy="365760"/>
          </a:xfrm>
          <a:prstGeom prst="rect">
            <a:avLst/>
          </a:prstGeom>
          <a:noFill/>
          <a:ln/>
        </p:spPr>
        <p:txBody>
          <a:bodyPr wrap="square" lIns="0" tIns="0" rIns="0" bIns="0" rtlCol="0" anchor="ctr"/>
          <a:lstStyle/>
          <a:p>
            <a:pPr marL="0" indent="0">
              <a:buNone/>
            </a:pPr>
            <a:r>
              <a:rPr lang="en-US" sz="1200" i="1" dirty="0">
                <a:solidFill>
                  <a:srgbClr val="FCA5A5"/>
                </a:solidFill>
                <a:latin typeface="Calibri" pitchFamily="34" charset="0"/>
                <a:ea typeface="Calibri" pitchFamily="34" charset="-122"/>
                <a:cs typeface="Calibri" pitchFamily="34" charset="-120"/>
              </a:rPr>
              <a:t>❌ Bug: missing abs() — fails on negative differences</a:t>
            </a:r>
            <a:endParaRPr lang="en-US" sz="1200" dirty="0"/>
          </a:p>
        </p:txBody>
      </p:sp>
      <p:sp>
        <p:nvSpPr>
          <p:cNvPr id="8" name="Shape 6"/>
          <p:cNvSpPr/>
          <p:nvPr/>
        </p:nvSpPr>
        <p:spPr>
          <a:xfrm>
            <a:off x="6126480" y="1554480"/>
            <a:ext cx="5486400" cy="2103120"/>
          </a:xfrm>
          <a:prstGeom prst="rect">
            <a:avLst/>
          </a:prstGeom>
          <a:solidFill>
            <a:srgbClr val="1C7293"/>
          </a:solidFill>
          <a:ln/>
          <a:effectLst>
            <a:outerShdw blurRad="101600" dist="25400" dir="5400000" algn="bl" rotWithShape="0">
              <a:srgbClr val="000000">
                <a:alpha val="12000"/>
              </a:srgbClr>
            </a:outerShdw>
          </a:effectLst>
        </p:spPr>
        <p:txBody>
          <a:bodyPr/>
          <a:lstStyle/>
          <a:p>
            <a:endParaRPr lang="en-US"/>
          </a:p>
        </p:txBody>
      </p:sp>
      <p:sp>
        <p:nvSpPr>
          <p:cNvPr id="9" name="Text 7"/>
          <p:cNvSpPr/>
          <p:nvPr/>
        </p:nvSpPr>
        <p:spPr>
          <a:xfrm>
            <a:off x="6309360" y="1645920"/>
            <a:ext cx="50292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Test Designer (</a:t>
            </a:r>
            <a:r>
              <a:rPr lang="en-US" sz="1300" b="1" u="sng" dirty="0">
                <a:solidFill>
                  <a:srgbClr val="FFFFFF"/>
                </a:solidFill>
                <a:latin typeface="Calibri" pitchFamily="34" charset="0"/>
                <a:ea typeface="Calibri" pitchFamily="34" charset="-122"/>
                <a:cs typeface="Calibri" pitchFamily="34" charset="-120"/>
              </a:rPr>
              <a:t>independent python code!</a:t>
            </a: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6309360" y="2011680"/>
            <a:ext cx="5029200" cy="1554480"/>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 Basic</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assert has_close_elements([1.0, 2.5], 1.0) == True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Edge case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assert has_close_elements([], 1.0) == False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Large scale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list_100k = [i * 0.1 for i in range(100000)]</a:t>
            </a:r>
            <a:endParaRPr lang="en-US" sz="1100" dirty="0"/>
          </a:p>
        </p:txBody>
      </p:sp>
      <p:sp>
        <p:nvSpPr>
          <p:cNvPr id="11" name="Shape 9"/>
          <p:cNvSpPr/>
          <p:nvPr/>
        </p:nvSpPr>
        <p:spPr>
          <a:xfrm>
            <a:off x="548640" y="3840480"/>
            <a:ext cx="11064240" cy="1280160"/>
          </a:xfrm>
          <a:prstGeom prst="rect">
            <a:avLst/>
          </a:prstGeom>
          <a:solidFill>
            <a:srgbClr val="FEF2F2"/>
          </a:solidFill>
          <a:ln w="25400">
            <a:solidFill>
              <a:srgbClr val="DC2626"/>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731520" y="4023360"/>
            <a:ext cx="457200" cy="457200"/>
          </a:xfrm>
          <a:prstGeom prst="rect">
            <a:avLst/>
          </a:prstGeom>
        </p:spPr>
      </p:pic>
      <p:sp>
        <p:nvSpPr>
          <p:cNvPr id="13" name="Text 10"/>
          <p:cNvSpPr/>
          <p:nvPr/>
        </p:nvSpPr>
        <p:spPr>
          <a:xfrm>
            <a:off x="1280160" y="3931920"/>
            <a:ext cx="10058400" cy="365760"/>
          </a:xfrm>
          <a:prstGeom prst="rect">
            <a:avLst/>
          </a:prstGeom>
          <a:noFill/>
          <a:ln/>
        </p:spPr>
        <p:txBody>
          <a:bodyPr wrap="square" lIns="0" tIns="0" rIns="0" bIns="0" rtlCol="0" anchor="ctr"/>
          <a:lstStyle/>
          <a:p>
            <a:pPr marL="0" indent="0">
              <a:buNone/>
            </a:pPr>
            <a:r>
              <a:rPr lang="en-US" sz="1600" b="1" dirty="0">
                <a:solidFill>
                  <a:srgbClr val="DC2626"/>
                </a:solidFill>
                <a:latin typeface="Calibri" pitchFamily="34" charset="0"/>
                <a:ea typeface="Calibri" pitchFamily="34" charset="-122"/>
                <a:cs typeface="Calibri" pitchFamily="34" charset="-120"/>
              </a:rPr>
              <a:t>⚙️ Test Executor runs the code → AssertionError on negative numbers</a:t>
            </a:r>
            <a:endParaRPr lang="en-US" sz="1600" dirty="0"/>
          </a:p>
        </p:txBody>
      </p:sp>
      <p:sp>
        <p:nvSpPr>
          <p:cNvPr id="14" name="Text 11"/>
          <p:cNvSpPr/>
          <p:nvPr/>
        </p:nvSpPr>
        <p:spPr>
          <a:xfrm>
            <a:off x="1280160" y="4343400"/>
            <a:ext cx="10058400" cy="36576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Concrete error message sent back to Programmer (not a guess — actual runtime output)</a:t>
            </a:r>
            <a:endParaRPr lang="en-US" sz="1300" dirty="0"/>
          </a:p>
        </p:txBody>
      </p:sp>
      <p:sp>
        <p:nvSpPr>
          <p:cNvPr id="15" name="Text 12"/>
          <p:cNvSpPr/>
          <p:nvPr/>
        </p:nvSpPr>
        <p:spPr>
          <a:xfrm>
            <a:off x="1280160" y="4709160"/>
            <a:ext cx="10058400" cy="365760"/>
          </a:xfrm>
          <a:prstGeom prst="rect">
            <a:avLst/>
          </a:prstGeom>
          <a:noFill/>
          <a:ln/>
        </p:spPr>
        <p:txBody>
          <a:bodyPr wrap="square" lIns="0" tIns="0" rIns="0" bIns="0" rtlCol="0" anchor="ctr"/>
          <a:lstStyle/>
          <a:p>
            <a:pPr marL="0" indent="0">
              <a:buNone/>
            </a:pPr>
            <a:r>
              <a:rPr lang="en-US" sz="1300" b="1" dirty="0">
                <a:solidFill>
                  <a:srgbClr val="059669"/>
                </a:solidFill>
                <a:latin typeface="Consolas" pitchFamily="34" charset="0"/>
                <a:ea typeface="Consolas" pitchFamily="34" charset="-122"/>
                <a:cs typeface="Consolas" pitchFamily="34" charset="-120"/>
              </a:rPr>
              <a:t>→ Programmer fixes: abs(numbers[i] - numbers[j]) ≤ threshold  ✓</a:t>
            </a:r>
            <a:endParaRPr lang="en-US" sz="1300" dirty="0"/>
          </a:p>
        </p:txBody>
      </p:sp>
      <p:sp>
        <p:nvSpPr>
          <p:cNvPr id="16" name="Shape 13"/>
          <p:cNvSpPr/>
          <p:nvPr/>
        </p:nvSpPr>
        <p:spPr>
          <a:xfrm>
            <a:off x="548640" y="5349240"/>
            <a:ext cx="11064240" cy="1188720"/>
          </a:xfrm>
          <a:prstGeom prst="rect">
            <a:avLst/>
          </a:prstGeom>
          <a:solidFill>
            <a:srgbClr val="21295C"/>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777240" y="5577840"/>
            <a:ext cx="640080" cy="640080"/>
          </a:xfrm>
          <a:prstGeom prst="rect">
            <a:avLst/>
          </a:prstGeom>
        </p:spPr>
      </p:pic>
      <p:sp>
        <p:nvSpPr>
          <p:cNvPr id="18" name="Text 14"/>
          <p:cNvSpPr/>
          <p:nvPr/>
        </p:nvSpPr>
        <p:spPr>
          <a:xfrm>
            <a:off x="1554480" y="5440680"/>
            <a:ext cx="9144000" cy="365760"/>
          </a:xfrm>
          <a:prstGeom prst="rect">
            <a:avLst/>
          </a:prstGeom>
          <a:noFill/>
          <a:ln/>
        </p:spPr>
        <p:txBody>
          <a:bodyPr wrap="square" lIns="0" tIns="0" rIns="0" bIns="0" rtlCol="0" anchor="ctr"/>
          <a:lstStyle/>
          <a:p>
            <a:pPr marL="0" indent="0">
              <a:buNone/>
            </a:pPr>
            <a:r>
              <a:rPr lang="en-US" sz="1600" b="1" dirty="0">
                <a:solidFill>
                  <a:srgbClr val="F59E0B"/>
                </a:solidFill>
                <a:latin typeface="Calibri" pitchFamily="34" charset="0"/>
                <a:ea typeface="Calibri" pitchFamily="34" charset="-122"/>
                <a:cs typeface="Calibri" pitchFamily="34" charset="-120"/>
              </a:rPr>
              <a:t>Why this works:</a:t>
            </a:r>
            <a:endParaRPr lang="en-US" sz="1600" dirty="0"/>
          </a:p>
        </p:txBody>
      </p:sp>
      <p:sp>
        <p:nvSpPr>
          <p:cNvPr id="19" name="Text 15"/>
          <p:cNvSpPr/>
          <p:nvPr/>
        </p:nvSpPr>
        <p:spPr>
          <a:xfrm>
            <a:off x="1554480" y="5806440"/>
            <a:ext cx="9875520" cy="6400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Single-agent approaches (like CodeCoT) wrote both the buggy code AND biased tests that didn't catch the bug. AgentCoder's independent test designer caught it because it was based on the requirement, not the code.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lIns="0" tIns="0" rIns="0" bIns="0" rtlCol="0" anchor="ctr"/>
          <a:lstStyle/>
          <a:p>
            <a:pPr marL="0" indent="0">
              <a:buNone/>
            </a:pPr>
            <a:r>
              <a:rPr lang="en-US" sz="3600" b="1" dirty="0">
                <a:solidFill>
                  <a:srgbClr val="21295C"/>
                </a:solidFill>
                <a:latin typeface="Calibri" pitchFamily="34" charset="0"/>
                <a:ea typeface="Calibri" pitchFamily="34" charset="-122"/>
                <a:cs typeface="Calibri" pitchFamily="34" charset="-120"/>
              </a:rPr>
              <a:t>Results: Better AND Cheaper</a:t>
            </a:r>
            <a:endParaRPr lang="en-US" sz="3600" dirty="0"/>
          </a:p>
        </p:txBody>
      </p:sp>
      <p:sp>
        <p:nvSpPr>
          <p:cNvPr id="3" name="Text 1"/>
          <p:cNvSpPr/>
          <p:nvPr/>
        </p:nvSpPr>
        <p:spPr>
          <a:xfrm>
            <a:off x="548640" y="968262"/>
            <a:ext cx="10972800" cy="365760"/>
          </a:xfrm>
          <a:prstGeom prst="rect">
            <a:avLst/>
          </a:prstGeom>
          <a:noFill/>
          <a:ln/>
        </p:spPr>
        <p:txBody>
          <a:bodyPr wrap="square" lIns="0" tIns="0" rIns="0" bIns="0" rtlCol="0" anchor="ctr"/>
          <a:lstStyle/>
          <a:p>
            <a:pPr marL="0" indent="0">
              <a:buNone/>
            </a:pPr>
            <a:r>
              <a:rPr lang="en-US" sz="1800" i="1" dirty="0">
                <a:solidFill>
                  <a:srgbClr val="64748B"/>
                </a:solidFill>
                <a:latin typeface="Calibri" pitchFamily="34" charset="0"/>
                <a:ea typeface="Calibri" pitchFamily="34" charset="-122"/>
                <a:cs typeface="Calibri" pitchFamily="34" charset="-120"/>
              </a:rPr>
              <a:t>Counter-intuitive finding: more agents does NOT mean better results</a:t>
            </a:r>
            <a:endParaRPr lang="en-US" sz="1800" dirty="0"/>
          </a:p>
        </p:txBody>
      </p:sp>
      <p:sp>
        <p:nvSpPr>
          <p:cNvPr id="4" name="Shape 2"/>
          <p:cNvSpPr/>
          <p:nvPr/>
        </p:nvSpPr>
        <p:spPr>
          <a:xfrm>
            <a:off x="548640" y="1380369"/>
            <a:ext cx="5029200" cy="1371600"/>
          </a:xfrm>
          <a:prstGeom prst="rect">
            <a:avLst/>
          </a:prstGeom>
          <a:solidFill>
            <a:srgbClr val="F8FAFC"/>
          </a:solidFill>
          <a:ln w="12700">
            <a:solidFill>
              <a:srgbClr val="E2E8F0"/>
            </a:solidFill>
            <a:prstDash val="solid"/>
          </a:ln>
          <a:effectLst>
            <a:outerShdw blurRad="101600" dist="25400" dir="5400000" algn="bl" rotWithShape="0">
              <a:srgbClr val="000000">
                <a:alpha val="12000"/>
              </a:srgbClr>
            </a:outerShdw>
          </a:effectLst>
        </p:spPr>
        <p:txBody>
          <a:bodyPr/>
          <a:lstStyle/>
          <a:p>
            <a:endParaRPr lang="en-US"/>
          </a:p>
        </p:txBody>
      </p:sp>
      <p:sp>
        <p:nvSpPr>
          <p:cNvPr id="5" name="Shape 3"/>
          <p:cNvSpPr/>
          <p:nvPr/>
        </p:nvSpPr>
        <p:spPr>
          <a:xfrm>
            <a:off x="548640" y="1380369"/>
            <a:ext cx="109728" cy="1371600"/>
          </a:xfrm>
          <a:prstGeom prst="rect">
            <a:avLst/>
          </a:prstGeom>
          <a:solidFill>
            <a:srgbClr val="059669"/>
          </a:solidFill>
          <a:ln/>
        </p:spPr>
        <p:txBody>
          <a:bodyPr/>
          <a:lstStyle/>
          <a:p>
            <a:endParaRPr lang="en-US"/>
          </a:p>
        </p:txBody>
      </p:sp>
      <p:sp>
        <p:nvSpPr>
          <p:cNvPr id="6" name="Text 4"/>
          <p:cNvSpPr/>
          <p:nvPr/>
        </p:nvSpPr>
        <p:spPr>
          <a:xfrm>
            <a:off x="777240" y="1471809"/>
            <a:ext cx="1828800" cy="914400"/>
          </a:xfrm>
          <a:prstGeom prst="rect">
            <a:avLst/>
          </a:prstGeom>
          <a:noFill/>
          <a:ln/>
        </p:spPr>
        <p:txBody>
          <a:bodyPr wrap="square" lIns="0" tIns="0" rIns="0" bIns="0" rtlCol="0" anchor="ctr"/>
          <a:lstStyle/>
          <a:p>
            <a:pPr marL="0" indent="0" algn="ctr">
              <a:buNone/>
            </a:pPr>
            <a:r>
              <a:rPr lang="en-US" sz="2400" b="1" dirty="0">
                <a:solidFill>
                  <a:srgbClr val="059669"/>
                </a:solidFill>
              </a:rPr>
              <a:t>96.3%</a:t>
            </a:r>
          </a:p>
          <a:p>
            <a:pPr marL="0" indent="0" algn="ctr">
              <a:buNone/>
            </a:pPr>
            <a:r>
              <a:rPr lang="en-US" sz="2400" b="1" dirty="0">
                <a:solidFill>
                  <a:srgbClr val="14B8A6"/>
                </a:solidFill>
              </a:rPr>
              <a:t>91.8%</a:t>
            </a:r>
          </a:p>
        </p:txBody>
      </p:sp>
      <p:sp>
        <p:nvSpPr>
          <p:cNvPr id="7" name="Text 5"/>
          <p:cNvSpPr/>
          <p:nvPr/>
        </p:nvSpPr>
        <p:spPr>
          <a:xfrm>
            <a:off x="2697480" y="1563249"/>
            <a:ext cx="2743200" cy="457200"/>
          </a:xfrm>
          <a:prstGeom prst="rect">
            <a:avLst/>
          </a:prstGeom>
          <a:noFill/>
          <a:ln/>
        </p:spPr>
        <p:txBody>
          <a:bodyPr wrap="square" lIns="0" tIns="0" rIns="0" bIns="0" rtlCol="0" anchor="ctr"/>
          <a:lstStyle/>
          <a:p>
            <a:pPr marL="0" indent="0">
              <a:buNone/>
            </a:pPr>
            <a:r>
              <a:rPr lang="en-US" sz="1400" b="1" dirty="0">
                <a:solidFill>
                  <a:srgbClr val="1E293B"/>
                </a:solidFill>
              </a:rPr>
              <a:t>pass@1  </a:t>
            </a:r>
          </a:p>
        </p:txBody>
      </p:sp>
      <p:sp>
        <p:nvSpPr>
          <p:cNvPr id="8" name="Text 6"/>
          <p:cNvSpPr/>
          <p:nvPr/>
        </p:nvSpPr>
        <p:spPr>
          <a:xfrm>
            <a:off x="2697480" y="2066169"/>
            <a:ext cx="2743200" cy="548640"/>
          </a:xfrm>
          <a:prstGeom prst="rect">
            <a:avLst/>
          </a:prstGeom>
          <a:noFill/>
          <a:ln/>
        </p:spPr>
        <p:txBody>
          <a:bodyPr wrap="square" lIns="0" tIns="0" rIns="0" bIns="0" rtlCol="0" anchor="ctr"/>
          <a:lstStyle/>
          <a:p>
            <a:pPr marL="0" indent="0">
              <a:buNone/>
            </a:pPr>
            <a:r>
              <a:rPr lang="en-US" sz="1100" dirty="0">
                <a:solidFill>
                  <a:srgbClr val="1F4E79"/>
                </a:solidFill>
              </a:rPr>
              <a:t>HumanEval — vs 90.2% state-of-the-art</a:t>
            </a:r>
          </a:p>
          <a:p>
            <a:pPr marL="0" indent="0">
              <a:buNone/>
            </a:pPr>
            <a:r>
              <a:rPr lang="en-US" sz="1100" dirty="0">
                <a:solidFill>
                  <a:srgbClr val="0F766E"/>
                </a:solidFill>
              </a:rPr>
              <a:t>MBPP — vs 78.9% state-of-the-art</a:t>
            </a:r>
          </a:p>
        </p:txBody>
      </p:sp>
      <p:sp>
        <p:nvSpPr>
          <p:cNvPr id="9" name="Shape 7"/>
          <p:cNvSpPr/>
          <p:nvPr/>
        </p:nvSpPr>
        <p:spPr>
          <a:xfrm>
            <a:off x="548640" y="2889129"/>
            <a:ext cx="5029200" cy="1371600"/>
          </a:xfrm>
          <a:prstGeom prst="rect">
            <a:avLst/>
          </a:prstGeom>
          <a:solidFill>
            <a:srgbClr val="F8FAFC"/>
          </a:solidFill>
          <a:ln w="12700">
            <a:solidFill>
              <a:srgbClr val="E2E8F0"/>
            </a:solidFill>
            <a:prstDash val="solid"/>
          </a:ln>
          <a:effectLst>
            <a:outerShdw blurRad="101600" dist="25400" dir="5400000" algn="bl" rotWithShape="0">
              <a:srgbClr val="000000">
                <a:alpha val="12000"/>
              </a:srgbClr>
            </a:outerShdw>
          </a:effectLst>
        </p:spPr>
        <p:txBody>
          <a:bodyPr/>
          <a:lstStyle/>
          <a:p>
            <a:endParaRPr lang="en-US"/>
          </a:p>
        </p:txBody>
      </p:sp>
      <p:sp>
        <p:nvSpPr>
          <p:cNvPr id="10" name="Shape 8"/>
          <p:cNvSpPr/>
          <p:nvPr/>
        </p:nvSpPr>
        <p:spPr>
          <a:xfrm>
            <a:off x="548640" y="2889129"/>
            <a:ext cx="109728" cy="1371600"/>
          </a:xfrm>
          <a:prstGeom prst="rect">
            <a:avLst/>
          </a:prstGeom>
          <a:solidFill>
            <a:srgbClr val="F59E0B"/>
          </a:solidFill>
          <a:ln/>
        </p:spPr>
        <p:txBody>
          <a:bodyPr/>
          <a:lstStyle/>
          <a:p>
            <a:endParaRPr lang="en-US"/>
          </a:p>
        </p:txBody>
      </p:sp>
      <p:sp>
        <p:nvSpPr>
          <p:cNvPr id="11" name="Text 9"/>
          <p:cNvSpPr/>
          <p:nvPr/>
        </p:nvSpPr>
        <p:spPr>
          <a:xfrm>
            <a:off x="777240" y="2980569"/>
            <a:ext cx="1828800" cy="914400"/>
          </a:xfrm>
          <a:prstGeom prst="rect">
            <a:avLst/>
          </a:prstGeom>
          <a:noFill/>
          <a:ln/>
        </p:spPr>
        <p:txBody>
          <a:bodyPr wrap="square" lIns="0" tIns="0" rIns="0" bIns="0" rtlCol="0" anchor="ctr"/>
          <a:lstStyle/>
          <a:p>
            <a:pPr marL="0" indent="0" algn="ctr">
              <a:buNone/>
            </a:pPr>
            <a:r>
              <a:rPr lang="en-US" sz="2400" b="1" dirty="0">
                <a:solidFill>
                  <a:srgbClr val="F59E0B"/>
                </a:solidFill>
              </a:rPr>
              <a:t>57K</a:t>
            </a:r>
          </a:p>
          <a:p>
            <a:pPr marL="0" indent="0" algn="ctr">
              <a:buNone/>
            </a:pPr>
            <a:r>
              <a:rPr lang="en-US" sz="2400" b="1" dirty="0">
                <a:solidFill>
                  <a:srgbClr val="D97706"/>
                </a:solidFill>
              </a:rPr>
              <a:t>66K</a:t>
            </a:r>
          </a:p>
        </p:txBody>
      </p:sp>
      <p:sp>
        <p:nvSpPr>
          <p:cNvPr id="12" name="Text 10"/>
          <p:cNvSpPr/>
          <p:nvPr/>
        </p:nvSpPr>
        <p:spPr>
          <a:xfrm>
            <a:off x="2697480" y="3072009"/>
            <a:ext cx="2743200" cy="457200"/>
          </a:xfrm>
          <a:prstGeom prst="rect">
            <a:avLst/>
          </a:prstGeom>
          <a:noFill/>
          <a:ln/>
        </p:spPr>
        <p:txBody>
          <a:bodyPr wrap="square" lIns="0" tIns="0" rIns="0" bIns="0" rtlCol="0" anchor="ctr"/>
          <a:lstStyle/>
          <a:p>
            <a:pPr marL="0" indent="0">
              <a:buNone/>
            </a:pPr>
            <a:r>
              <a:rPr lang="en-US" sz="1400" b="1" dirty="0">
                <a:solidFill>
                  <a:srgbClr val="1E293B"/>
                </a:solidFill>
              </a:rPr>
              <a:t>tokens vs MetaGPT</a:t>
            </a:r>
          </a:p>
        </p:txBody>
      </p:sp>
      <p:sp>
        <p:nvSpPr>
          <p:cNvPr id="13" name="Text 11"/>
          <p:cNvSpPr/>
          <p:nvPr/>
        </p:nvSpPr>
        <p:spPr>
          <a:xfrm>
            <a:off x="2697480" y="3574929"/>
            <a:ext cx="2743200" cy="548640"/>
          </a:xfrm>
          <a:prstGeom prst="rect">
            <a:avLst/>
          </a:prstGeom>
          <a:noFill/>
          <a:ln/>
        </p:spPr>
        <p:txBody>
          <a:bodyPr wrap="square" lIns="0" tIns="0" rIns="0" bIns="0" rtlCol="0" anchor="ctr"/>
          <a:lstStyle/>
          <a:p>
            <a:pPr marL="0" indent="0">
              <a:buNone/>
            </a:pPr>
            <a:r>
              <a:rPr lang="en-US" sz="1100" dirty="0">
                <a:solidFill>
                  <a:srgbClr val="1F4E79"/>
                </a:solidFill>
              </a:rPr>
              <a:t>HumanEval — vs 138K (~59% less)</a:t>
            </a:r>
          </a:p>
          <a:p>
            <a:pPr marL="0" indent="0">
              <a:buNone/>
            </a:pPr>
            <a:r>
              <a:rPr lang="en-US" sz="1100" dirty="0">
                <a:solidFill>
                  <a:srgbClr val="0F766E"/>
                </a:solidFill>
              </a:rPr>
              <a:t>MBPP — vs 207K (~68% less)</a:t>
            </a:r>
          </a:p>
        </p:txBody>
      </p:sp>
      <p:sp>
        <p:nvSpPr>
          <p:cNvPr id="14" name="Shape 12"/>
          <p:cNvSpPr/>
          <p:nvPr/>
        </p:nvSpPr>
        <p:spPr>
          <a:xfrm>
            <a:off x="548640" y="4397889"/>
            <a:ext cx="5029200" cy="1371600"/>
          </a:xfrm>
          <a:prstGeom prst="rect">
            <a:avLst/>
          </a:prstGeom>
          <a:solidFill>
            <a:srgbClr val="F8FAFC"/>
          </a:solidFill>
          <a:ln w="12700">
            <a:solidFill>
              <a:srgbClr val="E2E8F0"/>
            </a:solidFill>
            <a:prstDash val="solid"/>
          </a:ln>
          <a:effectLst>
            <a:outerShdw blurRad="101600" dist="25400" dir="5400000" algn="bl" rotWithShape="0">
              <a:srgbClr val="000000">
                <a:alpha val="12000"/>
              </a:srgbClr>
            </a:outerShdw>
          </a:effectLst>
        </p:spPr>
        <p:txBody>
          <a:bodyPr/>
          <a:lstStyle/>
          <a:p>
            <a:endParaRPr lang="en-US"/>
          </a:p>
        </p:txBody>
      </p:sp>
      <p:sp>
        <p:nvSpPr>
          <p:cNvPr id="15" name="Shape 13"/>
          <p:cNvSpPr/>
          <p:nvPr/>
        </p:nvSpPr>
        <p:spPr>
          <a:xfrm>
            <a:off x="548640" y="4397889"/>
            <a:ext cx="109728" cy="1371600"/>
          </a:xfrm>
          <a:prstGeom prst="rect">
            <a:avLst/>
          </a:prstGeom>
          <a:solidFill>
            <a:srgbClr val="065A82"/>
          </a:solidFill>
          <a:ln/>
        </p:spPr>
        <p:txBody>
          <a:bodyPr/>
          <a:lstStyle/>
          <a:p>
            <a:endParaRPr lang="en-US"/>
          </a:p>
        </p:txBody>
      </p:sp>
      <p:sp>
        <p:nvSpPr>
          <p:cNvPr id="16" name="Text 14"/>
          <p:cNvSpPr/>
          <p:nvPr/>
        </p:nvSpPr>
        <p:spPr>
          <a:xfrm>
            <a:off x="777240" y="4489329"/>
            <a:ext cx="1828800" cy="914400"/>
          </a:xfrm>
          <a:prstGeom prst="rect">
            <a:avLst/>
          </a:prstGeom>
          <a:noFill/>
          <a:ln/>
        </p:spPr>
        <p:txBody>
          <a:bodyPr wrap="square" lIns="0" tIns="0" rIns="0" bIns="0" rtlCol="0" anchor="ctr"/>
          <a:lstStyle/>
          <a:p>
            <a:pPr marL="0" indent="0" algn="ctr">
              <a:buNone/>
            </a:pPr>
            <a:r>
              <a:rPr lang="en-US" sz="4800" b="1" dirty="0">
                <a:solidFill>
                  <a:srgbClr val="065A82"/>
                </a:solidFill>
              </a:rPr>
              <a:t>3</a:t>
            </a:r>
          </a:p>
        </p:txBody>
      </p:sp>
      <p:sp>
        <p:nvSpPr>
          <p:cNvPr id="17" name="Text 15"/>
          <p:cNvSpPr/>
          <p:nvPr/>
        </p:nvSpPr>
        <p:spPr>
          <a:xfrm>
            <a:off x="2697480" y="4580769"/>
            <a:ext cx="2743200" cy="457200"/>
          </a:xfrm>
          <a:prstGeom prst="rect">
            <a:avLst/>
          </a:prstGeom>
          <a:noFill/>
          <a:ln/>
        </p:spPr>
        <p:txBody>
          <a:bodyPr wrap="square" lIns="0" tIns="0" rIns="0" bIns="0" rtlCol="0" anchor="ctr"/>
          <a:lstStyle/>
          <a:p>
            <a:pPr marL="0" indent="0">
              <a:buNone/>
            </a:pPr>
            <a:r>
              <a:rPr lang="en-US" sz="1400" b="1" dirty="0">
                <a:solidFill>
                  <a:srgbClr val="1E293B"/>
                </a:solidFill>
              </a:rPr>
              <a:t>agents only (vs 7 in ChatDev)</a:t>
            </a:r>
          </a:p>
        </p:txBody>
      </p:sp>
      <p:sp>
        <p:nvSpPr>
          <p:cNvPr id="18" name="Text 16"/>
          <p:cNvSpPr/>
          <p:nvPr/>
        </p:nvSpPr>
        <p:spPr>
          <a:xfrm>
            <a:off x="2697480" y="5083689"/>
            <a:ext cx="2743200" cy="548640"/>
          </a:xfrm>
          <a:prstGeom prst="rect">
            <a:avLst/>
          </a:prstGeom>
          <a:noFill/>
          <a:ln/>
        </p:spPr>
        <p:txBody>
          <a:bodyPr wrap="square" lIns="0" tIns="0" rIns="0" bIns="0" rtlCol="0" anchor="ctr"/>
          <a:lstStyle/>
          <a:p>
            <a:pPr marL="0" indent="0">
              <a:buNone/>
            </a:pPr>
            <a:r>
              <a:rPr lang="en-US" sz="1100" i="1" dirty="0">
                <a:solidFill>
                  <a:srgbClr val="64748B"/>
                </a:solidFill>
              </a:rPr>
              <a:t>less coordination overhead</a:t>
            </a:r>
          </a:p>
        </p:txBody>
      </p:sp>
      <p:sp>
        <p:nvSpPr>
          <p:cNvPr id="19" name="Text 17"/>
          <p:cNvSpPr/>
          <p:nvPr/>
        </p:nvSpPr>
        <p:spPr>
          <a:xfrm>
            <a:off x="5943600" y="1334649"/>
            <a:ext cx="5943600" cy="365760"/>
          </a:xfrm>
          <a:prstGeom prst="rect">
            <a:avLst/>
          </a:prstGeom>
          <a:noFill/>
          <a:ln/>
        </p:spPr>
        <p:txBody>
          <a:bodyPr wrap="square" lIns="0" tIns="0" rIns="0" bIns="0" rtlCol="0" anchor="ctr"/>
          <a:lstStyle/>
          <a:p>
            <a:pPr marL="0" indent="0">
              <a:buNone/>
            </a:pPr>
            <a:r>
              <a:rPr lang="en-US" sz="1400" b="1" dirty="0">
                <a:solidFill>
                  <a:srgbClr val="21295C"/>
                </a:solidFill>
              </a:rPr>
              <a:t>Accuracy across both benchmarks</a:t>
            </a:r>
          </a:p>
        </p:txBody>
      </p:sp>
      <p:graphicFrame>
        <p:nvGraphicFramePr>
          <p:cNvPr id="20" name="Chart 0"/>
          <p:cNvGraphicFramePr/>
          <p:nvPr/>
        </p:nvGraphicFramePr>
        <p:xfrm>
          <a:off x="5943600" y="1746129"/>
          <a:ext cx="59436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21" name="Shape 18"/>
          <p:cNvSpPr/>
          <p:nvPr/>
        </p:nvSpPr>
        <p:spPr>
          <a:xfrm>
            <a:off x="548640" y="6357585"/>
            <a:ext cx="11064240" cy="450311"/>
          </a:xfrm>
          <a:prstGeom prst="rect">
            <a:avLst/>
          </a:prstGeom>
          <a:solidFill>
            <a:srgbClr val="059669"/>
          </a:solidFill>
          <a:ln/>
        </p:spPr>
        <p:txBody>
          <a:bodyPr/>
          <a:lstStyle/>
          <a:p>
            <a:endParaRPr lang="en-US"/>
          </a:p>
        </p:txBody>
      </p:sp>
      <p:sp>
        <p:nvSpPr>
          <p:cNvPr id="22" name="Text 19"/>
          <p:cNvSpPr/>
          <p:nvPr/>
        </p:nvSpPr>
        <p:spPr>
          <a:xfrm>
            <a:off x="548640" y="6357585"/>
            <a:ext cx="11064240" cy="450311"/>
          </a:xfrm>
          <a:prstGeom prst="rect">
            <a:avLst/>
          </a:prstGeom>
          <a:noFill/>
          <a:ln/>
        </p:spPr>
        <p:txBody>
          <a:bodyPr wrap="square" lIns="0" tIns="0" rIns="0" bIns="0" rtlCol="0" anchor="ctr"/>
          <a:lstStyle/>
          <a:p>
            <a:pPr algn="ctr"/>
            <a:r>
              <a:rPr lang="en-US" sz="1600" b="1" dirty="0">
                <a:solidFill>
                  <a:srgbClr val="FFFFFF"/>
                </a:solidFill>
              </a:rPr>
              <a:t>💰 Up to ~70% fewer tokens than other multi-agent frameworks — better AND cheaper</a:t>
            </a:r>
          </a:p>
        </p:txBody>
      </p:sp>
      <p:sp>
        <p:nvSpPr>
          <p:cNvPr id="24" name="Shape 18">
            <a:extLst>
              <a:ext uri="{FF2B5EF4-FFF2-40B4-BE49-F238E27FC236}">
                <a16:creationId xmlns:a16="http://schemas.microsoft.com/office/drawing/2014/main" id="{10CBE141-F9A5-0DF3-4BAE-917AC845ACB6}"/>
              </a:ext>
            </a:extLst>
          </p:cNvPr>
          <p:cNvSpPr/>
          <p:nvPr/>
        </p:nvSpPr>
        <p:spPr>
          <a:xfrm>
            <a:off x="550728" y="5864896"/>
            <a:ext cx="11064240" cy="450311"/>
          </a:xfrm>
          <a:prstGeom prst="rect">
            <a:avLst/>
          </a:prstGeom>
          <a:solidFill>
            <a:srgbClr val="059669"/>
          </a:solidFill>
          <a:ln/>
        </p:spPr>
        <p:txBody>
          <a:bodyPr/>
          <a:lstStyle/>
          <a:p>
            <a:endParaRPr lang="en-US"/>
          </a:p>
        </p:txBody>
      </p:sp>
      <p:sp>
        <p:nvSpPr>
          <p:cNvPr id="25" name="Text 19">
            <a:extLst>
              <a:ext uri="{FF2B5EF4-FFF2-40B4-BE49-F238E27FC236}">
                <a16:creationId xmlns:a16="http://schemas.microsoft.com/office/drawing/2014/main" id="{E2F8DBE5-3C36-A970-3223-3A2B902DF5C4}"/>
              </a:ext>
            </a:extLst>
          </p:cNvPr>
          <p:cNvSpPr/>
          <p:nvPr/>
        </p:nvSpPr>
        <p:spPr>
          <a:xfrm>
            <a:off x="550728" y="5864896"/>
            <a:ext cx="11064240" cy="450311"/>
          </a:xfrm>
          <a:prstGeom prst="rect">
            <a:avLst/>
          </a:prstGeom>
          <a:noFill/>
          <a:ln/>
        </p:spPr>
        <p:txBody>
          <a:bodyPr wrap="square" lIns="0" tIns="0" rIns="0" bIns="0" rtlCol="0" anchor="ctr"/>
          <a:lstStyle/>
          <a:p>
            <a:pPr algn="ctr"/>
            <a:r>
              <a:rPr lang="en-US" sz="1600" b="1" dirty="0">
                <a:solidFill>
                  <a:srgbClr val="FFFFFF"/>
                </a:solidFill>
              </a:rPr>
              <a:t>🎯 Beats every multi-agent baseline on both HumanEval AND MBPP</a:t>
            </a:r>
          </a:p>
        </p:txBody>
      </p:sp>
    </p:spTree>
    <p:extLst>
      <p:ext uri="{BB962C8B-B14F-4D97-AF65-F5344CB8AC3E}">
        <p14:creationId xmlns:p14="http://schemas.microsoft.com/office/powerpoint/2010/main" val="4048201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Graphic spid="20" grpId="0">
        <p:bldAsOne/>
      </p:bldGraphic>
      <p:bldP spid="21" grpId="0" animBg="1"/>
      <p:bldP spid="22" grpId="0" animBg="1"/>
      <p:bldP spid="24"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DA118A-DD98-4451-A96A-CBBF22821008}"/>
              </a:ext>
            </a:extLst>
          </p:cNvPr>
          <p:cNvSpPr txBox="1"/>
          <p:nvPr/>
        </p:nvSpPr>
        <p:spPr>
          <a:xfrm>
            <a:off x="546100" y="368300"/>
            <a:ext cx="10972800" cy="635000"/>
          </a:xfrm>
          <a:prstGeom prst="rect">
            <a:avLst/>
          </a:prstGeom>
          <a:noFill/>
        </p:spPr>
        <p:txBody>
          <a:bodyPr vertOverflow="overflow" vert="horz" wrap="square" rtlCol="0" anchor="t">
            <a:spAutoFit/>
          </a:bodyPr>
          <a:lstStyle/>
          <a:p>
            <a:pPr algn="l"/>
            <a:r>
              <a:rPr lang="en-US" sz="3600" b="1">
                <a:solidFill>
                  <a:srgbClr val="21295C"/>
                </a:solidFill>
                <a:latin typeface="Calibri"/>
                <a:cs typeface="Calibri"/>
              </a:rPr>
              <a:t>Why Separate the Agents?</a:t>
            </a:r>
            <a:endParaRPr lang="en-IL" sz="3600" b="1">
              <a:solidFill>
                <a:srgbClr val="21295C"/>
              </a:solidFill>
              <a:latin typeface="Calibri"/>
              <a:cs typeface="Calibri"/>
            </a:endParaRPr>
          </a:p>
        </p:txBody>
      </p:sp>
      <p:sp>
        <p:nvSpPr>
          <p:cNvPr id="3" name="TextBox 2">
            <a:extLst>
              <a:ext uri="{FF2B5EF4-FFF2-40B4-BE49-F238E27FC236}">
                <a16:creationId xmlns:a16="http://schemas.microsoft.com/office/drawing/2014/main" id="{3E639482-FBB4-4F4B-8815-7E666EC18BF3}"/>
              </a:ext>
            </a:extLst>
          </p:cNvPr>
          <p:cNvSpPr txBox="1"/>
          <p:nvPr/>
        </p:nvSpPr>
        <p:spPr>
          <a:xfrm>
            <a:off x="546100" y="1003300"/>
            <a:ext cx="10972800" cy="368300"/>
          </a:xfrm>
          <a:prstGeom prst="rect">
            <a:avLst/>
          </a:prstGeom>
          <a:noFill/>
        </p:spPr>
        <p:txBody>
          <a:bodyPr vertOverflow="overflow" vert="horz" wrap="square" rtlCol="0" anchor="t">
            <a:spAutoFit/>
          </a:bodyPr>
          <a:lstStyle/>
          <a:p>
            <a:pPr algn="l"/>
            <a:r>
              <a:rPr lang="en-US" i="1">
                <a:solidFill>
                  <a:srgbClr val="64748B"/>
                </a:solidFill>
                <a:latin typeface="Calibri"/>
                <a:cs typeface="Calibri"/>
              </a:rPr>
              <a:t>RQ6 — specialized agents beat one agent doing both, on every metric (shown as HumanEval / MBPP)</a:t>
            </a:r>
            <a:endParaRPr lang="en-IL" i="1">
              <a:solidFill>
                <a:srgbClr val="64748B"/>
              </a:solidFill>
              <a:latin typeface="Calibri"/>
              <a:cs typeface="Calibri"/>
            </a:endParaRPr>
          </a:p>
        </p:txBody>
      </p:sp>
      <p:graphicFrame>
        <p:nvGraphicFramePr>
          <p:cNvPr id="5" name="Table 4">
            <a:extLst>
              <a:ext uri="{FF2B5EF4-FFF2-40B4-BE49-F238E27FC236}">
                <a16:creationId xmlns:a16="http://schemas.microsoft.com/office/drawing/2014/main" id="{5F953CF0-75D1-49C1-9927-3CEF21B892F8}"/>
              </a:ext>
            </a:extLst>
          </p:cNvPr>
          <p:cNvGraphicFramePr>
            <a:graphicFrameLocks noGrp="1"/>
          </p:cNvGraphicFramePr>
          <p:nvPr>
            <p:extLst>
              <p:ext uri="{D42A27DB-BD31-4B8C-83A1-F6EECF244321}">
                <p14:modId xmlns:p14="http://schemas.microsoft.com/office/powerpoint/2010/main" val="218720697"/>
              </p:ext>
            </p:extLst>
          </p:nvPr>
        </p:nvGraphicFramePr>
        <p:xfrm>
          <a:off x="762000" y="1714500"/>
          <a:ext cx="10668000" cy="22860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743768984"/>
                    </a:ext>
                  </a:extLst>
                </a:gridCol>
                <a:gridCol w="3302000">
                  <a:extLst>
                    <a:ext uri="{9D8B030D-6E8A-4147-A177-3AD203B41FA5}">
                      <a16:colId xmlns:a16="http://schemas.microsoft.com/office/drawing/2014/main" val="1321070523"/>
                    </a:ext>
                  </a:extLst>
                </a:gridCol>
                <a:gridCol w="3302000">
                  <a:extLst>
                    <a:ext uri="{9D8B030D-6E8A-4147-A177-3AD203B41FA5}">
                      <a16:colId xmlns:a16="http://schemas.microsoft.com/office/drawing/2014/main" val="1782547714"/>
                    </a:ext>
                  </a:extLst>
                </a:gridCol>
              </a:tblGrid>
              <a:tr h="533400">
                <a:tc>
                  <a:txBody>
                    <a:bodyPr/>
                    <a:lstStyle/>
                    <a:p>
                      <a:pPr algn="ctr"/>
                      <a:r>
                        <a:rPr lang="en-IL" sz="1600" b="1">
                          <a:solidFill>
                            <a:srgbClr val="FFFFFF"/>
                          </a:solidFill>
                          <a:latin typeface="Calibri"/>
                          <a:cs typeface="Calibri"/>
                        </a:rPr>
                        <a:t>Metric</a:t>
                      </a:r>
                    </a:p>
                  </a:txBody>
                  <a:tcPr anchor="ctr">
                    <a:solidFill>
                      <a:srgbClr val="21295C"/>
                    </a:solidFill>
                  </a:tcPr>
                </a:tc>
                <a:tc>
                  <a:txBody>
                    <a:bodyPr/>
                    <a:lstStyle/>
                    <a:p>
                      <a:pPr algn="ctr"/>
                      <a:r>
                        <a:rPr lang="en-IL" sz="1600" b="1">
                          <a:solidFill>
                            <a:srgbClr val="FFFFFF"/>
                          </a:solidFill>
                          <a:latin typeface="Calibri"/>
                          <a:cs typeface="Calibri"/>
                        </a:rPr>
                        <a:t>Single Agent</a:t>
                      </a:r>
                    </a:p>
                  </a:txBody>
                  <a:tcPr anchor="ctr">
                    <a:solidFill>
                      <a:srgbClr val="21295C"/>
                    </a:solidFill>
                  </a:tcPr>
                </a:tc>
                <a:tc>
                  <a:txBody>
                    <a:bodyPr/>
                    <a:lstStyle/>
                    <a:p>
                      <a:pPr algn="ctr"/>
                      <a:r>
                        <a:rPr lang="en-IL" sz="1600" b="1">
                          <a:solidFill>
                            <a:srgbClr val="FFFFFF"/>
                          </a:solidFill>
                          <a:latin typeface="Calibri"/>
                          <a:cs typeface="Calibri"/>
                        </a:rPr>
                        <a:t>AgentCoder (Multi-Agent)</a:t>
                      </a:r>
                    </a:p>
                  </a:txBody>
                  <a:tcPr anchor="ctr">
                    <a:solidFill>
                      <a:srgbClr val="21295C"/>
                    </a:solidFill>
                  </a:tcPr>
                </a:tc>
                <a:extLst>
                  <a:ext uri="{0D108BD9-81ED-4DB2-BD59-A6C34878D82A}">
                    <a16:rowId xmlns:a16="http://schemas.microsoft.com/office/drawing/2014/main" val="2692224929"/>
                  </a:ext>
                </a:extLst>
              </a:tr>
              <a:tr h="584200">
                <a:tc>
                  <a:txBody>
                    <a:bodyPr/>
                    <a:lstStyle/>
                    <a:p>
                      <a:pPr algn="l"/>
                      <a:r>
                        <a:rPr lang="en-IL" sz="1600" b="1">
                          <a:solidFill>
                            <a:srgbClr val="21295C"/>
                          </a:solidFill>
                          <a:latin typeface="Calibri"/>
                          <a:cs typeface="Calibri"/>
                        </a:rPr>
                        <a:t>Test-case accuracy</a:t>
                      </a:r>
                    </a:p>
                  </a:txBody>
                  <a:tcPr anchor="ctr"/>
                </a:tc>
                <a:tc>
                  <a:txBody>
                    <a:bodyPr/>
                    <a:lstStyle/>
                    <a:p>
                      <a:pPr algn="ctr"/>
                      <a:r>
                        <a:rPr lang="en-IL" sz="1600">
                          <a:solidFill>
                            <a:srgbClr val="475569"/>
                          </a:solidFill>
                          <a:latin typeface="Calibri"/>
                          <a:cs typeface="Calibri"/>
                        </a:rPr>
                        <a:t>61.0 / 51.8</a:t>
                      </a:r>
                    </a:p>
                  </a:txBody>
                  <a:tcPr anchor="ctr"/>
                </a:tc>
                <a:tc>
                  <a:txBody>
                    <a:bodyPr/>
                    <a:lstStyle/>
                    <a:p>
                      <a:pPr algn="ctr"/>
                      <a:r>
                        <a:rPr lang="en-IL" sz="1600" b="1">
                          <a:solidFill>
                            <a:srgbClr val="21295C"/>
                          </a:solidFill>
                          <a:latin typeface="Calibri"/>
                          <a:cs typeface="Calibri"/>
                        </a:rPr>
                        <a:t>87.8 / 89.9</a:t>
                      </a:r>
                    </a:p>
                  </a:txBody>
                  <a:tcPr anchor="ctr">
                    <a:solidFill>
                      <a:srgbClr val="EEF2FF"/>
                    </a:solidFill>
                  </a:tcPr>
                </a:tc>
                <a:extLst>
                  <a:ext uri="{0D108BD9-81ED-4DB2-BD59-A6C34878D82A}">
                    <a16:rowId xmlns:a16="http://schemas.microsoft.com/office/drawing/2014/main" val="4092666621"/>
                  </a:ext>
                </a:extLst>
              </a:tr>
              <a:tr h="584200">
                <a:tc>
                  <a:txBody>
                    <a:bodyPr/>
                    <a:lstStyle/>
                    <a:p>
                      <a:pPr algn="l"/>
                      <a:r>
                        <a:rPr lang="en-IL" sz="1600" b="1">
                          <a:solidFill>
                            <a:srgbClr val="21295C"/>
                          </a:solidFill>
                          <a:latin typeface="Calibri"/>
                          <a:cs typeface="Calibri"/>
                        </a:rPr>
                        <a:t>pass@1 (code)</a:t>
                      </a:r>
                    </a:p>
                  </a:txBody>
                  <a:tcPr anchor="ctr"/>
                </a:tc>
                <a:tc>
                  <a:txBody>
                    <a:bodyPr/>
                    <a:lstStyle/>
                    <a:p>
                      <a:pPr algn="ctr"/>
                      <a:r>
                        <a:rPr lang="en-IL" sz="1600">
                          <a:solidFill>
                            <a:srgbClr val="475569"/>
                          </a:solidFill>
                          <a:latin typeface="Calibri"/>
                          <a:cs typeface="Calibri"/>
                        </a:rPr>
                        <a:t>71.3 / 79.4</a:t>
                      </a:r>
                    </a:p>
                  </a:txBody>
                  <a:tcPr anchor="ctr"/>
                </a:tc>
                <a:tc>
                  <a:txBody>
                    <a:bodyPr/>
                    <a:lstStyle/>
                    <a:p>
                      <a:pPr algn="ctr"/>
                      <a:r>
                        <a:rPr lang="en-IL" sz="1600" b="1">
                          <a:solidFill>
                            <a:srgbClr val="21295C"/>
                          </a:solidFill>
                          <a:latin typeface="Calibri"/>
                          <a:cs typeface="Calibri"/>
                        </a:rPr>
                        <a:t>79.9 / 89.9</a:t>
                      </a:r>
                    </a:p>
                  </a:txBody>
                  <a:tcPr anchor="ctr">
                    <a:solidFill>
                      <a:srgbClr val="EEF2FF"/>
                    </a:solidFill>
                  </a:tcPr>
                </a:tc>
                <a:extLst>
                  <a:ext uri="{0D108BD9-81ED-4DB2-BD59-A6C34878D82A}">
                    <a16:rowId xmlns:a16="http://schemas.microsoft.com/office/drawing/2014/main" val="249674368"/>
                  </a:ext>
                </a:extLst>
              </a:tr>
              <a:tr h="584200">
                <a:tc>
                  <a:txBody>
                    <a:bodyPr/>
                    <a:lstStyle/>
                    <a:p>
                      <a:pPr algn="l"/>
                      <a:r>
                        <a:rPr lang="en-IL" sz="1600" b="1">
                          <a:solidFill>
                            <a:srgbClr val="21295C"/>
                          </a:solidFill>
                          <a:latin typeface="Calibri"/>
                          <a:cs typeface="Calibri"/>
                        </a:rPr>
                        <a:t>Test line coverage</a:t>
                      </a:r>
                    </a:p>
                  </a:txBody>
                  <a:tcPr anchor="ctr"/>
                </a:tc>
                <a:tc>
                  <a:txBody>
                    <a:bodyPr/>
                    <a:lstStyle/>
                    <a:p>
                      <a:pPr algn="ctr"/>
                      <a:r>
                        <a:rPr lang="en-IL" sz="1600">
                          <a:solidFill>
                            <a:srgbClr val="475569"/>
                          </a:solidFill>
                          <a:latin typeface="Calibri"/>
                          <a:cs typeface="Calibri"/>
                        </a:rPr>
                        <a:t>72.5 / 75.9</a:t>
                      </a:r>
                    </a:p>
                  </a:txBody>
                  <a:tcPr anchor="ctr"/>
                </a:tc>
                <a:tc>
                  <a:txBody>
                    <a:bodyPr/>
                    <a:lstStyle/>
                    <a:p>
                      <a:pPr algn="ctr"/>
                      <a:r>
                        <a:rPr lang="en-IL" sz="1600" b="1">
                          <a:solidFill>
                            <a:srgbClr val="21295C"/>
                          </a:solidFill>
                          <a:latin typeface="Calibri"/>
                          <a:cs typeface="Calibri"/>
                        </a:rPr>
                        <a:t>87.5 / 89.5</a:t>
                      </a:r>
                    </a:p>
                  </a:txBody>
                  <a:tcPr anchor="ctr">
                    <a:solidFill>
                      <a:srgbClr val="EEF2FF"/>
                    </a:solidFill>
                  </a:tcPr>
                </a:tc>
                <a:extLst>
                  <a:ext uri="{0D108BD9-81ED-4DB2-BD59-A6C34878D82A}">
                    <a16:rowId xmlns:a16="http://schemas.microsoft.com/office/drawing/2014/main" val="3698507587"/>
                  </a:ext>
                </a:extLst>
              </a:tr>
            </a:tbl>
          </a:graphicData>
        </a:graphic>
      </p:graphicFrame>
      <p:sp>
        <p:nvSpPr>
          <p:cNvPr id="6" name="Rectangle: Rounded Corners 5">
            <a:extLst>
              <a:ext uri="{FF2B5EF4-FFF2-40B4-BE49-F238E27FC236}">
                <a16:creationId xmlns:a16="http://schemas.microsoft.com/office/drawing/2014/main" id="{812BEE9C-9558-46F7-842E-944F9F103E11}"/>
              </a:ext>
            </a:extLst>
          </p:cNvPr>
          <p:cNvSpPr/>
          <p:nvPr/>
        </p:nvSpPr>
        <p:spPr>
          <a:xfrm>
            <a:off x="762000" y="4216400"/>
            <a:ext cx="10668000" cy="1219200"/>
          </a:xfrm>
          <a:prstGeom prst="roundRect">
            <a:avLst/>
          </a:prstGeom>
          <a:solidFill>
            <a:srgbClr val="EEF2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500">
                <a:solidFill>
                  <a:srgbClr val="21295C"/>
                </a:solidFill>
                <a:latin typeface="Calibri"/>
                <a:cs typeface="Calibri"/>
              </a:rPr>
              <a:t>Why it works: a separate test designer can't be biased by code it never wrote, and each agent stays focused on a single job — so the tests are tougher, more objective, and catch the edge cases a single agent would rationalize away.</a:t>
            </a:r>
            <a:endParaRPr lang="en-IL" sz="1500">
              <a:solidFill>
                <a:srgbClr val="21295C"/>
              </a:solidFill>
              <a:latin typeface="Calibri"/>
              <a:cs typeface="Calibri"/>
            </a:endParaRPr>
          </a:p>
        </p:txBody>
      </p:sp>
      <p:sp>
        <p:nvSpPr>
          <p:cNvPr id="7" name="TextBox 6">
            <a:extLst>
              <a:ext uri="{FF2B5EF4-FFF2-40B4-BE49-F238E27FC236}">
                <a16:creationId xmlns:a16="http://schemas.microsoft.com/office/drawing/2014/main" id="{12AC95CF-4D0B-4A47-87EB-926ACE39272A}"/>
              </a:ext>
            </a:extLst>
          </p:cNvPr>
          <p:cNvSpPr txBox="1"/>
          <p:nvPr/>
        </p:nvSpPr>
        <p:spPr>
          <a:xfrm>
            <a:off x="762000" y="6375400"/>
            <a:ext cx="10668000" cy="304800"/>
          </a:xfrm>
          <a:prstGeom prst="rect">
            <a:avLst/>
          </a:prstGeom>
          <a:noFill/>
        </p:spPr>
        <p:txBody>
          <a:bodyPr vertOverflow="overflow" vert="horz" wrap="square" rtlCol="0" anchor="t">
            <a:spAutoFit/>
          </a:bodyPr>
          <a:lstStyle/>
          <a:p>
            <a:pPr algn="l"/>
            <a:r>
              <a:rPr lang="fr-FR" sz="1400" i="1">
                <a:solidFill>
                  <a:srgbClr val="64748B"/>
                </a:solidFill>
                <a:latin typeface="Calibri"/>
                <a:cs typeface="Calibri"/>
              </a:rPr>
              <a:t>Source: Huang et al. (2023), "AgentCoder," arXiv:2312.13010 (RQ6, Tables 6–8)</a:t>
            </a:r>
            <a:endParaRPr lang="en-IL" sz="1400" i="1">
              <a:solidFill>
                <a:srgbClr val="64748B"/>
              </a:solidFill>
              <a:latin typeface="Calibri"/>
              <a:cs typeface="Calibri"/>
            </a:endParaRPr>
          </a:p>
        </p:txBody>
      </p:sp>
    </p:spTree>
    <p:extLst>
      <p:ext uri="{BB962C8B-B14F-4D97-AF65-F5344CB8AC3E}">
        <p14:creationId xmlns:p14="http://schemas.microsoft.com/office/powerpoint/2010/main" val="2333192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BF3AAB-C65C-40D1-A39C-7CE576DEE40F}"/>
              </a:ext>
            </a:extLst>
          </p:cNvPr>
          <p:cNvSpPr txBox="1"/>
          <p:nvPr/>
        </p:nvSpPr>
        <p:spPr>
          <a:xfrm>
            <a:off x="546100" y="368300"/>
            <a:ext cx="10972800" cy="635000"/>
          </a:xfrm>
          <a:prstGeom prst="rect">
            <a:avLst/>
          </a:prstGeom>
          <a:noFill/>
        </p:spPr>
        <p:txBody>
          <a:bodyPr vertOverflow="overflow" vert="horz" wrap="square" rtlCol="0" anchor="t">
            <a:spAutoFit/>
          </a:bodyPr>
          <a:lstStyle/>
          <a:p>
            <a:pPr algn="l"/>
            <a:r>
              <a:rPr lang="en-US" sz="3200" b="1" dirty="0">
                <a:solidFill>
                  <a:srgbClr val="21295C"/>
                </a:solidFill>
              </a:rPr>
              <a:t>Token Overhead — AgentCoder vs Multi-Agent Frameworks</a:t>
            </a:r>
            <a:endParaRPr lang="en-IL" sz="3200" b="1" dirty="0">
              <a:solidFill>
                <a:srgbClr val="21295C"/>
              </a:solidFill>
            </a:endParaRPr>
          </a:p>
        </p:txBody>
      </p:sp>
      <p:sp>
        <p:nvSpPr>
          <p:cNvPr id="3" name="TextBox 2">
            <a:extLst>
              <a:ext uri="{FF2B5EF4-FFF2-40B4-BE49-F238E27FC236}">
                <a16:creationId xmlns:a16="http://schemas.microsoft.com/office/drawing/2014/main" id="{25ADFEB1-62B7-437A-A2EA-B32D304F5F62}"/>
              </a:ext>
            </a:extLst>
          </p:cNvPr>
          <p:cNvSpPr txBox="1"/>
          <p:nvPr/>
        </p:nvSpPr>
        <p:spPr>
          <a:xfrm>
            <a:off x="546100" y="1016000"/>
            <a:ext cx="10972800" cy="355600"/>
          </a:xfrm>
          <a:prstGeom prst="rect">
            <a:avLst/>
          </a:prstGeom>
          <a:noFill/>
        </p:spPr>
        <p:txBody>
          <a:bodyPr vertOverflow="overflow" vert="horz" wrap="square" rtlCol="0" anchor="t">
            <a:spAutoFit/>
          </a:bodyPr>
          <a:lstStyle/>
          <a:p>
            <a:pPr algn="l"/>
            <a:r>
              <a:rPr lang="en-US" sz="1600" i="1">
                <a:solidFill>
                  <a:srgbClr val="64748B"/>
                </a:solidFill>
              </a:rPr>
              <a:t>Total token cost per problem (GPT-4) — lower is better</a:t>
            </a:r>
            <a:endParaRPr lang="en-IL" sz="1600" i="1">
              <a:solidFill>
                <a:srgbClr val="64748B"/>
              </a:solidFill>
            </a:endParaRPr>
          </a:p>
        </p:txBody>
      </p:sp>
      <p:graphicFrame>
        <p:nvGraphicFramePr>
          <p:cNvPr id="5" name="Table 4">
            <a:extLst>
              <a:ext uri="{FF2B5EF4-FFF2-40B4-BE49-F238E27FC236}">
                <a16:creationId xmlns:a16="http://schemas.microsoft.com/office/drawing/2014/main" id="{5CF9A090-B706-4703-8AD2-509AE5696EF2}"/>
              </a:ext>
            </a:extLst>
          </p:cNvPr>
          <p:cNvGraphicFramePr>
            <a:graphicFrameLocks noGrp="1"/>
          </p:cNvGraphicFramePr>
          <p:nvPr>
            <p:extLst>
              <p:ext uri="{D42A27DB-BD31-4B8C-83A1-F6EECF244321}">
                <p14:modId xmlns:p14="http://schemas.microsoft.com/office/powerpoint/2010/main" val="496323045"/>
              </p:ext>
            </p:extLst>
          </p:nvPr>
        </p:nvGraphicFramePr>
        <p:xfrm>
          <a:off x="1016000" y="1524000"/>
          <a:ext cx="10160000" cy="3418116"/>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184860350"/>
                    </a:ext>
                  </a:extLst>
                </a:gridCol>
                <a:gridCol w="3556000">
                  <a:extLst>
                    <a:ext uri="{9D8B030D-6E8A-4147-A177-3AD203B41FA5}">
                      <a16:colId xmlns:a16="http://schemas.microsoft.com/office/drawing/2014/main" val="4113123330"/>
                    </a:ext>
                  </a:extLst>
                </a:gridCol>
                <a:gridCol w="3556000">
                  <a:extLst>
                    <a:ext uri="{9D8B030D-6E8A-4147-A177-3AD203B41FA5}">
                      <a16:colId xmlns:a16="http://schemas.microsoft.com/office/drawing/2014/main" val="2208379679"/>
                    </a:ext>
                  </a:extLst>
                </a:gridCol>
              </a:tblGrid>
              <a:tr h="637276">
                <a:tc>
                  <a:txBody>
                    <a:bodyPr/>
                    <a:lstStyle/>
                    <a:p>
                      <a:pPr algn="l"/>
                      <a:r>
                        <a:rPr lang="en-IL" sz="1600" b="1">
                          <a:solidFill>
                            <a:srgbClr val="FFFFFF"/>
                          </a:solidFill>
                        </a:rPr>
                        <a:t>Framework</a:t>
                      </a:r>
                    </a:p>
                  </a:txBody>
                  <a:tcPr anchor="ctr">
                    <a:solidFill>
                      <a:srgbClr val="21295C"/>
                    </a:solidFill>
                  </a:tcPr>
                </a:tc>
                <a:tc>
                  <a:txBody>
                    <a:bodyPr/>
                    <a:lstStyle/>
                    <a:p>
                      <a:pPr algn="r"/>
                      <a:r>
                        <a:rPr lang="en-IL" sz="1600" b="1">
                          <a:solidFill>
                            <a:srgbClr val="FFFFFF"/>
                          </a:solidFill>
                        </a:rPr>
                        <a:t>HumanEval tokens</a:t>
                      </a:r>
                    </a:p>
                  </a:txBody>
                  <a:tcPr anchor="ctr">
                    <a:solidFill>
                      <a:srgbClr val="21295C"/>
                    </a:solidFill>
                  </a:tcPr>
                </a:tc>
                <a:tc>
                  <a:txBody>
                    <a:bodyPr/>
                    <a:lstStyle/>
                    <a:p>
                      <a:pPr algn="r"/>
                      <a:r>
                        <a:rPr lang="en-IL" sz="1600" b="1">
                          <a:solidFill>
                            <a:srgbClr val="FFFFFF"/>
                          </a:solidFill>
                        </a:rPr>
                        <a:t>MBPP tokens</a:t>
                      </a:r>
                    </a:p>
                  </a:txBody>
                  <a:tcPr anchor="ctr">
                    <a:solidFill>
                      <a:srgbClr val="21295C"/>
                    </a:solidFill>
                  </a:tcPr>
                </a:tc>
                <a:extLst>
                  <a:ext uri="{0D108BD9-81ED-4DB2-BD59-A6C34878D82A}">
                    <a16:rowId xmlns:a16="http://schemas.microsoft.com/office/drawing/2014/main" val="3882660212"/>
                  </a:ext>
                </a:extLst>
              </a:tr>
              <a:tr h="695210">
                <a:tc>
                  <a:txBody>
                    <a:bodyPr/>
                    <a:lstStyle/>
                    <a:p>
                      <a:pPr algn="l"/>
                      <a:r>
                        <a:rPr lang="en-IL" sz="1600" b="1">
                          <a:solidFill>
                            <a:srgbClr val="059669"/>
                          </a:solidFill>
                        </a:rPr>
                        <a:t>AgentCoder</a:t>
                      </a:r>
                    </a:p>
                  </a:txBody>
                  <a:tcPr anchor="ctr">
                    <a:solidFill>
                      <a:srgbClr val="ECFDF5"/>
                    </a:solidFill>
                  </a:tcPr>
                </a:tc>
                <a:tc>
                  <a:txBody>
                    <a:bodyPr/>
                    <a:lstStyle/>
                    <a:p>
                      <a:pPr algn="r"/>
                      <a:r>
                        <a:rPr lang="en-IL" sz="1600" b="1" dirty="0">
                          <a:solidFill>
                            <a:srgbClr val="059669"/>
                          </a:solidFill>
                        </a:rPr>
                        <a:t>56.9K</a:t>
                      </a:r>
                    </a:p>
                  </a:txBody>
                  <a:tcPr anchor="ctr">
                    <a:solidFill>
                      <a:srgbClr val="ECFDF5"/>
                    </a:solidFill>
                  </a:tcPr>
                </a:tc>
                <a:tc>
                  <a:txBody>
                    <a:bodyPr/>
                    <a:lstStyle/>
                    <a:p>
                      <a:pPr algn="r"/>
                      <a:r>
                        <a:rPr lang="en-IL" sz="1600" b="1">
                          <a:solidFill>
                            <a:srgbClr val="059669"/>
                          </a:solidFill>
                        </a:rPr>
                        <a:t>66.3K</a:t>
                      </a:r>
                    </a:p>
                  </a:txBody>
                  <a:tcPr anchor="ctr">
                    <a:solidFill>
                      <a:srgbClr val="ECFDF5"/>
                    </a:solidFill>
                  </a:tcPr>
                </a:tc>
                <a:extLst>
                  <a:ext uri="{0D108BD9-81ED-4DB2-BD59-A6C34878D82A}">
                    <a16:rowId xmlns:a16="http://schemas.microsoft.com/office/drawing/2014/main" val="2010709025"/>
                  </a:ext>
                </a:extLst>
              </a:tr>
              <a:tr h="695210">
                <a:tc>
                  <a:txBody>
                    <a:bodyPr/>
                    <a:lstStyle/>
                    <a:p>
                      <a:pPr algn="l"/>
                      <a:r>
                        <a:rPr lang="en-IL" sz="1600">
                          <a:solidFill>
                            <a:srgbClr val="1E293B"/>
                          </a:solidFill>
                        </a:rPr>
                        <a:t>MetaGPT</a:t>
                      </a:r>
                    </a:p>
                  </a:txBody>
                  <a:tcPr anchor="ctr"/>
                </a:tc>
                <a:tc>
                  <a:txBody>
                    <a:bodyPr/>
                    <a:lstStyle/>
                    <a:p>
                      <a:pPr algn="r"/>
                      <a:r>
                        <a:rPr lang="en-IL" sz="1600">
                          <a:solidFill>
                            <a:srgbClr val="1E293B"/>
                          </a:solidFill>
                        </a:rPr>
                        <a:t>138.2K</a:t>
                      </a:r>
                    </a:p>
                  </a:txBody>
                  <a:tcPr anchor="ctr"/>
                </a:tc>
                <a:tc>
                  <a:txBody>
                    <a:bodyPr/>
                    <a:lstStyle/>
                    <a:p>
                      <a:pPr algn="r"/>
                      <a:r>
                        <a:rPr lang="en-IL" sz="1600">
                          <a:solidFill>
                            <a:srgbClr val="1E293B"/>
                          </a:solidFill>
                        </a:rPr>
                        <a:t>206.5K</a:t>
                      </a:r>
                    </a:p>
                  </a:txBody>
                  <a:tcPr anchor="ctr"/>
                </a:tc>
                <a:extLst>
                  <a:ext uri="{0D108BD9-81ED-4DB2-BD59-A6C34878D82A}">
                    <a16:rowId xmlns:a16="http://schemas.microsoft.com/office/drawing/2014/main" val="1976617974"/>
                  </a:ext>
                </a:extLst>
              </a:tr>
              <a:tr h="695210">
                <a:tc>
                  <a:txBody>
                    <a:bodyPr/>
                    <a:lstStyle/>
                    <a:p>
                      <a:pPr algn="l"/>
                      <a:r>
                        <a:rPr lang="en-IL" sz="1600">
                          <a:solidFill>
                            <a:srgbClr val="1E293B"/>
                          </a:solidFill>
                        </a:rPr>
                        <a:t>AgentVerse</a:t>
                      </a:r>
                    </a:p>
                  </a:txBody>
                  <a:tcPr anchor="ctr"/>
                </a:tc>
                <a:tc>
                  <a:txBody>
                    <a:bodyPr/>
                    <a:lstStyle/>
                    <a:p>
                      <a:pPr algn="r"/>
                      <a:r>
                        <a:rPr lang="en-IL" sz="1600" dirty="0">
                          <a:solidFill>
                            <a:srgbClr val="1E293B"/>
                          </a:solidFill>
                        </a:rPr>
                        <a:t>149.2K</a:t>
                      </a:r>
                    </a:p>
                  </a:txBody>
                  <a:tcPr anchor="ctr"/>
                </a:tc>
                <a:tc>
                  <a:txBody>
                    <a:bodyPr/>
                    <a:lstStyle/>
                    <a:p>
                      <a:pPr algn="r"/>
                      <a:r>
                        <a:rPr lang="en-IL" sz="1600">
                          <a:solidFill>
                            <a:srgbClr val="1E293B"/>
                          </a:solidFill>
                        </a:rPr>
                        <a:t>193.6K</a:t>
                      </a:r>
                    </a:p>
                  </a:txBody>
                  <a:tcPr anchor="ctr"/>
                </a:tc>
                <a:extLst>
                  <a:ext uri="{0D108BD9-81ED-4DB2-BD59-A6C34878D82A}">
                    <a16:rowId xmlns:a16="http://schemas.microsoft.com/office/drawing/2014/main" val="1818895902"/>
                  </a:ext>
                </a:extLst>
              </a:tr>
              <a:tr h="695210">
                <a:tc>
                  <a:txBody>
                    <a:bodyPr/>
                    <a:lstStyle/>
                    <a:p>
                      <a:pPr algn="l"/>
                      <a:r>
                        <a:rPr lang="en-IL" sz="1600">
                          <a:solidFill>
                            <a:srgbClr val="1E293B"/>
                          </a:solidFill>
                        </a:rPr>
                        <a:t>ChatDev</a:t>
                      </a:r>
                    </a:p>
                  </a:txBody>
                  <a:tcPr anchor="ctr"/>
                </a:tc>
                <a:tc>
                  <a:txBody>
                    <a:bodyPr/>
                    <a:lstStyle/>
                    <a:p>
                      <a:pPr algn="r"/>
                      <a:r>
                        <a:rPr lang="en-IL" sz="1600" dirty="0">
                          <a:solidFill>
                            <a:srgbClr val="1E293B"/>
                          </a:solidFill>
                        </a:rPr>
                        <a:t>183.7K</a:t>
                      </a:r>
                    </a:p>
                  </a:txBody>
                  <a:tcPr anchor="ctr"/>
                </a:tc>
                <a:tc>
                  <a:txBody>
                    <a:bodyPr/>
                    <a:lstStyle/>
                    <a:p>
                      <a:pPr algn="r"/>
                      <a:r>
                        <a:rPr lang="en-IL" sz="1600" dirty="0">
                          <a:solidFill>
                            <a:srgbClr val="1E293B"/>
                          </a:solidFill>
                        </a:rPr>
                        <a:t>259.3K</a:t>
                      </a:r>
                    </a:p>
                  </a:txBody>
                  <a:tcPr anchor="ctr"/>
                </a:tc>
                <a:extLst>
                  <a:ext uri="{0D108BD9-81ED-4DB2-BD59-A6C34878D82A}">
                    <a16:rowId xmlns:a16="http://schemas.microsoft.com/office/drawing/2014/main" val="2593633587"/>
                  </a:ext>
                </a:extLst>
              </a:tr>
            </a:tbl>
          </a:graphicData>
        </a:graphic>
      </p:graphicFrame>
      <p:sp>
        <p:nvSpPr>
          <p:cNvPr id="6" name="Rectangle 5">
            <a:extLst>
              <a:ext uri="{FF2B5EF4-FFF2-40B4-BE49-F238E27FC236}">
                <a16:creationId xmlns:a16="http://schemas.microsoft.com/office/drawing/2014/main" id="{6A7EB0B1-66BF-4E66-9A26-83761FC7E58E}"/>
              </a:ext>
            </a:extLst>
          </p:cNvPr>
          <p:cNvSpPr/>
          <p:nvPr/>
        </p:nvSpPr>
        <p:spPr>
          <a:xfrm>
            <a:off x="546100" y="5842000"/>
            <a:ext cx="11061700" cy="533400"/>
          </a:xfrm>
          <a:prstGeom prst="rect">
            <a:avLst/>
          </a:prstGeom>
          <a:solidFill>
            <a:srgbClr val="0596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ctr"/>
            <a:r>
              <a:rPr lang="en-US" sz="1600" b="1" dirty="0">
                <a:solidFill>
                  <a:srgbClr val="FFFFFF"/>
                </a:solidFill>
              </a:rPr>
              <a:t>💡 2–4× fewer tokens — at higher accuracy</a:t>
            </a:r>
          </a:p>
        </p:txBody>
      </p:sp>
      <p:sp>
        <p:nvSpPr>
          <p:cNvPr id="7" name="TextBox 6">
            <a:extLst>
              <a:ext uri="{FF2B5EF4-FFF2-40B4-BE49-F238E27FC236}">
                <a16:creationId xmlns:a16="http://schemas.microsoft.com/office/drawing/2014/main" id="{2CB0E2F5-52C8-4385-BE2B-2346D181E021}"/>
              </a:ext>
            </a:extLst>
          </p:cNvPr>
          <p:cNvSpPr txBox="1"/>
          <p:nvPr/>
        </p:nvSpPr>
        <p:spPr>
          <a:xfrm>
            <a:off x="546100" y="6527800"/>
            <a:ext cx="11061700" cy="279400"/>
          </a:xfrm>
          <a:prstGeom prst="rect">
            <a:avLst/>
          </a:prstGeom>
          <a:noFill/>
        </p:spPr>
        <p:txBody>
          <a:bodyPr vertOverflow="overflow" vert="horz" wrap="square" rtlCol="0" anchor="t">
            <a:spAutoFit/>
          </a:bodyPr>
          <a:lstStyle/>
          <a:p>
            <a:pPr algn="l"/>
            <a:r>
              <a:rPr lang="en-US" sz="1400" i="1" dirty="0">
                <a:solidFill>
                  <a:srgbClr val="64748B"/>
                </a:solidFill>
              </a:rPr>
              <a:t>Source: AgentCoder paper (Huang et al., 2024) — Table 9, GPT-4</a:t>
            </a:r>
            <a:endParaRPr lang="en-IL" sz="1400" i="1" dirty="0">
              <a:solidFill>
                <a:srgbClr val="64748B"/>
              </a:solidFill>
            </a:endParaRPr>
          </a:p>
        </p:txBody>
      </p:sp>
      <p:sp>
        <p:nvSpPr>
          <p:cNvPr id="8" name="TextBox 7">
            <a:extLst>
              <a:ext uri="{FF2B5EF4-FFF2-40B4-BE49-F238E27FC236}">
                <a16:creationId xmlns:a16="http://schemas.microsoft.com/office/drawing/2014/main" id="{1A3582A9-F937-408F-9574-9713D7F6C459}"/>
              </a:ext>
            </a:extLst>
          </p:cNvPr>
          <p:cNvSpPr txBox="1"/>
          <p:nvPr/>
        </p:nvSpPr>
        <p:spPr>
          <a:xfrm>
            <a:off x="1016000" y="5069116"/>
            <a:ext cx="10160000" cy="279400"/>
          </a:xfrm>
          <a:prstGeom prst="rect">
            <a:avLst/>
          </a:prstGeom>
          <a:noFill/>
        </p:spPr>
        <p:txBody>
          <a:bodyPr vertOverflow="overflow" vert="horz" wrap="square" rtlCol="0" anchor="t" anchorCtr="0">
            <a:noAutofit/>
          </a:bodyPr>
          <a:lstStyle/>
          <a:p>
            <a:pPr marL="0" indent="0" algn="ctr">
              <a:buNone/>
            </a:pPr>
            <a:r>
              <a:rPr lang="en-US" sz="1000" b="1" dirty="0">
                <a:solidFill>
                  <a:srgbClr val="64748B"/>
                </a:solidFill>
              </a:rPr>
              <a:t>HumanEval</a:t>
            </a:r>
            <a:r>
              <a:rPr lang="en-US" sz="1000" dirty="0">
                <a:solidFill>
                  <a:srgbClr val="64748B"/>
                </a:solidFill>
              </a:rPr>
              <a:t>: function completion  ·  </a:t>
            </a:r>
            <a:r>
              <a:rPr lang="en-US" sz="1000" b="1" dirty="0">
                <a:solidFill>
                  <a:srgbClr val="64748B"/>
                </a:solidFill>
              </a:rPr>
              <a:t>MBPP</a:t>
            </a:r>
            <a:r>
              <a:rPr lang="en-US" sz="1000" dirty="0">
                <a:solidFill>
                  <a:srgbClr val="64748B"/>
                </a:solidFill>
              </a:rPr>
              <a:t>: entry-level Python tasks</a:t>
            </a:r>
          </a:p>
        </p:txBody>
      </p:sp>
    </p:spTree>
    <p:extLst>
      <p:ext uri="{BB962C8B-B14F-4D97-AF65-F5344CB8AC3E}">
        <p14:creationId xmlns:p14="http://schemas.microsoft.com/office/powerpoint/2010/main" val="2718601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animBg="1"/>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C3B493-95BB-17D0-4CC6-4EFA418B5050}"/>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431953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1A4E44-A2A6-3A00-94BA-7435ACFBCBE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34632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EA750E-4CC2-C59A-D047-861E7758C1B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04070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4F25CF-EE7F-469A-9959-AAE567317C32}"/>
              </a:ext>
            </a:extLst>
          </p:cNvPr>
          <p:cNvSpPr txBox="1"/>
          <p:nvPr/>
        </p:nvSpPr>
        <p:spPr>
          <a:xfrm>
            <a:off x="546100" y="330200"/>
            <a:ext cx="11099800" cy="558800"/>
          </a:xfrm>
          <a:prstGeom prst="rect">
            <a:avLst/>
          </a:prstGeom>
          <a:noFill/>
        </p:spPr>
        <p:txBody>
          <a:bodyPr vertOverflow="overflow" vert="horz" wrap="square" rtlCol="0" anchor="t" anchorCtr="0">
            <a:spAutoFit/>
          </a:bodyPr>
          <a:lstStyle/>
          <a:p>
            <a:pPr algn="l"/>
            <a:r>
              <a:rPr lang="en-US" sz="3200" b="1">
                <a:solidFill>
                  <a:srgbClr val="21295C"/>
                </a:solidFill>
                <a:latin typeface="Calibri"/>
                <a:cs typeface="Calibri"/>
              </a:rPr>
              <a:t>Critical Lens: Where AgentCoder Falls Short</a:t>
            </a:r>
            <a:endParaRPr lang="en-IL" sz="3200" b="1">
              <a:solidFill>
                <a:srgbClr val="21295C"/>
              </a:solidFill>
              <a:latin typeface="Calibri"/>
              <a:cs typeface="Calibri"/>
            </a:endParaRPr>
          </a:p>
        </p:txBody>
      </p:sp>
      <p:sp>
        <p:nvSpPr>
          <p:cNvPr id="3" name="TextBox 2">
            <a:extLst>
              <a:ext uri="{FF2B5EF4-FFF2-40B4-BE49-F238E27FC236}">
                <a16:creationId xmlns:a16="http://schemas.microsoft.com/office/drawing/2014/main" id="{5FCF65D6-B27B-4768-B139-3493C981FE68}"/>
              </a:ext>
            </a:extLst>
          </p:cNvPr>
          <p:cNvSpPr txBox="1"/>
          <p:nvPr/>
        </p:nvSpPr>
        <p:spPr>
          <a:xfrm>
            <a:off x="546100" y="914400"/>
            <a:ext cx="11099800" cy="330200"/>
          </a:xfrm>
          <a:prstGeom prst="rect">
            <a:avLst/>
          </a:prstGeom>
          <a:noFill/>
        </p:spPr>
        <p:txBody>
          <a:bodyPr vertOverflow="overflow" vert="horz" wrap="square" rtlCol="0" anchor="t" anchorCtr="0">
            <a:spAutoFit/>
          </a:bodyPr>
          <a:lstStyle/>
          <a:p>
            <a:pPr algn="l"/>
            <a:r>
              <a:rPr lang="en-US" sz="1700" i="1">
                <a:solidFill>
                  <a:srgbClr val="64748B"/>
                </a:solidFill>
                <a:latin typeface="Calibri"/>
                <a:cs typeface="Calibri"/>
              </a:rPr>
              <a:t>Strong on toy benchmarks — but the design has real blind spots</a:t>
            </a:r>
            <a:endParaRPr lang="en-IL" sz="1700" i="1">
              <a:solidFill>
                <a:srgbClr val="64748B"/>
              </a:solidFill>
              <a:latin typeface="Calibri"/>
              <a:cs typeface="Calibri"/>
            </a:endParaRPr>
          </a:p>
        </p:txBody>
      </p:sp>
      <p:sp>
        <p:nvSpPr>
          <p:cNvPr id="4" name="Rectangle: Rounded Corners 3">
            <a:extLst>
              <a:ext uri="{FF2B5EF4-FFF2-40B4-BE49-F238E27FC236}">
                <a16:creationId xmlns:a16="http://schemas.microsoft.com/office/drawing/2014/main" id="{EE8DFCEE-9E61-4E6F-8483-C4EF2D042F85}"/>
              </a:ext>
            </a:extLst>
          </p:cNvPr>
          <p:cNvSpPr/>
          <p:nvPr/>
        </p:nvSpPr>
        <p:spPr>
          <a:xfrm>
            <a:off x="546100" y="1447800"/>
            <a:ext cx="5397500" cy="2298700"/>
          </a:xfrm>
          <a:prstGeom prst="roundRect">
            <a:avLst/>
          </a:prstGeom>
          <a:solidFill>
            <a:srgbClr val="EEF2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lstStyle/>
          <a:p>
            <a:pPr>
              <a:buNone/>
            </a:pPr>
            <a:r>
              <a:rPr lang="en-US" sz="1600" b="1" dirty="0">
                <a:solidFill>
                  <a:srgbClr val="21295C"/>
                </a:solidFill>
                <a:latin typeface="Calibri"/>
              </a:rPr>
              <a:t>Objective ≠ correct</a:t>
            </a:r>
          </a:p>
          <a:p>
            <a:pPr>
              <a:spcBef>
                <a:spcPts val="500"/>
              </a:spcBef>
              <a:buNone/>
            </a:pPr>
            <a:r>
              <a:rPr lang="en-US" sz="1400" dirty="0">
                <a:solidFill>
                  <a:srgbClr val="334155"/>
                </a:solidFill>
                <a:latin typeface="Calibri"/>
              </a:rPr>
              <a:t>The test designer is the same kind of LLM reading the same ambiguous prompt. Misread the spec and it writes wrong tests — then the executor's “objective” feedback steers the code confidently the wrong way.</a:t>
            </a:r>
          </a:p>
        </p:txBody>
      </p:sp>
      <p:sp>
        <p:nvSpPr>
          <p:cNvPr id="5" name="Rectangle: Rounded Corners 4">
            <a:extLst>
              <a:ext uri="{FF2B5EF4-FFF2-40B4-BE49-F238E27FC236}">
                <a16:creationId xmlns:a16="http://schemas.microsoft.com/office/drawing/2014/main" id="{79F1B739-F8D0-48AB-A46F-B80F10FE6E2D}"/>
              </a:ext>
            </a:extLst>
          </p:cNvPr>
          <p:cNvSpPr/>
          <p:nvPr/>
        </p:nvSpPr>
        <p:spPr>
          <a:xfrm>
            <a:off x="6248400" y="1447800"/>
            <a:ext cx="5397500" cy="2298700"/>
          </a:xfrm>
          <a:prstGeom prst="roundRect">
            <a:avLst/>
          </a:prstGeom>
          <a:solidFill>
            <a:srgbClr val="EEF2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lstStyle/>
          <a:p>
            <a:pPr>
              <a:buNone/>
            </a:pPr>
            <a:r>
              <a:rPr lang="en-US" sz="1600" b="1" dirty="0">
                <a:solidFill>
                  <a:srgbClr val="21295C"/>
                </a:solidFill>
                <a:latin typeface="Calibri"/>
              </a:rPr>
              <a:t>Proven only on toy problems</a:t>
            </a:r>
          </a:p>
          <a:p>
            <a:pPr>
              <a:spcBef>
                <a:spcPts val="500"/>
              </a:spcBef>
              <a:buNone/>
            </a:pPr>
            <a:r>
              <a:rPr lang="en-US" sz="1400" dirty="0">
                <a:solidFill>
                  <a:srgbClr val="334155"/>
                </a:solidFill>
                <a:latin typeface="Calibri"/>
              </a:rPr>
              <a:t>HumanEval &amp; MBPP are short, single-function Python tasks likely seen in pre-training. 96.3% says little about multi-file, stateful, or under-specified real-world code.</a:t>
            </a:r>
          </a:p>
        </p:txBody>
      </p:sp>
      <p:sp>
        <p:nvSpPr>
          <p:cNvPr id="6" name="Rectangle: Rounded Corners 5">
            <a:extLst>
              <a:ext uri="{FF2B5EF4-FFF2-40B4-BE49-F238E27FC236}">
                <a16:creationId xmlns:a16="http://schemas.microsoft.com/office/drawing/2014/main" id="{05F6A1FE-DCB3-4168-B150-27832E9DC535}"/>
              </a:ext>
            </a:extLst>
          </p:cNvPr>
          <p:cNvSpPr/>
          <p:nvPr/>
        </p:nvSpPr>
        <p:spPr>
          <a:xfrm>
            <a:off x="546100" y="3924300"/>
            <a:ext cx="5397500" cy="2298700"/>
          </a:xfrm>
          <a:prstGeom prst="roundRect">
            <a:avLst/>
          </a:prstGeom>
          <a:solidFill>
            <a:srgbClr val="EEF2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lstStyle/>
          <a:p>
            <a:pPr>
              <a:buNone/>
            </a:pPr>
            <a:r>
              <a:rPr lang="en-US" sz="1600" b="1" dirty="0">
                <a:solidFill>
                  <a:srgbClr val="21295C"/>
                </a:solidFill>
                <a:latin typeface="Calibri"/>
              </a:rPr>
              <a:t>Self-written tests aren't ground truth</a:t>
            </a:r>
          </a:p>
          <a:p>
            <a:pPr>
              <a:spcBef>
                <a:spcPts val="500"/>
              </a:spcBef>
              <a:buNone/>
            </a:pPr>
            <a:r>
              <a:rPr lang="en-US" sz="1400" dirty="0">
                <a:solidFill>
                  <a:srgbClr val="334155"/>
                </a:solidFill>
                <a:latin typeface="Calibri"/>
              </a:rPr>
              <a:t>Production has no hidden tests. The loop only guarantees “passes the tests it wrote itself,” which can miss whole edge cases — high pass@1 ≠ correctness.</a:t>
            </a:r>
          </a:p>
        </p:txBody>
      </p:sp>
      <p:sp>
        <p:nvSpPr>
          <p:cNvPr id="7" name="Rectangle: Rounded Corners 6">
            <a:extLst>
              <a:ext uri="{FF2B5EF4-FFF2-40B4-BE49-F238E27FC236}">
                <a16:creationId xmlns:a16="http://schemas.microsoft.com/office/drawing/2014/main" id="{0A6E3035-7707-4513-B008-081E8B4C23A4}"/>
              </a:ext>
            </a:extLst>
          </p:cNvPr>
          <p:cNvSpPr/>
          <p:nvPr/>
        </p:nvSpPr>
        <p:spPr>
          <a:xfrm>
            <a:off x="6248400" y="3924300"/>
            <a:ext cx="5397500" cy="2298700"/>
          </a:xfrm>
          <a:prstGeom prst="roundRect">
            <a:avLst/>
          </a:prstGeom>
          <a:solidFill>
            <a:srgbClr val="EEF2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lstStyle/>
          <a:p>
            <a:pPr>
              <a:buNone/>
            </a:pPr>
            <a:r>
              <a:rPr lang="en-US" sz="1600" b="1" dirty="0">
                <a:solidFill>
                  <a:srgbClr val="21295C"/>
                </a:solidFill>
                <a:latin typeface="Calibri"/>
              </a:rPr>
              <a:t>Narrow comfort zone</a:t>
            </a:r>
          </a:p>
          <a:p>
            <a:pPr>
              <a:spcBef>
                <a:spcPts val="500"/>
              </a:spcBef>
              <a:buNone/>
            </a:pPr>
            <a:r>
              <a:rPr lang="en-US" sz="1400" dirty="0">
                <a:solidFill>
                  <a:srgbClr val="334155"/>
                </a:solidFill>
                <a:latin typeface="Calibri"/>
              </a:rPr>
              <a:t>Needs a clear, auto-testable spec with deterministic I/O. Weak fit for UI, ML, or performance tasks — and iterating costs more tokens and latency than a single call.</a:t>
            </a:r>
          </a:p>
        </p:txBody>
      </p:sp>
      <p:sp>
        <p:nvSpPr>
          <p:cNvPr id="8" name="TextBox 7">
            <a:extLst>
              <a:ext uri="{FF2B5EF4-FFF2-40B4-BE49-F238E27FC236}">
                <a16:creationId xmlns:a16="http://schemas.microsoft.com/office/drawing/2014/main" id="{7E02F1A2-D317-4456-AF4F-7FCE19B83917}"/>
              </a:ext>
            </a:extLst>
          </p:cNvPr>
          <p:cNvSpPr txBox="1"/>
          <p:nvPr/>
        </p:nvSpPr>
        <p:spPr>
          <a:xfrm>
            <a:off x="546100" y="6451600"/>
            <a:ext cx="11099800" cy="279400"/>
          </a:xfrm>
          <a:prstGeom prst="rect">
            <a:avLst/>
          </a:prstGeom>
          <a:noFill/>
        </p:spPr>
        <p:txBody>
          <a:bodyPr vertOverflow="overflow" vert="horz" wrap="square" rtlCol="0" anchor="t" anchorCtr="0">
            <a:spAutoFit/>
          </a:bodyPr>
          <a:lstStyle/>
          <a:p>
            <a:pPr algn="l"/>
            <a:r>
              <a:rPr lang="en-US" sz="1400" i="1">
                <a:solidFill>
                  <a:srgbClr val="64748B"/>
                </a:solidFill>
                <a:latin typeface="Calibri"/>
                <a:cs typeface="Calibri"/>
              </a:rPr>
              <a:t>Critical analysis — based on Huang et al. (2023), arXiv:2312.13010, and the code-benchmark contamination literature.</a:t>
            </a:r>
            <a:endParaRPr lang="en-IL" sz="1400" i="1">
              <a:solidFill>
                <a:srgbClr val="64748B"/>
              </a:solidFill>
              <a:latin typeface="Calibri"/>
              <a:cs typeface="Calibri"/>
            </a:endParaRPr>
          </a:p>
        </p:txBody>
      </p:sp>
    </p:spTree>
    <p:extLst>
      <p:ext uri="{BB962C8B-B14F-4D97-AF65-F5344CB8AC3E}">
        <p14:creationId xmlns:p14="http://schemas.microsoft.com/office/powerpoint/2010/main" val="2867568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635CE4-CEBD-46D9-A7FD-8E7F685740BA}"/>
              </a:ext>
            </a:extLst>
          </p:cNvPr>
          <p:cNvSpPr txBox="1"/>
          <p:nvPr/>
        </p:nvSpPr>
        <p:spPr>
          <a:xfrm>
            <a:off x="546100" y="330200"/>
            <a:ext cx="11099800" cy="558800"/>
          </a:xfrm>
          <a:prstGeom prst="rect">
            <a:avLst/>
          </a:prstGeom>
          <a:noFill/>
        </p:spPr>
        <p:txBody>
          <a:bodyPr vertOverflow="overflow" vert="horz" wrap="square" rtlCol="0" anchor="t" anchorCtr="0">
            <a:spAutoFit/>
          </a:bodyPr>
          <a:lstStyle/>
          <a:p>
            <a:pPr algn="l"/>
            <a:r>
              <a:rPr lang="en-US" sz="3200" b="1">
                <a:solidFill>
                  <a:srgbClr val="21295C"/>
                </a:solidFill>
                <a:latin typeface="Calibri"/>
                <a:cs typeface="Calibri"/>
              </a:rPr>
              <a:t>The Field Moved On: Dec 2023 → 2026</a:t>
            </a:r>
            <a:endParaRPr lang="en-IL" sz="3200" b="1">
              <a:solidFill>
                <a:srgbClr val="21295C"/>
              </a:solidFill>
              <a:latin typeface="Calibri"/>
              <a:cs typeface="Calibri"/>
            </a:endParaRPr>
          </a:p>
        </p:txBody>
      </p:sp>
      <p:sp>
        <p:nvSpPr>
          <p:cNvPr id="3" name="TextBox 2">
            <a:extLst>
              <a:ext uri="{FF2B5EF4-FFF2-40B4-BE49-F238E27FC236}">
                <a16:creationId xmlns:a16="http://schemas.microsoft.com/office/drawing/2014/main" id="{733C4081-2C66-4F8F-89D6-DB4426AACF4C}"/>
              </a:ext>
            </a:extLst>
          </p:cNvPr>
          <p:cNvSpPr txBox="1"/>
          <p:nvPr/>
        </p:nvSpPr>
        <p:spPr>
          <a:xfrm>
            <a:off x="546100" y="914400"/>
            <a:ext cx="11099800" cy="330200"/>
          </a:xfrm>
          <a:prstGeom prst="rect">
            <a:avLst/>
          </a:prstGeom>
          <a:noFill/>
        </p:spPr>
        <p:txBody>
          <a:bodyPr vertOverflow="overflow" vert="horz" wrap="square" rtlCol="0" anchor="t" anchorCtr="0">
            <a:spAutoFit/>
          </a:bodyPr>
          <a:lstStyle/>
          <a:p>
            <a:pPr algn="l"/>
            <a:r>
              <a:rPr lang="en-US" sz="1700" i="1">
                <a:solidFill>
                  <a:srgbClr val="64748B"/>
                </a:solidFill>
                <a:latin typeface="Calibri"/>
                <a:cs typeface="Calibri"/>
              </a:rPr>
              <a:t>AgentCoder's core idea survived — its benchmark didn't</a:t>
            </a:r>
            <a:endParaRPr lang="en-IL" sz="1700" i="1">
              <a:solidFill>
                <a:srgbClr val="64748B"/>
              </a:solidFill>
              <a:latin typeface="Calibri"/>
              <a:cs typeface="Calibri"/>
            </a:endParaRPr>
          </a:p>
        </p:txBody>
      </p:sp>
      <p:sp>
        <p:nvSpPr>
          <p:cNvPr id="4" name="Rectangle: Rounded Corners 3">
            <a:extLst>
              <a:ext uri="{FF2B5EF4-FFF2-40B4-BE49-F238E27FC236}">
                <a16:creationId xmlns:a16="http://schemas.microsoft.com/office/drawing/2014/main" id="{362114BA-A4F9-491B-A161-2AC9CA514D7E}"/>
              </a:ext>
            </a:extLst>
          </p:cNvPr>
          <p:cNvSpPr/>
          <p:nvPr/>
        </p:nvSpPr>
        <p:spPr>
          <a:xfrm>
            <a:off x="546100" y="1447800"/>
            <a:ext cx="5397500" cy="2298700"/>
          </a:xfrm>
          <a:prstGeom prst="roundRect">
            <a:avLst/>
          </a:prstGeom>
          <a:solidFill>
            <a:srgbClr val="EEF2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lstStyle/>
          <a:p>
            <a:pPr>
              <a:buNone/>
            </a:pPr>
            <a:r>
              <a:rPr lang="en-US" sz="1600" b="1" dirty="0">
                <a:solidFill>
                  <a:srgbClr val="21295C"/>
                </a:solidFill>
                <a:latin typeface="Calibri"/>
              </a:rPr>
              <a:t>HumanEval is solved</a:t>
            </a:r>
          </a:p>
          <a:p>
            <a:pPr>
              <a:spcBef>
                <a:spcPts val="400"/>
              </a:spcBef>
              <a:buNone/>
            </a:pPr>
            <a:r>
              <a:rPr lang="en-US" sz="1400" dirty="0">
                <a:solidFill>
                  <a:srgbClr val="334155"/>
                </a:solidFill>
                <a:latin typeface="Calibri"/>
              </a:rPr>
              <a:t>AgentCoder's 96.3% (2023) was already near the ceiling — today's best models sit around ~99%, so HumanEval no longer separates methods. The real bar moved to far harder, repo-level benchmarks.</a:t>
            </a:r>
          </a:p>
        </p:txBody>
      </p:sp>
      <p:sp>
        <p:nvSpPr>
          <p:cNvPr id="5" name="Rectangle: Rounded Corners 4">
            <a:extLst>
              <a:ext uri="{FF2B5EF4-FFF2-40B4-BE49-F238E27FC236}">
                <a16:creationId xmlns:a16="http://schemas.microsoft.com/office/drawing/2014/main" id="{E72FC7BF-4872-4A4F-BF79-97F1478587B6}"/>
              </a:ext>
            </a:extLst>
          </p:cNvPr>
          <p:cNvSpPr/>
          <p:nvPr/>
        </p:nvSpPr>
        <p:spPr>
          <a:xfrm>
            <a:off x="6248400" y="1447800"/>
            <a:ext cx="5397500" cy="2298700"/>
          </a:xfrm>
          <a:prstGeom prst="roundRect">
            <a:avLst/>
          </a:prstGeom>
          <a:solidFill>
            <a:srgbClr val="EEF2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lstStyle/>
          <a:p>
            <a:pPr>
              <a:buNone/>
            </a:pPr>
            <a:r>
              <a:rPr lang="en-US" sz="1600" b="1" dirty="0">
                <a:solidFill>
                  <a:srgbClr val="21295C"/>
                </a:solidFill>
                <a:latin typeface="Calibri"/>
              </a:rPr>
              <a:t>From functions to repositories</a:t>
            </a:r>
          </a:p>
          <a:p>
            <a:pPr>
              <a:spcBef>
                <a:spcPts val="400"/>
              </a:spcBef>
              <a:buNone/>
            </a:pPr>
            <a:r>
              <a:rPr lang="en-US" sz="1400" dirty="0">
                <a:solidFill>
                  <a:srgbClr val="334155"/>
                </a:solidFill>
                <a:latin typeface="Calibri"/>
              </a:rPr>
              <a:t>Evaluation shifted to real GitHub issues: SWE-bench and its Verified, Multilingual &amp; Pro variants. Agents like SWE-agent and OpenHands edit whole codebases — a regime AgentCoder wasn't built for.</a:t>
            </a:r>
          </a:p>
        </p:txBody>
      </p:sp>
      <p:sp>
        <p:nvSpPr>
          <p:cNvPr id="6" name="Rectangle: Rounded Corners 5">
            <a:extLst>
              <a:ext uri="{FF2B5EF4-FFF2-40B4-BE49-F238E27FC236}">
                <a16:creationId xmlns:a16="http://schemas.microsoft.com/office/drawing/2014/main" id="{AFBB4D9F-05E7-4D59-BD1D-20C031B7F675}"/>
              </a:ext>
            </a:extLst>
          </p:cNvPr>
          <p:cNvSpPr/>
          <p:nvPr/>
        </p:nvSpPr>
        <p:spPr>
          <a:xfrm>
            <a:off x="546100" y="3924300"/>
            <a:ext cx="5397500" cy="2298700"/>
          </a:xfrm>
          <a:prstGeom prst="roundRect">
            <a:avLst/>
          </a:prstGeom>
          <a:solidFill>
            <a:srgbClr val="EEF2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lstStyle/>
          <a:p>
            <a:pPr>
              <a:buNone/>
            </a:pPr>
            <a:r>
              <a:rPr lang="en-US" sz="1600" b="1" dirty="0">
                <a:solidFill>
                  <a:srgbClr val="21295C"/>
                </a:solidFill>
                <a:latin typeface="Calibri"/>
              </a:rPr>
              <a:t>The idea endures</a:t>
            </a:r>
          </a:p>
          <a:p>
            <a:pPr>
              <a:spcBef>
                <a:spcPts val="400"/>
              </a:spcBef>
              <a:buNone/>
            </a:pPr>
            <a:r>
              <a:rPr lang="en-US" sz="1400" dirty="0">
                <a:solidFill>
                  <a:srgbClr val="334155"/>
                </a:solidFill>
                <a:latin typeface="Calibri"/>
              </a:rPr>
              <a:t>Role specialization + execution feedback became standard (AlphaCodium, AgileCoder, CodeAct). Even 2026 frontier models do best when they get feedback as they work — AgentCoder's thesis.</a:t>
            </a:r>
          </a:p>
        </p:txBody>
      </p:sp>
      <p:sp>
        <p:nvSpPr>
          <p:cNvPr id="8" name="TextBox 7">
            <a:extLst>
              <a:ext uri="{FF2B5EF4-FFF2-40B4-BE49-F238E27FC236}">
                <a16:creationId xmlns:a16="http://schemas.microsoft.com/office/drawing/2014/main" id="{21259A27-BD9B-460D-B6FB-7F27ACFFBB0B}"/>
              </a:ext>
            </a:extLst>
          </p:cNvPr>
          <p:cNvSpPr txBox="1"/>
          <p:nvPr/>
        </p:nvSpPr>
        <p:spPr>
          <a:xfrm>
            <a:off x="546100" y="6451600"/>
            <a:ext cx="11099800" cy="523220"/>
          </a:xfrm>
          <a:prstGeom prst="rect">
            <a:avLst/>
          </a:prstGeom>
          <a:noFill/>
        </p:spPr>
        <p:txBody>
          <a:bodyPr vertOverflow="overflow" vert="horz" wrap="square" rtlCol="0" anchor="t" anchorCtr="0">
            <a:spAutoFit/>
          </a:bodyPr>
          <a:lstStyle/>
          <a:p>
            <a:r>
              <a:rPr lang="en-US" sz="1400" i="1" dirty="0">
                <a:solidFill>
                  <a:srgbClr val="64748B"/>
                </a:solidFill>
                <a:latin typeface="Calibri"/>
              </a:rPr>
              <a:t>Through 2026 — HumanEval saturated; SWE-bench Pro the new bar; Claude Fable 5 / Mythos (Jun 2026).</a:t>
            </a:r>
          </a:p>
        </p:txBody>
      </p:sp>
      <p:graphicFrame>
        <p:nvGraphicFramePr>
          <p:cNvPr id="201" name="SWEbenchProChart"/>
          <p:cNvGraphicFramePr/>
          <p:nvPr/>
        </p:nvGraphicFramePr>
        <p:xfrm>
          <a:off x="6248400" y="3924300"/>
          <a:ext cx="5397500" cy="22987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41072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lIns="0" tIns="0" rIns="0" bIns="0" rtlCol="0" anchor="ctr"/>
          <a:lstStyle/>
          <a:p>
            <a:pPr marL="0" indent="0">
              <a:buNone/>
            </a:pPr>
            <a:r>
              <a:rPr lang="en-US" sz="4000" b="1" dirty="0">
                <a:solidFill>
                  <a:srgbClr val="21295C"/>
                </a:solidFill>
                <a:latin typeface="Calibri" pitchFamily="34" charset="0"/>
                <a:ea typeface="Calibri" pitchFamily="34" charset="-122"/>
                <a:cs typeface="Calibri" pitchFamily="34" charset="-120"/>
              </a:rPr>
              <a:t>Key Takeaways</a:t>
            </a:r>
            <a:endParaRPr lang="en-US" sz="4000" dirty="0"/>
          </a:p>
        </p:txBody>
      </p:sp>
      <p:sp>
        <p:nvSpPr>
          <p:cNvPr id="3" name="Text 1"/>
          <p:cNvSpPr/>
          <p:nvPr/>
        </p:nvSpPr>
        <p:spPr>
          <a:xfrm>
            <a:off x="548640" y="1051560"/>
            <a:ext cx="10972800" cy="365760"/>
          </a:xfrm>
          <a:prstGeom prst="rect">
            <a:avLst/>
          </a:prstGeom>
          <a:noFill/>
          <a:ln/>
        </p:spPr>
        <p:txBody>
          <a:bodyPr wrap="square" lIns="0" tIns="0" rIns="0" bIns="0" rtlCol="0" anchor="ctr"/>
          <a:lstStyle/>
          <a:p>
            <a:pPr marL="0" indent="0">
              <a:buNone/>
            </a:pPr>
            <a:r>
              <a:rPr lang="en-US" sz="1800" i="1" dirty="0">
                <a:solidFill>
                  <a:srgbClr val="64748B"/>
                </a:solidFill>
                <a:latin typeface="Calibri" pitchFamily="34" charset="0"/>
                <a:ea typeface="Calibri" pitchFamily="34" charset="-122"/>
                <a:cs typeface="Calibri" pitchFamily="34" charset="-120"/>
              </a:rPr>
              <a:t>3 things to remember about AgentCoder</a:t>
            </a:r>
            <a:endParaRPr lang="en-US" sz="1800" dirty="0"/>
          </a:p>
        </p:txBody>
      </p:sp>
      <p:sp>
        <p:nvSpPr>
          <p:cNvPr id="4" name="Shape 2"/>
          <p:cNvSpPr/>
          <p:nvPr/>
        </p:nvSpPr>
        <p:spPr>
          <a:xfrm>
            <a:off x="548640" y="1828800"/>
            <a:ext cx="11064240" cy="1325880"/>
          </a:xfrm>
          <a:prstGeom prst="rect">
            <a:avLst/>
          </a:prstGeom>
          <a:solidFill>
            <a:srgbClr val="F8FAFC"/>
          </a:solidFill>
          <a:ln w="12700">
            <a:solidFill>
              <a:srgbClr val="E2E8F0"/>
            </a:solidFill>
            <a:prstDash val="solid"/>
          </a:ln>
          <a:effectLst>
            <a:outerShdw blurRad="101600" dist="25400" dir="5400000" algn="bl" rotWithShape="0">
              <a:srgbClr val="000000">
                <a:alpha val="12000"/>
              </a:srgbClr>
            </a:outerShdw>
          </a:effectLst>
        </p:spPr>
        <p:txBody>
          <a:bodyPr/>
          <a:lstStyle/>
          <a:p>
            <a:endParaRPr lang="en-US"/>
          </a:p>
        </p:txBody>
      </p:sp>
      <p:sp>
        <p:nvSpPr>
          <p:cNvPr id="5" name="Shape 3"/>
          <p:cNvSpPr/>
          <p:nvPr/>
        </p:nvSpPr>
        <p:spPr>
          <a:xfrm>
            <a:off x="548640" y="1828800"/>
            <a:ext cx="914400" cy="1325880"/>
          </a:xfrm>
          <a:prstGeom prst="rect">
            <a:avLst/>
          </a:prstGeom>
          <a:solidFill>
            <a:srgbClr val="065A82"/>
          </a:solidFill>
          <a:ln/>
        </p:spPr>
        <p:txBody>
          <a:bodyPr/>
          <a:lstStyle/>
          <a:p>
            <a:endParaRPr lang="en-US"/>
          </a:p>
        </p:txBody>
      </p:sp>
      <p:sp>
        <p:nvSpPr>
          <p:cNvPr id="6" name="Text 4"/>
          <p:cNvSpPr/>
          <p:nvPr/>
        </p:nvSpPr>
        <p:spPr>
          <a:xfrm>
            <a:off x="548640" y="1828800"/>
            <a:ext cx="914400" cy="1325880"/>
          </a:xfrm>
          <a:prstGeom prst="rect">
            <a:avLst/>
          </a:prstGeom>
          <a:noFill/>
          <a:ln/>
        </p:spPr>
        <p:txBody>
          <a:bodyPr wrap="square" lIns="0" tIns="0" rIns="0" bIns="0"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1</a:t>
            </a:r>
            <a:endParaRPr lang="en-US" sz="6000" dirty="0"/>
          </a:p>
        </p:txBody>
      </p:sp>
      <p:sp>
        <p:nvSpPr>
          <p:cNvPr id="7" name="Text 5"/>
          <p:cNvSpPr/>
          <p:nvPr/>
        </p:nvSpPr>
        <p:spPr>
          <a:xfrm>
            <a:off x="1691640" y="1965960"/>
            <a:ext cx="9601200" cy="411480"/>
          </a:xfrm>
          <a:prstGeom prst="rect">
            <a:avLst/>
          </a:prstGeom>
          <a:noFill/>
          <a:ln/>
        </p:spPr>
        <p:txBody>
          <a:bodyPr wrap="square" lIns="0" tIns="0" rIns="0" bIns="0" rtlCol="0" anchor="ctr"/>
          <a:lstStyle/>
          <a:p>
            <a:pPr marL="0" indent="0">
              <a:buNone/>
            </a:pPr>
            <a:r>
              <a:rPr lang="en-US" sz="2000" b="1" dirty="0">
                <a:solidFill>
                  <a:srgbClr val="21295C"/>
                </a:solidFill>
                <a:latin typeface="Calibri" pitchFamily="34" charset="0"/>
                <a:ea typeface="Calibri" pitchFamily="34" charset="-122"/>
                <a:cs typeface="Calibri" pitchFamily="34" charset="-120"/>
              </a:rPr>
              <a:t>Separation of agents</a:t>
            </a:r>
            <a:endParaRPr lang="en-US" sz="2000" dirty="0"/>
          </a:p>
        </p:txBody>
      </p:sp>
      <p:sp>
        <p:nvSpPr>
          <p:cNvPr id="8" name="Text 6"/>
          <p:cNvSpPr/>
          <p:nvPr/>
        </p:nvSpPr>
        <p:spPr>
          <a:xfrm>
            <a:off x="1691640" y="2377440"/>
            <a:ext cx="9601200" cy="4572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Each agent focuses on one task. Tests stay objective because the test designer never sees the code.</a:t>
            </a:r>
            <a:endParaRPr lang="en-US" sz="1400" dirty="0"/>
          </a:p>
        </p:txBody>
      </p:sp>
      <p:sp>
        <p:nvSpPr>
          <p:cNvPr id="9" name="Text 7"/>
          <p:cNvSpPr/>
          <p:nvPr/>
        </p:nvSpPr>
        <p:spPr>
          <a:xfrm>
            <a:off x="1691640" y="2788920"/>
            <a:ext cx="9601200" cy="320040"/>
          </a:xfrm>
          <a:prstGeom prst="rect">
            <a:avLst/>
          </a:prstGeom>
          <a:noFill/>
          <a:ln/>
        </p:spPr>
        <p:txBody>
          <a:bodyPr wrap="square" lIns="0" tIns="0" rIns="0" bIns="0" rtlCol="0" anchor="ctr"/>
          <a:lstStyle/>
          <a:p>
            <a:pPr marL="0" indent="0">
              <a:buNone/>
            </a:pPr>
            <a:r>
              <a:rPr lang="en-US" sz="1300" b="1" i="1" dirty="0">
                <a:solidFill>
                  <a:srgbClr val="065A82"/>
                </a:solidFill>
                <a:latin typeface="Calibri" pitchFamily="34" charset="0"/>
                <a:ea typeface="Calibri" pitchFamily="34" charset="-122"/>
                <a:cs typeface="Calibri" pitchFamily="34" charset="-120"/>
              </a:rPr>
              <a:t>📚 Like not letting a student grade their own exam</a:t>
            </a:r>
            <a:endParaRPr lang="en-US" sz="1300" dirty="0"/>
          </a:p>
        </p:txBody>
      </p:sp>
      <p:sp>
        <p:nvSpPr>
          <p:cNvPr id="10" name="Shape 8"/>
          <p:cNvSpPr/>
          <p:nvPr/>
        </p:nvSpPr>
        <p:spPr>
          <a:xfrm>
            <a:off x="548640" y="3291840"/>
            <a:ext cx="11064240" cy="1325880"/>
          </a:xfrm>
          <a:prstGeom prst="rect">
            <a:avLst/>
          </a:prstGeom>
          <a:solidFill>
            <a:srgbClr val="F8FAFC"/>
          </a:solidFill>
          <a:ln w="12700">
            <a:solidFill>
              <a:srgbClr val="E2E8F0"/>
            </a:solidFill>
            <a:prstDash val="solid"/>
          </a:ln>
          <a:effectLst>
            <a:outerShdw blurRad="101600" dist="25400" dir="5400000" algn="bl" rotWithShape="0">
              <a:srgbClr val="000000">
                <a:alpha val="12000"/>
              </a:srgbClr>
            </a:outerShdw>
          </a:effectLst>
        </p:spPr>
        <p:txBody>
          <a:bodyPr/>
          <a:lstStyle/>
          <a:p>
            <a:endParaRPr lang="en-US"/>
          </a:p>
        </p:txBody>
      </p:sp>
      <p:sp>
        <p:nvSpPr>
          <p:cNvPr id="11" name="Shape 9"/>
          <p:cNvSpPr/>
          <p:nvPr/>
        </p:nvSpPr>
        <p:spPr>
          <a:xfrm>
            <a:off x="548640" y="3291840"/>
            <a:ext cx="914400" cy="1325880"/>
          </a:xfrm>
          <a:prstGeom prst="rect">
            <a:avLst/>
          </a:prstGeom>
          <a:solidFill>
            <a:srgbClr val="1C7293"/>
          </a:solidFill>
          <a:ln/>
        </p:spPr>
        <p:txBody>
          <a:bodyPr/>
          <a:lstStyle/>
          <a:p>
            <a:endParaRPr lang="en-US"/>
          </a:p>
        </p:txBody>
      </p:sp>
      <p:sp>
        <p:nvSpPr>
          <p:cNvPr id="12" name="Text 10"/>
          <p:cNvSpPr/>
          <p:nvPr/>
        </p:nvSpPr>
        <p:spPr>
          <a:xfrm>
            <a:off x="548640" y="3291840"/>
            <a:ext cx="914400" cy="1325880"/>
          </a:xfrm>
          <a:prstGeom prst="rect">
            <a:avLst/>
          </a:prstGeom>
          <a:noFill/>
          <a:ln/>
        </p:spPr>
        <p:txBody>
          <a:bodyPr wrap="square" lIns="0" tIns="0" rIns="0" bIns="0"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2</a:t>
            </a:r>
            <a:endParaRPr lang="en-US" sz="6000" dirty="0"/>
          </a:p>
        </p:txBody>
      </p:sp>
      <p:sp>
        <p:nvSpPr>
          <p:cNvPr id="13" name="Text 11"/>
          <p:cNvSpPr/>
          <p:nvPr/>
        </p:nvSpPr>
        <p:spPr>
          <a:xfrm>
            <a:off x="1691640" y="3429000"/>
            <a:ext cx="9601200" cy="411480"/>
          </a:xfrm>
          <a:prstGeom prst="rect">
            <a:avLst/>
          </a:prstGeom>
          <a:noFill/>
          <a:ln/>
        </p:spPr>
        <p:txBody>
          <a:bodyPr wrap="square" lIns="0" tIns="0" rIns="0" bIns="0" rtlCol="0" anchor="ctr"/>
          <a:lstStyle/>
          <a:p>
            <a:pPr marL="0" indent="0">
              <a:buNone/>
            </a:pPr>
            <a:r>
              <a:rPr lang="en-US" sz="2000" b="1" dirty="0">
                <a:solidFill>
                  <a:srgbClr val="21295C"/>
                </a:solidFill>
                <a:latin typeface="Calibri" pitchFamily="34" charset="0"/>
                <a:ea typeface="Calibri" pitchFamily="34" charset="-122"/>
                <a:cs typeface="Calibri" pitchFamily="34" charset="-120"/>
              </a:rPr>
              <a:t>Iterative feedback loop</a:t>
            </a:r>
            <a:endParaRPr lang="en-US" sz="2000" dirty="0"/>
          </a:p>
        </p:txBody>
      </p:sp>
      <p:sp>
        <p:nvSpPr>
          <p:cNvPr id="14" name="Text 12"/>
          <p:cNvSpPr/>
          <p:nvPr/>
        </p:nvSpPr>
        <p:spPr>
          <a:xfrm>
            <a:off x="1691640" y="3840480"/>
            <a:ext cx="9601200" cy="4572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If tests fail → real error message → programmer refines → re-run tests → repeat until success.</a:t>
            </a:r>
            <a:endParaRPr lang="en-US" sz="1400" dirty="0"/>
          </a:p>
        </p:txBody>
      </p:sp>
      <p:sp>
        <p:nvSpPr>
          <p:cNvPr id="15" name="Text 13"/>
          <p:cNvSpPr/>
          <p:nvPr/>
        </p:nvSpPr>
        <p:spPr>
          <a:xfrm>
            <a:off x="1691640" y="4251960"/>
            <a:ext cx="9601200" cy="320040"/>
          </a:xfrm>
          <a:prstGeom prst="rect">
            <a:avLst/>
          </a:prstGeom>
          <a:noFill/>
          <a:ln/>
        </p:spPr>
        <p:txBody>
          <a:bodyPr wrap="square" lIns="0" tIns="0" rIns="0" bIns="0" rtlCol="0" anchor="ctr"/>
          <a:lstStyle/>
          <a:p>
            <a:pPr marL="0" indent="0">
              <a:buNone/>
            </a:pPr>
            <a:r>
              <a:rPr lang="en-US" sz="1300" b="1" i="1" dirty="0">
                <a:solidFill>
                  <a:srgbClr val="1C7293"/>
                </a:solidFill>
                <a:latin typeface="Calibri" pitchFamily="34" charset="0"/>
                <a:ea typeface="Calibri" pitchFamily="34" charset="-122"/>
                <a:cs typeface="Calibri" pitchFamily="34" charset="-120"/>
              </a:rPr>
              <a:t>🔄 Like Test-Driven Development (TDD) for AI</a:t>
            </a:r>
            <a:endParaRPr lang="en-US" sz="1300" dirty="0"/>
          </a:p>
        </p:txBody>
      </p:sp>
      <p:sp>
        <p:nvSpPr>
          <p:cNvPr id="16" name="Shape 14"/>
          <p:cNvSpPr/>
          <p:nvPr/>
        </p:nvSpPr>
        <p:spPr>
          <a:xfrm>
            <a:off x="548640" y="4754880"/>
            <a:ext cx="11064240" cy="1325880"/>
          </a:xfrm>
          <a:prstGeom prst="rect">
            <a:avLst/>
          </a:prstGeom>
          <a:solidFill>
            <a:srgbClr val="F8FAFC"/>
          </a:solidFill>
          <a:ln w="12700">
            <a:solidFill>
              <a:srgbClr val="E2E8F0"/>
            </a:solidFill>
            <a:prstDash val="solid"/>
          </a:ln>
          <a:effectLst>
            <a:outerShdw blurRad="101600" dist="25400" dir="5400000" algn="bl" rotWithShape="0">
              <a:srgbClr val="000000">
                <a:alpha val="12000"/>
              </a:srgbClr>
            </a:outerShdw>
          </a:effectLst>
        </p:spPr>
        <p:txBody>
          <a:bodyPr/>
          <a:lstStyle/>
          <a:p>
            <a:endParaRPr lang="en-US"/>
          </a:p>
        </p:txBody>
      </p:sp>
      <p:sp>
        <p:nvSpPr>
          <p:cNvPr id="17" name="Shape 15"/>
          <p:cNvSpPr/>
          <p:nvPr/>
        </p:nvSpPr>
        <p:spPr>
          <a:xfrm>
            <a:off x="548640" y="4754880"/>
            <a:ext cx="914400" cy="1325880"/>
          </a:xfrm>
          <a:prstGeom prst="rect">
            <a:avLst/>
          </a:prstGeom>
          <a:solidFill>
            <a:srgbClr val="F59E0B"/>
          </a:solidFill>
          <a:ln/>
        </p:spPr>
        <p:txBody>
          <a:bodyPr/>
          <a:lstStyle/>
          <a:p>
            <a:endParaRPr lang="en-US"/>
          </a:p>
        </p:txBody>
      </p:sp>
      <p:sp>
        <p:nvSpPr>
          <p:cNvPr id="18" name="Text 16"/>
          <p:cNvSpPr/>
          <p:nvPr/>
        </p:nvSpPr>
        <p:spPr>
          <a:xfrm>
            <a:off x="548640" y="4754880"/>
            <a:ext cx="914400" cy="1325880"/>
          </a:xfrm>
          <a:prstGeom prst="rect">
            <a:avLst/>
          </a:prstGeom>
          <a:noFill/>
          <a:ln/>
        </p:spPr>
        <p:txBody>
          <a:bodyPr wrap="square" lIns="0" tIns="0" rIns="0" bIns="0"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3</a:t>
            </a:r>
            <a:endParaRPr lang="en-US" sz="6000" dirty="0"/>
          </a:p>
        </p:txBody>
      </p:sp>
      <p:sp>
        <p:nvSpPr>
          <p:cNvPr id="19" name="Text 17"/>
          <p:cNvSpPr/>
          <p:nvPr/>
        </p:nvSpPr>
        <p:spPr>
          <a:xfrm>
            <a:off x="1691640" y="4892040"/>
            <a:ext cx="9601200" cy="411480"/>
          </a:xfrm>
          <a:prstGeom prst="rect">
            <a:avLst/>
          </a:prstGeom>
          <a:noFill/>
          <a:ln/>
        </p:spPr>
        <p:txBody>
          <a:bodyPr wrap="square" lIns="0" tIns="0" rIns="0" bIns="0" rtlCol="0" anchor="ctr"/>
          <a:lstStyle/>
          <a:p>
            <a:pPr marL="0" indent="0">
              <a:buNone/>
            </a:pPr>
            <a:r>
              <a:rPr lang="en-US" sz="2000" b="1" dirty="0">
                <a:solidFill>
                  <a:srgbClr val="21295C"/>
                </a:solidFill>
              </a:rPr>
              <a:t>Up to ~70% fewer tokens, higher accuracy</a:t>
            </a:r>
            <a:endParaRPr lang="en-US" sz="2000" dirty="0"/>
          </a:p>
        </p:txBody>
      </p:sp>
      <p:sp>
        <p:nvSpPr>
          <p:cNvPr id="20" name="Text 18"/>
          <p:cNvSpPr/>
          <p:nvPr/>
        </p:nvSpPr>
        <p:spPr>
          <a:xfrm>
            <a:off x="1691640" y="5303520"/>
            <a:ext cx="9601200" cy="4572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3 focused agents beat 5-7 chatty ones. Test Executor is a Python script — costs 0 tokens.</a:t>
            </a:r>
            <a:endParaRPr lang="en-US" sz="1400" dirty="0"/>
          </a:p>
        </p:txBody>
      </p:sp>
      <p:sp>
        <p:nvSpPr>
          <p:cNvPr id="21" name="Text 19"/>
          <p:cNvSpPr/>
          <p:nvPr/>
        </p:nvSpPr>
        <p:spPr>
          <a:xfrm>
            <a:off x="1691640" y="5715000"/>
            <a:ext cx="9601200" cy="320040"/>
          </a:xfrm>
          <a:prstGeom prst="rect">
            <a:avLst/>
          </a:prstGeom>
          <a:noFill/>
          <a:ln/>
        </p:spPr>
        <p:txBody>
          <a:bodyPr wrap="square" lIns="0" tIns="0" rIns="0" bIns="0" rtlCol="0" anchor="ctr"/>
          <a:lstStyle/>
          <a:p>
            <a:pPr marL="0" indent="0">
              <a:buNone/>
            </a:pPr>
            <a:r>
              <a:rPr lang="en-US" sz="1300" b="1" i="1" dirty="0">
                <a:solidFill>
                  <a:srgbClr val="F59E0B"/>
                </a:solidFill>
                <a:latin typeface="Calibri" pitchFamily="34" charset="0"/>
                <a:ea typeface="Calibri" pitchFamily="34" charset="-122"/>
                <a:cs typeface="Calibri" pitchFamily="34" charset="-120"/>
              </a:rPr>
              <a:t>💰 Smart architecture &gt; brute force</a:t>
            </a:r>
            <a:endParaRPr lang="en-US" sz="1300" dirty="0"/>
          </a:p>
        </p:txBody>
      </p:sp>
      <p:sp>
        <p:nvSpPr>
          <p:cNvPr id="22" name="Shape 20"/>
          <p:cNvSpPr/>
          <p:nvPr/>
        </p:nvSpPr>
        <p:spPr>
          <a:xfrm>
            <a:off x="548640" y="6126480"/>
            <a:ext cx="11064240" cy="640080"/>
          </a:xfrm>
          <a:prstGeom prst="rect">
            <a:avLst/>
          </a:prstGeom>
          <a:solidFill>
            <a:srgbClr val="21295C"/>
          </a:solidFill>
          <a:ln/>
        </p:spPr>
        <p:txBody>
          <a:bodyPr/>
          <a:lstStyle/>
          <a:p>
            <a:endParaRPr lang="en-US"/>
          </a:p>
        </p:txBody>
      </p:sp>
      <p:sp>
        <p:nvSpPr>
          <p:cNvPr id="23" name="Text 21"/>
          <p:cNvSpPr/>
          <p:nvPr/>
        </p:nvSpPr>
        <p:spPr>
          <a:xfrm>
            <a:off x="548640" y="6126480"/>
            <a:ext cx="11064240" cy="640080"/>
          </a:xfrm>
          <a:prstGeom prst="rect">
            <a:avLst/>
          </a:prstGeom>
          <a:noFill/>
          <a:ln/>
        </p:spPr>
        <p:txBody>
          <a:bodyPr wrap="square" lIns="0" tIns="0" rIns="0" bIns="0" rtlCol="0" anchor="ctr"/>
          <a:lstStyle/>
          <a:p>
            <a:pPr marL="0" indent="0" algn="ctr">
              <a:buNone/>
            </a:pPr>
            <a:r>
              <a:rPr lang="en-US" sz="1600" b="1" i="1" dirty="0">
                <a:solidFill>
                  <a:srgbClr val="F59E0B"/>
                </a:solidFill>
                <a:latin typeface="Calibri" pitchFamily="34" charset="0"/>
              </a:rPr>
              <a:t>Smart architecture beat brute force in 2023 — but HumanEval is now solved; the real test has moved to repo-level SWE-bench.</a:t>
            </a:r>
            <a:endParaRPr lang="en-US" sz="1600" dirty="0"/>
          </a:p>
        </p:txBody>
      </p:sp>
    </p:spTree>
    <p:extLst>
      <p:ext uri="{BB962C8B-B14F-4D97-AF65-F5344CB8AC3E}">
        <p14:creationId xmlns:p14="http://schemas.microsoft.com/office/powerpoint/2010/main" val="427736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97706E0-6CA9-798D-8970-799CB309CBCD}"/>
              </a:ext>
            </a:extLst>
          </p:cNvPr>
          <p:cNvPicPr>
            <a:picLocks noChangeAspect="1"/>
          </p:cNvPicPr>
          <p:nvPr/>
        </p:nvPicPr>
        <p:blipFill>
          <a:blip r:embed="rId2"/>
          <a:stretch>
            <a:fillRect/>
          </a:stretch>
        </p:blipFill>
        <p:spPr>
          <a:xfrm>
            <a:off x="3075250" y="1216325"/>
            <a:ext cx="5271640" cy="5323834"/>
          </a:xfrm>
          <a:prstGeom prst="rect">
            <a:avLst/>
          </a:prstGeom>
        </p:spPr>
      </p:pic>
      <p:sp>
        <p:nvSpPr>
          <p:cNvPr id="7" name="TextBox 6">
            <a:extLst>
              <a:ext uri="{FF2B5EF4-FFF2-40B4-BE49-F238E27FC236}">
                <a16:creationId xmlns:a16="http://schemas.microsoft.com/office/drawing/2014/main" id="{D4F05654-6AFD-8FF2-B6BD-87CAC9B35B87}"/>
              </a:ext>
            </a:extLst>
          </p:cNvPr>
          <p:cNvSpPr txBox="1"/>
          <p:nvPr/>
        </p:nvSpPr>
        <p:spPr>
          <a:xfrm>
            <a:off x="2484408" y="449376"/>
            <a:ext cx="8540151" cy="584775"/>
          </a:xfrm>
          <a:prstGeom prst="rect">
            <a:avLst/>
          </a:prstGeom>
          <a:noFill/>
        </p:spPr>
        <p:txBody>
          <a:bodyPr wrap="square">
            <a:spAutoFit/>
          </a:bodyPr>
          <a:lstStyle/>
          <a:p>
            <a:r>
              <a:rPr lang="en-US" sz="3200" b="1" dirty="0"/>
              <a:t>Scan to Play: AgentCoder Escape Room</a:t>
            </a:r>
          </a:p>
        </p:txBody>
      </p:sp>
    </p:spTree>
    <p:extLst>
      <p:ext uri="{BB962C8B-B14F-4D97-AF65-F5344CB8AC3E}">
        <p14:creationId xmlns:p14="http://schemas.microsoft.com/office/powerpoint/2010/main" val="802881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F7DFB2-97D7-446E-8F1B-A52F87F850E4}">
  <we:reference id="wa200010001" version="1.0.0.1" store="en-US" storeType="OMEX"/>
  <we:alternateReferences>
    <we:reference id="wa200010001" version="1.0.0.1" store="en-US" storeType="OMEX"/>
  </we:alternateReferences>
  <we:properties>
    <we:property name="claude.fileId" value="&quot;13d7281c-7226-4144-8757-eae3c920742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1236</TotalTime>
  <Words>1442</Words>
  <Application>Microsoft Office PowerPoint</Application>
  <PresentationFormat>Widescreen</PresentationFormat>
  <Paragraphs>205</Paragraphs>
  <Slides>16</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AgentCoder: Multi-Agent Code Generation</dc:title>
  <dc:subject>PptxGenJS Presentation</dc:subject>
  <dc:creator>AgentCoder Presentation</dc:creator>
  <cp:lastModifiedBy>Alon</cp:lastModifiedBy>
  <cp:revision>107</cp:revision>
  <dcterms:created xsi:type="dcterms:W3CDTF">2026-05-01T17:46:11Z</dcterms:created>
  <dcterms:modified xsi:type="dcterms:W3CDTF">2026-06-14T21:56:59Z</dcterms:modified>
</cp:coreProperties>
</file>