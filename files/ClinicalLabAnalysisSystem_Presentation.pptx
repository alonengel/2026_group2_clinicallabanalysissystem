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390A0D-5D34-4384-930A-EB1C002E319C}" v="8" dt="2026-06-22T22:35:55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חלא חלו" userId="5bd07cc1e1d8bd11" providerId="LiveId" clId="{805337EE-011C-4E72-801F-7AF6CEDD1404}"/>
    <pc:docChg chg="undo custSel modSld">
      <pc:chgData name="חלא חלו" userId="5bd07cc1e1d8bd11" providerId="LiveId" clId="{805337EE-011C-4E72-801F-7AF6CEDD1404}" dt="2026-06-22T22:36:09.878" v="56" actId="20577"/>
      <pc:docMkLst>
        <pc:docMk/>
      </pc:docMkLst>
      <pc:sldChg chg="modSp mod">
        <pc:chgData name="חלא חלו" userId="5bd07cc1e1d8bd11" providerId="LiveId" clId="{805337EE-011C-4E72-801F-7AF6CEDD1404}" dt="2026-06-22T22:30:10.201" v="9" actId="1076"/>
        <pc:sldMkLst>
          <pc:docMk/>
          <pc:sldMk cId="0" sldId="264"/>
        </pc:sldMkLst>
        <pc:picChg chg="mod">
          <ac:chgData name="חלא חלו" userId="5bd07cc1e1d8bd11" providerId="LiveId" clId="{805337EE-011C-4E72-801F-7AF6CEDD1404}" dt="2026-06-22T22:30:10.201" v="9" actId="1076"/>
          <ac:picMkLst>
            <pc:docMk/>
            <pc:sldMk cId="0" sldId="264"/>
            <ac:picMk id="20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2:30:07.928" v="8" actId="1076"/>
          <ac:picMkLst>
            <pc:docMk/>
            <pc:sldMk cId="0" sldId="264"/>
            <ac:picMk id="24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2:30:04.981" v="7" actId="1076"/>
          <ac:picMkLst>
            <pc:docMk/>
            <pc:sldMk cId="0" sldId="264"/>
            <ac:picMk id="28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2:30:01.158" v="6" actId="1076"/>
          <ac:picMkLst>
            <pc:docMk/>
            <pc:sldMk cId="0" sldId="264"/>
            <ac:picMk id="32" creationId="{00000000-0000-0000-0000-000000000000}"/>
          </ac:picMkLst>
        </pc:picChg>
      </pc:sldChg>
      <pc:sldChg chg="modSp mod">
        <pc:chgData name="חלא חלו" userId="5bd07cc1e1d8bd11" providerId="LiveId" clId="{805337EE-011C-4E72-801F-7AF6CEDD1404}" dt="2026-06-22T22:30:42.769" v="13" actId="14100"/>
        <pc:sldMkLst>
          <pc:docMk/>
          <pc:sldMk cId="0" sldId="265"/>
        </pc:sldMkLst>
        <pc:spChg chg="mod">
          <ac:chgData name="חלא חלו" userId="5bd07cc1e1d8bd11" providerId="LiveId" clId="{805337EE-011C-4E72-801F-7AF6CEDD1404}" dt="2026-06-22T22:30:37.045" v="12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0:42.769" v="13" actId="14100"/>
          <ac:spMkLst>
            <pc:docMk/>
            <pc:sldMk cId="0" sldId="265"/>
            <ac:spMk id="15" creationId="{00000000-0000-0000-0000-000000000000}"/>
          </ac:spMkLst>
        </pc:spChg>
      </pc:sldChg>
      <pc:sldChg chg="modSp mod">
        <pc:chgData name="חלא חלו" userId="5bd07cc1e1d8bd11" providerId="LiveId" clId="{805337EE-011C-4E72-801F-7AF6CEDD1404}" dt="2026-06-22T21:08:47.667" v="3" actId="1076"/>
        <pc:sldMkLst>
          <pc:docMk/>
          <pc:sldMk cId="0" sldId="269"/>
        </pc:sldMkLst>
        <pc:picChg chg="mod">
          <ac:chgData name="חלא חלו" userId="5bd07cc1e1d8bd11" providerId="LiveId" clId="{805337EE-011C-4E72-801F-7AF6CEDD1404}" dt="2026-06-22T21:08:43.644" v="1" actId="1076"/>
          <ac:picMkLst>
            <pc:docMk/>
            <pc:sldMk cId="0" sldId="269"/>
            <ac:picMk id="30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1:08:47.667" v="3" actId="1076"/>
          <ac:picMkLst>
            <pc:docMk/>
            <pc:sldMk cId="0" sldId="269"/>
            <ac:picMk id="31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1:08:41.667" v="0" actId="1076"/>
          <ac:picMkLst>
            <pc:docMk/>
            <pc:sldMk cId="0" sldId="269"/>
            <ac:picMk id="32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1:08:45.238" v="2" actId="1076"/>
          <ac:picMkLst>
            <pc:docMk/>
            <pc:sldMk cId="0" sldId="269"/>
            <ac:picMk id="33" creationId="{00000000-0000-0000-0000-000000000000}"/>
          </ac:picMkLst>
        </pc:picChg>
      </pc:sldChg>
      <pc:sldChg chg="modSp mod">
        <pc:chgData name="חלא חלו" userId="5bd07cc1e1d8bd11" providerId="LiveId" clId="{805337EE-011C-4E72-801F-7AF6CEDD1404}" dt="2026-06-22T22:31:17.630" v="14" actId="1076"/>
        <pc:sldMkLst>
          <pc:docMk/>
          <pc:sldMk cId="0" sldId="270"/>
        </pc:sldMkLst>
        <pc:spChg chg="mod">
          <ac:chgData name="חלא חלו" userId="5bd07cc1e1d8bd11" providerId="LiveId" clId="{805337EE-011C-4E72-801F-7AF6CEDD1404}" dt="2026-06-22T22:07:56.188" v="4" actId="14100"/>
          <ac:spMkLst>
            <pc:docMk/>
            <pc:sldMk cId="0" sldId="270"/>
            <ac:spMk id="4" creationId="{00000000-0000-0000-0000-000000000000}"/>
          </ac:spMkLst>
        </pc:spChg>
        <pc:picChg chg="mod">
          <ac:chgData name="חלא חלו" userId="5bd07cc1e1d8bd11" providerId="LiveId" clId="{805337EE-011C-4E72-801F-7AF6CEDD1404}" dt="2026-06-22T22:31:17.630" v="14" actId="1076"/>
          <ac:picMkLst>
            <pc:docMk/>
            <pc:sldMk cId="0" sldId="270"/>
            <ac:picMk id="20" creationId="{00000000-0000-0000-0000-000000000000}"/>
          </ac:picMkLst>
        </pc:picChg>
      </pc:sldChg>
      <pc:sldChg chg="modSp mod">
        <pc:chgData name="חלא חלו" userId="5bd07cc1e1d8bd11" providerId="LiveId" clId="{805337EE-011C-4E72-801F-7AF6CEDD1404}" dt="2026-06-22T22:31:37.234" v="17" actId="14100"/>
        <pc:sldMkLst>
          <pc:docMk/>
          <pc:sldMk cId="0" sldId="271"/>
        </pc:sldMkLst>
        <pc:spChg chg="mod">
          <ac:chgData name="חלא חלו" userId="5bd07cc1e1d8bd11" providerId="LiveId" clId="{805337EE-011C-4E72-801F-7AF6CEDD1404}" dt="2026-06-22T22:31:26.094" v="15" actId="14100"/>
          <ac:spMkLst>
            <pc:docMk/>
            <pc:sldMk cId="0" sldId="271"/>
            <ac:spMk id="4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1:37.234" v="17" actId="14100"/>
          <ac:spMkLst>
            <pc:docMk/>
            <pc:sldMk cId="0" sldId="271"/>
            <ac:spMk id="7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1:29.071" v="16" actId="14100"/>
          <ac:spMkLst>
            <pc:docMk/>
            <pc:sldMk cId="0" sldId="271"/>
            <ac:spMk id="22" creationId="{00000000-0000-0000-0000-000000000000}"/>
          </ac:spMkLst>
        </pc:spChg>
      </pc:sldChg>
      <pc:sldChg chg="modSp mod">
        <pc:chgData name="חלא חלו" userId="5bd07cc1e1d8bd11" providerId="LiveId" clId="{805337EE-011C-4E72-801F-7AF6CEDD1404}" dt="2026-06-22T22:33:06.287" v="42" actId="11530"/>
        <pc:sldMkLst>
          <pc:docMk/>
          <pc:sldMk cId="0" sldId="272"/>
        </pc:sldMkLst>
        <pc:spChg chg="mod">
          <ac:chgData name="חלא חלו" userId="5bd07cc1e1d8bd11" providerId="LiveId" clId="{805337EE-011C-4E72-801F-7AF6CEDD1404}" dt="2026-06-22T22:32:45.987" v="37" actId="1076"/>
          <ac:spMkLst>
            <pc:docMk/>
            <pc:sldMk cId="0" sldId="272"/>
            <ac:spMk id="4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2:15.801" v="26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2:31.169" v="31" actId="1076"/>
          <ac:spMkLst>
            <pc:docMk/>
            <pc:sldMk cId="0" sldId="272"/>
            <ac:spMk id="7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2:33.017" v="32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2:57.257" v="41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2:53.755" v="40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2:51.422" v="39" actId="107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2:42.211" v="35" actId="107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2:49.002" v="38" actId="107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1:45.793" v="18" actId="14100"/>
          <ac:spMkLst>
            <pc:docMk/>
            <pc:sldMk cId="0" sldId="272"/>
            <ac:spMk id="21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1:48.089" v="19" actId="1076"/>
          <ac:spMkLst>
            <pc:docMk/>
            <pc:sldMk cId="0" sldId="272"/>
            <ac:spMk id="22" creationId="{00000000-0000-0000-0000-000000000000}"/>
          </ac:spMkLst>
        </pc:spChg>
        <pc:picChg chg="mod">
          <ac:chgData name="חלא חלו" userId="5bd07cc1e1d8bd11" providerId="LiveId" clId="{805337EE-011C-4E72-801F-7AF6CEDD1404}" dt="2026-06-22T22:32:18.234" v="27" actId="1076"/>
          <ac:picMkLst>
            <pc:docMk/>
            <pc:sldMk cId="0" sldId="272"/>
            <ac:picMk id="6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2:32:20.993" v="28" actId="1076"/>
          <ac:picMkLst>
            <pc:docMk/>
            <pc:sldMk cId="0" sldId="272"/>
            <ac:picMk id="8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2:32:24.825" v="29" actId="1076"/>
          <ac:picMkLst>
            <pc:docMk/>
            <pc:sldMk cId="0" sldId="272"/>
            <ac:picMk id="12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2:32:26.858" v="30" actId="1076"/>
          <ac:picMkLst>
            <pc:docMk/>
            <pc:sldMk cId="0" sldId="272"/>
            <ac:picMk id="14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2:32:06.862" v="24" actId="1076"/>
          <ac:picMkLst>
            <pc:docMk/>
            <pc:sldMk cId="0" sldId="272"/>
            <ac:picMk id="16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2:32:00.592" v="22" actId="1076"/>
          <ac:picMkLst>
            <pc:docMk/>
            <pc:sldMk cId="0" sldId="272"/>
            <ac:picMk id="18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2:33:06.287" v="42" actId="11530"/>
          <ac:picMkLst>
            <pc:docMk/>
            <pc:sldMk cId="0" sldId="272"/>
            <ac:picMk id="20" creationId="{00000000-0000-0000-0000-000000000000}"/>
          </ac:picMkLst>
        </pc:picChg>
      </pc:sldChg>
      <pc:sldChg chg="modSp mod">
        <pc:chgData name="חלא חלו" userId="5bd07cc1e1d8bd11" providerId="LiveId" clId="{805337EE-011C-4E72-801F-7AF6CEDD1404}" dt="2026-06-22T22:33:15.597" v="43" actId="14100"/>
        <pc:sldMkLst>
          <pc:docMk/>
          <pc:sldMk cId="0" sldId="273"/>
        </pc:sldMkLst>
        <pc:graphicFrameChg chg="mod">
          <ac:chgData name="חלא חלו" userId="5bd07cc1e1d8bd11" providerId="LiveId" clId="{805337EE-011C-4E72-801F-7AF6CEDD1404}" dt="2026-06-22T22:33:15.597" v="43" actId="14100"/>
          <ac:graphicFrameMkLst>
            <pc:docMk/>
            <pc:sldMk cId="0" sldId="273"/>
            <ac:graphicFrameMk id="41" creationId="{00000000-0000-0000-0000-000000000000}"/>
          </ac:graphicFrameMkLst>
        </pc:graphicFrameChg>
      </pc:sldChg>
      <pc:sldChg chg="modSp">
        <pc:chgData name="חלא חלו" userId="5bd07cc1e1d8bd11" providerId="LiveId" clId="{805337EE-011C-4E72-801F-7AF6CEDD1404}" dt="2026-06-22T22:33:37.771" v="47" actId="11530"/>
        <pc:sldMkLst>
          <pc:docMk/>
          <pc:sldMk cId="0" sldId="274"/>
        </pc:sldMkLst>
        <pc:picChg chg="mod">
          <ac:chgData name="חלא חלו" userId="5bd07cc1e1d8bd11" providerId="LiveId" clId="{805337EE-011C-4E72-801F-7AF6CEDD1404}" dt="2026-06-22T22:33:25.202" v="44" actId="11530"/>
          <ac:picMkLst>
            <pc:docMk/>
            <pc:sldMk cId="0" sldId="274"/>
            <ac:picMk id="28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2:33:29.957" v="45" actId="11530"/>
          <ac:picMkLst>
            <pc:docMk/>
            <pc:sldMk cId="0" sldId="274"/>
            <ac:picMk id="30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2:33:34.239" v="46" actId="11530"/>
          <ac:picMkLst>
            <pc:docMk/>
            <pc:sldMk cId="0" sldId="274"/>
            <ac:picMk id="32" creationId="{00000000-0000-0000-0000-000000000000}"/>
          </ac:picMkLst>
        </pc:picChg>
        <pc:picChg chg="mod">
          <ac:chgData name="חלא חלו" userId="5bd07cc1e1d8bd11" providerId="LiveId" clId="{805337EE-011C-4E72-801F-7AF6CEDD1404}" dt="2026-06-22T22:33:37.771" v="47" actId="11530"/>
          <ac:picMkLst>
            <pc:docMk/>
            <pc:sldMk cId="0" sldId="274"/>
            <ac:picMk id="34" creationId="{00000000-0000-0000-0000-000000000000}"/>
          </ac:picMkLst>
        </pc:picChg>
      </pc:sldChg>
      <pc:sldChg chg="modSp mod">
        <pc:chgData name="חלא חלו" userId="5bd07cc1e1d8bd11" providerId="LiveId" clId="{805337EE-011C-4E72-801F-7AF6CEDD1404}" dt="2026-06-22T22:33:53.024" v="49" actId="1076"/>
        <pc:sldMkLst>
          <pc:docMk/>
          <pc:sldMk cId="0" sldId="276"/>
        </pc:sldMkLst>
        <pc:spChg chg="mod">
          <ac:chgData name="חלא חלו" userId="5bd07cc1e1d8bd11" providerId="LiveId" clId="{805337EE-011C-4E72-801F-7AF6CEDD1404}" dt="2026-06-22T22:33:50.152" v="48" actId="1076"/>
          <ac:spMkLst>
            <pc:docMk/>
            <pc:sldMk cId="0" sldId="276"/>
            <ac:spMk id="2" creationId="{00000000-0000-0000-0000-000000000000}"/>
          </ac:spMkLst>
        </pc:spChg>
        <pc:spChg chg="mod">
          <ac:chgData name="חלא חלו" userId="5bd07cc1e1d8bd11" providerId="LiveId" clId="{805337EE-011C-4E72-801F-7AF6CEDD1404}" dt="2026-06-22T22:33:53.024" v="49" actId="1076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חלא חלו" userId="5bd07cc1e1d8bd11" providerId="LiveId" clId="{805337EE-011C-4E72-801F-7AF6CEDD1404}" dt="2026-06-22T22:36:09.878" v="56" actId="20577"/>
        <pc:sldMkLst>
          <pc:docMk/>
          <pc:sldMk cId="0" sldId="278"/>
        </pc:sldMkLst>
        <pc:spChg chg="mod">
          <ac:chgData name="חלא חלו" userId="5bd07cc1e1d8bd11" providerId="LiveId" clId="{805337EE-011C-4E72-801F-7AF6CEDD1404}" dt="2026-06-22T22:36:09.878" v="56" actId="20577"/>
          <ac:spMkLst>
            <pc:docMk/>
            <pc:sldMk cId="0" sldId="278"/>
            <ac:spMk id="1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%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AA-4B46-8F58-F0C69887587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0AA-4B46-8F58-F0C69887587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0AA-4B46-8F58-F0C69887587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0AA-4B46-8F58-F0C69887587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0AA-4B46-8F58-F0C69887587B}"/>
              </c:ext>
            </c:extLst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0AA-4B46-8F58-F0C69887587B}"/>
              </c:ext>
            </c:extLst>
          </c:dPt>
          <c:dPt>
            <c:idx val="6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0AA-4B46-8F58-F0C69887587B}"/>
              </c:ext>
            </c:extLst>
          </c:dPt>
          <c:dPt>
            <c:idx val="7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0AA-4B46-8F58-F0C69887587B}"/>
              </c:ext>
            </c:extLst>
          </c:dPt>
          <c:dPt>
            <c:idx val="8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0AA-4B46-8F58-F0C69887587B}"/>
              </c:ext>
            </c:extLst>
          </c:dPt>
          <c:dPt>
            <c:idx val="9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0AA-4B46-8F58-F0C69887587B}"/>
              </c:ext>
            </c:extLst>
          </c:dPt>
          <c:dPt>
            <c:idx val="10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A0AA-4B46-8F58-F0C69887587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agent_pipeline</c:v>
                </c:pt>
                <c:pt idx="1">
                  <c:v>code_generation</c:v>
                </c:pt>
                <c:pt idx="2">
                  <c:v>correction</c:v>
                </c:pt>
                <c:pt idx="3">
                  <c:v>execution</c:v>
                </c:pt>
                <c:pt idx="4">
                  <c:v>llm_router</c:v>
                </c:pt>
                <c:pt idx="5">
                  <c:v>sandbox</c:v>
                </c:pt>
                <c:pt idx="6">
                  <c:v>validation</c:v>
                </c:pt>
                <c:pt idx="7">
                  <c:v>data_prep</c:v>
                </c:pt>
                <c:pt idx="8">
                  <c:v>app</c:v>
                </c:pt>
                <c:pt idx="9">
                  <c:v>questions</c:v>
                </c:pt>
                <c:pt idx="10">
                  <c:v>llm_client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99</c:v>
                </c:pt>
                <c:pt idx="6">
                  <c:v>95</c:v>
                </c:pt>
                <c:pt idx="7">
                  <c:v>95</c:v>
                </c:pt>
                <c:pt idx="8">
                  <c:v>93</c:v>
                </c:pt>
                <c:pt idx="9">
                  <c:v>91</c:v>
                </c:pt>
                <c:pt idx="10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A0AA-4B46-8F58-F0C6988758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AF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  <c:min val="80"/>
        </c:scaling>
        <c:delete val="0"/>
        <c:axPos val="b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AF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24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812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Introduce the system and the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scale of the problem. Manual querying just doesn't work at this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core idea: generate → execute → validate → correct →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prep was a significant effort — show the schema and pipeline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stages top to bottom, then the module table. Emphasize the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step by step. The poster shows the same 6-step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questions total. Q1–Q5 are from Part 1; Q6–Q12 are new additions including the dataset-wide aggregate.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generation is the key safety feature. No free-form code is ever executed.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 is safe — only known functions are available. Validation is per-question, not generic.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correction loop only fires in normal use when the generator emits a typo. The demo checkbox forces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NL router never generates code — it only selects a template. LLM routing is opt-in.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 by default. The sandbox is the key safety feature. The 12-question registry remains the trusted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four screenshots. Emphasize the dark theme, metric cards, and generated-code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if demo environment is available. Otherwise walk through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both paths (dropdown and NL) hit the same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typo checkbox is the only reliable demo trigger. Emphasize the whole-identifier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12 questions pass. 159 tests, 94% line coverage, well above the 85%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numbers from the MIMIC-III dataset. Q12 is the dataset-wide aggregate with no admission input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is not just test numbers — it's the registry design and sandbox that make this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limitations. The scope is intentionally narrow — reliability over breadth.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all key points. End with the goal statement from the poster.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questions. Quick stat summary in the bottom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13.png"/><Relationship Id="rId9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3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-914400" y="3474720"/>
            <a:ext cx="2286000" cy="2286000"/>
          </a:xfrm>
          <a:prstGeom prst="ellipse">
            <a:avLst/>
          </a:prstGeom>
          <a:solidFill>
            <a:srgbClr val="02C39A">
              <a:alpha val="8000"/>
            </a:srgbClr>
          </a:solidFill>
          <a:ln w="12700">
            <a:solidFill>
              <a:srgbClr val="02C39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50876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Lab Analysis System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365760" y="2487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Based Automated Clinical Laboratory Analysis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2944368"/>
            <a:ext cx="3657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365760" y="31089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3383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laboratory test results during hospital admission be used to automatically answer a limited set of clinical analysis questions about hospitalized patients?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4480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 Hillou   •   Dana Nmarny   •   Anas Khoury   •   Alon Engel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677359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438912" y="1024128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438912" y="10241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9966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10058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MIMIC-III analysis fails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362456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438912" y="1426464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38912" y="1426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1399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31720" y="1408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automated clinical lab system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764792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38912" y="1828800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438912" y="1828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1801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Preparation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31720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MIMIC-III: cleaning and merging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167128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438912" y="2231136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438912" y="2231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2203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31720" y="22128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Registry-driven pipeline overview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569464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438912" y="263347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438912" y="2633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Workflow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31720" y="26151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walkthrough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97180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438912" y="3035808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438912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" y="3008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Supported Questions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331720" y="3017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question registry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374136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438912" y="3438144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Text 34"/>
          <p:cNvSpPr/>
          <p:nvPr/>
        </p:nvSpPr>
        <p:spPr>
          <a:xfrm>
            <a:off x="438912" y="3438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" y="3410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331720" y="34198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code builder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3776472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438912" y="3840480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Text 39"/>
          <p:cNvSpPr/>
          <p:nvPr/>
        </p:nvSpPr>
        <p:spPr>
          <a:xfrm>
            <a:off x="438912" y="3840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1520" y="3813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Validation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331720" y="38221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exec + per-question rules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4178808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438912" y="4242816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Text 44"/>
          <p:cNvSpPr/>
          <p:nvPr/>
        </p:nvSpPr>
        <p:spPr>
          <a:xfrm>
            <a:off x="438912" y="42428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1520" y="42153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Loop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331720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rule-based retry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4581144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438912" y="464515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Text 49"/>
          <p:cNvSpPr/>
          <p:nvPr/>
        </p:nvSpPr>
        <p:spPr>
          <a:xfrm>
            <a:off x="438912" y="4645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1520" y="4617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331720" y="46268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NL routing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00600" y="96012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4873752" y="1024128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Text 54"/>
          <p:cNvSpPr/>
          <p:nvPr/>
        </p:nvSpPr>
        <p:spPr>
          <a:xfrm>
            <a:off x="4873752" y="10241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66360" y="9966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766560" y="10058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AgentCoder-style guarded code-gen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00600" y="1362456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4873752" y="1426464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Text 59"/>
          <p:cNvSpPr/>
          <p:nvPr/>
        </p:nvSpPr>
        <p:spPr>
          <a:xfrm>
            <a:off x="4873752" y="1426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66360" y="1399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766560" y="1408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dark-theme app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00600" y="1764792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5" name="Shape 63"/>
          <p:cNvSpPr/>
          <p:nvPr/>
        </p:nvSpPr>
        <p:spPr>
          <a:xfrm>
            <a:off x="4873752" y="1828800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4873752" y="1828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66360" y="1801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Trend Chart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766560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hematocrit walkthrough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800600" y="2167128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0" name="Shape 68"/>
          <p:cNvSpPr/>
          <p:nvPr/>
        </p:nvSpPr>
        <p:spPr>
          <a:xfrm>
            <a:off x="4873752" y="2231136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1" name="Text 69"/>
          <p:cNvSpPr/>
          <p:nvPr/>
        </p:nvSpPr>
        <p:spPr>
          <a:xfrm>
            <a:off x="4873752" y="2231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166360" y="2203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NL Query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766560" y="22128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via natural language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800600" y="2569464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5" name="Shape 73"/>
          <p:cNvSpPr/>
          <p:nvPr/>
        </p:nvSpPr>
        <p:spPr>
          <a:xfrm>
            <a:off x="4873752" y="263347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6" name="Text 74"/>
          <p:cNvSpPr/>
          <p:nvPr/>
        </p:nvSpPr>
        <p:spPr>
          <a:xfrm>
            <a:off x="4873752" y="2633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6636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Correction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6766560" y="26151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injection demo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800600" y="297180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0" name="Shape 78"/>
          <p:cNvSpPr/>
          <p:nvPr/>
        </p:nvSpPr>
        <p:spPr>
          <a:xfrm>
            <a:off x="4873752" y="3035808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1" name="Text 79"/>
          <p:cNvSpPr/>
          <p:nvPr/>
        </p:nvSpPr>
        <p:spPr>
          <a:xfrm>
            <a:off x="4873752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66360" y="3008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6766560" y="3017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 tests, 94% coverage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800600" y="3374136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5" name="Shape 83"/>
          <p:cNvSpPr/>
          <p:nvPr/>
        </p:nvSpPr>
        <p:spPr>
          <a:xfrm>
            <a:off x="4873752" y="3438144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6" name="Text 84"/>
          <p:cNvSpPr/>
          <p:nvPr/>
        </p:nvSpPr>
        <p:spPr>
          <a:xfrm>
            <a:off x="4873752" y="3438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166360" y="3410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Results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6766560" y="34198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from MIMIC-III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800600" y="3776472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0" name="Shape 88"/>
          <p:cNvSpPr/>
          <p:nvPr/>
        </p:nvSpPr>
        <p:spPr>
          <a:xfrm>
            <a:off x="4873752" y="3840480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1" name="Text 89"/>
          <p:cNvSpPr/>
          <p:nvPr/>
        </p:nvSpPr>
        <p:spPr>
          <a:xfrm>
            <a:off x="4873752" y="3840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166360" y="3813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Quality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6766560" y="38221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&amp; quality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800600" y="4178808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5" name="Shape 93"/>
          <p:cNvSpPr/>
          <p:nvPr/>
        </p:nvSpPr>
        <p:spPr>
          <a:xfrm>
            <a:off x="4873752" y="4242816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6" name="Text 94"/>
          <p:cNvSpPr/>
          <p:nvPr/>
        </p:nvSpPr>
        <p:spPr>
          <a:xfrm>
            <a:off x="4873752" y="42428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166360" y="42153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6766560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 and roadmap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800600" y="4581144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0" name="Shape 98"/>
          <p:cNvSpPr/>
          <p:nvPr/>
        </p:nvSpPr>
        <p:spPr>
          <a:xfrm>
            <a:off x="4873752" y="464515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1" name="Text 99"/>
          <p:cNvSpPr/>
          <p:nvPr/>
        </p:nvSpPr>
        <p:spPr>
          <a:xfrm>
            <a:off x="4873752" y="4645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166360" y="4617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6766560" y="46268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684393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MIMIC-III analysis is not enough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07899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0976" y="1060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Massive Dataset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50976" y="135331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LABEVENTS alone is ~2 GB with millions of records — impossible to query manually at scale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196596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08483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0976" y="20665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Error-Prone Queries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50976" y="23591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SQL/Python per question is time-consuming, repetitive, and easy to get wrong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297180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09067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0976" y="30723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Reproducibility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50976" y="336499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queries can't be reliably repeated or audited by others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65760" y="397764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09651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0976" y="40782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Urgency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50976" y="43708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need answers quickly during hospital admissions — not hours of scripting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577840" y="960120"/>
            <a:ext cx="3200400" cy="3977640"/>
          </a:xfrm>
          <a:prstGeom prst="roundRect">
            <a:avLst>
              <a:gd name="adj" fmla="val 2857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Text 15"/>
          <p:cNvSpPr/>
          <p:nvPr/>
        </p:nvSpPr>
        <p:spPr>
          <a:xfrm>
            <a:off x="5715000" y="1078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MIMIC-III at a Glance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715000" y="1463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GB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5715000" y="1828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LABEVENTS file size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715000" y="20848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1M+</a:t>
            </a:r>
            <a:endParaRPr lang="en-US" sz="2800" dirty="0"/>
          </a:p>
        </p:txBody>
      </p:sp>
      <p:sp>
        <p:nvSpPr>
          <p:cNvPr id="25" name="Text 19"/>
          <p:cNvSpPr/>
          <p:nvPr/>
        </p:nvSpPr>
        <p:spPr>
          <a:xfrm>
            <a:off x="5715000" y="2450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event rows (cleaned)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715000" y="27066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2,839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5715000" y="30723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admissions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715000" y="33284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2,234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5715000" y="36941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715000" y="39502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376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5715000" y="43159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 types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Our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040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automated clinical lab analysis 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predefined clinical question: generate executable Python code → run it → validate → auto-correct if needed → present the result with the 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21408"/>
            <a:ext cx="4160520" cy="1207008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585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2258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Generation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0352" y="2688336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Python code is generated from the selected question + parameters. Never free-text, always typed.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81728" y="2121408"/>
            <a:ext cx="4160520" cy="1207008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585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0096" y="2258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Execution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46320" y="2688336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runs in a controlled environment. Output is validated against expected columns and question-specific rules.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3474720"/>
            <a:ext cx="4160520" cy="1207008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61188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Auto-Correction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30352" y="4041648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run fails, a rule-based corrector fixes common errors and retries — with a hard attempt limit.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81728" y="3474720"/>
            <a:ext cx="4160520" cy="1207008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1188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0096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Results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846320" y="4041648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ships with the exact generated code that produced it. Full traceability for clinical/research use.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Dataset &amp; Data Preparation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MIMIC-III: ADMISSIONS, LABEVENTS, D_LABITEMS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78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490472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admission records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HADM_ID, SUBJECT_ID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ADMITTIME, DISCHTIME, DIAGNOSIS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200400" y="153619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91840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07899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1078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LABEVENTS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29000" y="1490472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GB of lab measurements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HADM_ID, ITEMID, CHARTTIME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VALUENUM, VALUEUOM, FLAG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126480" y="153619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217920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07899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1078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D_LABITEMS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55080" y="1490472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item dictionary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ITEMID → LABEL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(376 readable test names)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65760" y="2834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Merging Steps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65760" y="3227832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5"/>
          <p:cNvSpPr/>
          <p:nvPr/>
        </p:nvSpPr>
        <p:spPr>
          <a:xfrm>
            <a:off x="365760" y="3227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94944" y="3200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inspection: confirmed required fields exist (HADM_ID, ITEMID, CHARTTIME, VALUENUM, VALUEUOM, FLAG, LABEL)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3575304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18"/>
          <p:cNvSpPr/>
          <p:nvPr/>
        </p:nvSpPr>
        <p:spPr>
          <a:xfrm>
            <a:off x="365760" y="35753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94944" y="3547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drop LABEVENTS rows with missing HADM_ID (required for the join)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65760" y="3922776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1"/>
          <p:cNvSpPr/>
          <p:nvPr/>
        </p:nvSpPr>
        <p:spPr>
          <a:xfrm>
            <a:off x="365760" y="3922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94944" y="3895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keep only rows with valid VALUENUM for numeric analysis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65760" y="4270248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Text 24"/>
          <p:cNvSpPr/>
          <p:nvPr/>
        </p:nvSpPr>
        <p:spPr>
          <a:xfrm>
            <a:off x="365760" y="4270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94944" y="42428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Join: LABEVENTS ⟶ ADMISSIONS on HADM_ID to add admission context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65760" y="4617720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Text 27"/>
          <p:cNvSpPr/>
          <p:nvPr/>
        </p:nvSpPr>
        <p:spPr>
          <a:xfrm>
            <a:off x="365760" y="4617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94944" y="4590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Enrich: join D_LABITEMS (ITEMID → LABEL) to add readable test names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486400" y="2788920"/>
            <a:ext cx="3291840" cy="2148840"/>
          </a:xfrm>
          <a:prstGeom prst="roundRect">
            <a:avLst>
              <a:gd name="adj" fmla="val 425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5" name="Text 30"/>
          <p:cNvSpPr/>
          <p:nvPr/>
        </p:nvSpPr>
        <p:spPr>
          <a:xfrm>
            <a:off x="5623560" y="2907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Dataset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623560" y="318211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1,003,949</a:t>
            </a:r>
            <a:endParaRPr lang="en-US" sz="4000" dirty="0"/>
          </a:p>
        </p:txBody>
      </p:sp>
      <p:sp>
        <p:nvSpPr>
          <p:cNvPr id="37" name="Text 32"/>
          <p:cNvSpPr/>
          <p:nvPr/>
        </p:nvSpPr>
        <p:spPr>
          <a:xfrm>
            <a:off x="5623560" y="38221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5623560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columns · cleaned merged CSV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every analysis module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29768" y="7223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Registry-driven, layered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261872" cy="1371600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115568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4904" y="15727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91056" y="1463040"/>
            <a:ext cx="109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›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682496" y="1005840"/>
            <a:ext cx="1261872" cy="1371600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264" y="1115568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15727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953512" y="1463040"/>
            <a:ext cx="109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044952" y="1005840"/>
            <a:ext cx="1261872" cy="1371600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11556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99816" y="15727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315968" y="1463040"/>
            <a:ext cx="109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›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4407408" y="1005840"/>
            <a:ext cx="1261872" cy="1371600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1115568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462272" y="15727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5678424" y="1463040"/>
            <a:ext cx="109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›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5769864" y="1005840"/>
            <a:ext cx="1261872" cy="1371600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1115568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824728" y="15727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7040880" y="1463040"/>
            <a:ext cx="109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›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7132320" y="1005840"/>
            <a:ext cx="1261872" cy="1371600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088" y="1115568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87184" y="15727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320040" y="2523744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113A5C"/>
          </a:solidFill>
          <a:ln w="12700">
            <a:solidFill>
              <a:srgbClr val="113A5C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606040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68680" y="2578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Truth: all questions defined once in questions.py — UI, code generation, validation, and pipeline all read from it. Adding a question is a one-place change.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320040" y="3154680"/>
            <a:ext cx="4160520" cy="292608"/>
          </a:xfrm>
          <a:prstGeom prst="roundRect">
            <a:avLst>
              <a:gd name="adj" fmla="val 3125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2"/>
          <p:cNvSpPr/>
          <p:nvPr/>
        </p:nvSpPr>
        <p:spPr>
          <a:xfrm>
            <a:off x="411480" y="31912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questions.py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1984248" y="31912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registry – single source of truth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320040" y="3502152"/>
            <a:ext cx="4160520" cy="292608"/>
          </a:xfrm>
          <a:prstGeom prst="roundRect">
            <a:avLst>
              <a:gd name="adj" fmla="val 3125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Text 25"/>
          <p:cNvSpPr/>
          <p:nvPr/>
        </p:nvSpPr>
        <p:spPr>
          <a:xfrm>
            <a:off x="411480" y="35387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data_prep.py</a:t>
            </a:r>
            <a:endParaRPr lang="en-US" sz="950" dirty="0"/>
          </a:p>
        </p:txBody>
      </p:sp>
      <p:sp>
        <p:nvSpPr>
          <p:cNvPr id="35" name="Text 26"/>
          <p:cNvSpPr/>
          <p:nvPr/>
        </p:nvSpPr>
        <p:spPr>
          <a:xfrm>
            <a:off x="1984248" y="353872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dataset; one function per question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320040" y="3849624"/>
            <a:ext cx="4160520" cy="292608"/>
          </a:xfrm>
          <a:prstGeom prst="roundRect">
            <a:avLst>
              <a:gd name="adj" fmla="val 3125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Text 28"/>
          <p:cNvSpPr/>
          <p:nvPr/>
        </p:nvSpPr>
        <p:spPr>
          <a:xfrm>
            <a:off x="411480" y="38862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code_generation.py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1984248" y="38862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runnable code string from spec + params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320040" y="4197096"/>
            <a:ext cx="4160520" cy="292608"/>
          </a:xfrm>
          <a:prstGeom prst="roundRect">
            <a:avLst>
              <a:gd name="adj" fmla="val 3125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Text 31"/>
          <p:cNvSpPr/>
          <p:nvPr/>
        </p:nvSpPr>
        <p:spPr>
          <a:xfrm>
            <a:off x="411480" y="42336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execution.py</a:t>
            </a:r>
            <a:endParaRPr lang="en-US" sz="950" dirty="0"/>
          </a:p>
        </p:txBody>
      </p:sp>
      <p:sp>
        <p:nvSpPr>
          <p:cNvPr id="41" name="Text 32"/>
          <p:cNvSpPr/>
          <p:nvPr/>
        </p:nvSpPr>
        <p:spPr>
          <a:xfrm>
            <a:off x="1984248" y="423367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exec(); capture result/error/status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320040" y="4544568"/>
            <a:ext cx="4160520" cy="292608"/>
          </a:xfrm>
          <a:prstGeom prst="roundRect">
            <a:avLst>
              <a:gd name="adj" fmla="val 3125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Text 34"/>
          <p:cNvSpPr/>
          <p:nvPr/>
        </p:nvSpPr>
        <p:spPr>
          <a:xfrm>
            <a:off x="411480" y="45811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validation.py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1984248" y="45811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shape, per-question rule checks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4636008" y="3154680"/>
            <a:ext cx="4160520" cy="292608"/>
          </a:xfrm>
          <a:prstGeom prst="roundRect">
            <a:avLst>
              <a:gd name="adj" fmla="val 3125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Text 37"/>
          <p:cNvSpPr/>
          <p:nvPr/>
        </p:nvSpPr>
        <p:spPr>
          <a:xfrm>
            <a:off x="4727448" y="31912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correction.py</a:t>
            </a:r>
            <a:endParaRPr lang="en-US" sz="950" dirty="0"/>
          </a:p>
        </p:txBody>
      </p:sp>
      <p:sp>
        <p:nvSpPr>
          <p:cNvPr id="47" name="Text 38"/>
          <p:cNvSpPr/>
          <p:nvPr/>
        </p:nvSpPr>
        <p:spPr>
          <a:xfrm>
            <a:off x="6300216" y="31912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fixes + bounded retry loop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4636008" y="3502152"/>
            <a:ext cx="4160520" cy="292608"/>
          </a:xfrm>
          <a:prstGeom prst="roundRect">
            <a:avLst>
              <a:gd name="adj" fmla="val 3125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Text 40"/>
          <p:cNvSpPr/>
          <p:nvPr/>
        </p:nvSpPr>
        <p:spPr>
          <a:xfrm>
            <a:off x="4727448" y="35387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question_router.py</a:t>
            </a:r>
            <a:endParaRPr lang="en-US" sz="950" dirty="0"/>
          </a:p>
        </p:txBody>
      </p:sp>
      <p:sp>
        <p:nvSpPr>
          <p:cNvPr id="50" name="Text 41"/>
          <p:cNvSpPr/>
          <p:nvPr/>
        </p:nvSpPr>
        <p:spPr>
          <a:xfrm>
            <a:off x="6300216" y="353872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NL routing to template + params</a:t>
            </a:r>
            <a:endParaRPr lang="en-US" sz="950" dirty="0"/>
          </a:p>
        </p:txBody>
      </p:sp>
      <p:sp>
        <p:nvSpPr>
          <p:cNvPr id="51" name="Shape 42"/>
          <p:cNvSpPr/>
          <p:nvPr/>
        </p:nvSpPr>
        <p:spPr>
          <a:xfrm>
            <a:off x="4636008" y="3849624"/>
            <a:ext cx="4160520" cy="292608"/>
          </a:xfrm>
          <a:prstGeom prst="roundRect">
            <a:avLst>
              <a:gd name="adj" fmla="val 3125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Text 43"/>
          <p:cNvSpPr/>
          <p:nvPr/>
        </p:nvSpPr>
        <p:spPr>
          <a:xfrm>
            <a:off x="4727448" y="38862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950" dirty="0"/>
          </a:p>
        </p:txBody>
      </p:sp>
      <p:sp>
        <p:nvSpPr>
          <p:cNvPr id="53" name="Text 44"/>
          <p:cNvSpPr/>
          <p:nvPr/>
        </p:nvSpPr>
        <p:spPr>
          <a:xfrm>
            <a:off x="6300216" y="38862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(dark theme)</a:t>
            </a:r>
            <a:endParaRPr lang="en-US" sz="950" dirty="0"/>
          </a:p>
        </p:txBody>
      </p:sp>
      <p:sp>
        <p:nvSpPr>
          <p:cNvPr id="54" name="Shape 45"/>
          <p:cNvSpPr/>
          <p:nvPr/>
        </p:nvSpPr>
        <p:spPr>
          <a:xfrm>
            <a:off x="4636008" y="4197096"/>
            <a:ext cx="4160520" cy="292608"/>
          </a:xfrm>
          <a:prstGeom prst="roundRect">
            <a:avLst>
              <a:gd name="adj" fmla="val 3125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Text 46"/>
          <p:cNvSpPr/>
          <p:nvPr/>
        </p:nvSpPr>
        <p:spPr>
          <a:xfrm>
            <a:off x="4727448" y="42336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sandbox.py</a:t>
            </a:r>
            <a:endParaRPr lang="en-US" sz="950" dirty="0"/>
          </a:p>
        </p:txBody>
      </p:sp>
      <p:sp>
        <p:nvSpPr>
          <p:cNvPr id="56" name="Text 47"/>
          <p:cNvSpPr/>
          <p:nvPr/>
        </p:nvSpPr>
        <p:spPr>
          <a:xfrm>
            <a:off x="6300216" y="423367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allowlist + restricted exec</a:t>
            </a:r>
            <a:endParaRPr lang="en-US" sz="950" dirty="0"/>
          </a:p>
        </p:txBody>
      </p:sp>
      <p:sp>
        <p:nvSpPr>
          <p:cNvPr id="57" name="Shape 48"/>
          <p:cNvSpPr/>
          <p:nvPr/>
        </p:nvSpPr>
        <p:spPr>
          <a:xfrm>
            <a:off x="4636008" y="4544568"/>
            <a:ext cx="4160520" cy="292608"/>
          </a:xfrm>
          <a:prstGeom prst="roundRect">
            <a:avLst>
              <a:gd name="adj" fmla="val 3125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Text 49"/>
          <p:cNvSpPr/>
          <p:nvPr/>
        </p:nvSpPr>
        <p:spPr>
          <a:xfrm>
            <a:off x="4727448" y="45811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agent_pipeline.py</a:t>
            </a:r>
            <a:endParaRPr lang="en-US" sz="950" dirty="0"/>
          </a:p>
        </p:txBody>
      </p:sp>
      <p:sp>
        <p:nvSpPr>
          <p:cNvPr id="59" name="Text 50"/>
          <p:cNvSpPr/>
          <p:nvPr/>
        </p:nvSpPr>
        <p:spPr>
          <a:xfrm>
            <a:off x="6300216" y="45811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LLM code-gen loop (experimental)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Example Workflow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request: "Show the latest Glucose value for admission 145834"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7899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264" y="104241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9264" y="1280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the latest Glucose value for admission 145834"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81051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475488" y="192024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475488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9202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865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matching question template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20440" y="18653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'Latest value of a lab test'  →  inputs: HADM_ID=145834, ITEMID=Glucose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2322576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1"/>
          <p:cNvSpPr/>
          <p:nvPr/>
        </p:nvSpPr>
        <p:spPr>
          <a:xfrm>
            <a:off x="475488" y="2432304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2"/>
          <p:cNvSpPr/>
          <p:nvPr/>
        </p:nvSpPr>
        <p:spPr>
          <a:xfrm>
            <a:off x="475488" y="2432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43230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377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Python analysis code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520440" y="23774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get_latest_lab_value(145834, 50931)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65760" y="283464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6"/>
          <p:cNvSpPr/>
          <p:nvPr/>
        </p:nvSpPr>
        <p:spPr>
          <a:xfrm>
            <a:off x="475488" y="294436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17"/>
          <p:cNvSpPr/>
          <p:nvPr/>
        </p:nvSpPr>
        <p:spPr>
          <a:xfrm>
            <a:off x="475488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2944368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28895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processes the dataset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520440" y="28895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~1M rows → admission 145834 → Glucose → most recent CHARTTIME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65760" y="3346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1"/>
          <p:cNvSpPr/>
          <p:nvPr/>
        </p:nvSpPr>
        <p:spPr>
          <a:xfrm>
            <a:off x="475488" y="3456432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Text 22"/>
          <p:cNvSpPr/>
          <p:nvPr/>
        </p:nvSpPr>
        <p:spPr>
          <a:xfrm>
            <a:off x="475488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3456432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88720" y="3401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code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520440" y="34015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exec() in controlled environment; captures result DataFrame + status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65760" y="385876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26"/>
          <p:cNvSpPr/>
          <p:nvPr/>
        </p:nvSpPr>
        <p:spPr>
          <a:xfrm>
            <a:off x="475488" y="396849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Text 27"/>
          <p:cNvSpPr/>
          <p:nvPr/>
        </p:nvSpPr>
        <p:spPr>
          <a:xfrm>
            <a:off x="475488" y="3968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" y="3968496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188720" y="3913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result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3520440" y="39136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1 row, expected columns, VALUENUM not null → Validation: Passed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365760" y="437083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1"/>
          <p:cNvSpPr/>
          <p:nvPr/>
        </p:nvSpPr>
        <p:spPr>
          <a:xfrm>
            <a:off x="475488" y="448056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Text 32"/>
          <p:cNvSpPr/>
          <p:nvPr/>
        </p:nvSpPr>
        <p:spPr>
          <a:xfrm>
            <a:off x="475488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4480560"/>
            <a:ext cx="256032" cy="25603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188720" y="44256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the clinical answer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3520440" y="442569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card: 'Latest value: 102 mg/dL'  +  Generated Code tab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The 12 Supported Questions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67876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questions (Part 1: Q1–Q5) and new additions (Q6–Q12)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0149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lab results for an admission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0" y="106984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618488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411480" y="177393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1148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6733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value of a selected lab test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172821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+ Lab Test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276856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1480" y="243230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41148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331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of a lab test over 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0" y="23865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+ Lab Test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935224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411480" y="3090672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41148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2990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lab tests during an admission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0" y="304495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3593592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411480" y="3749040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41148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first vs last value of a lab test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0" y="370332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+ Lab Test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4251960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411480" y="440740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41148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43068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(min / max / mean)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0" y="43616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+ Lab Test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36592" y="960120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4828032" y="111556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Text 34"/>
          <p:cNvSpPr/>
          <p:nvPr/>
        </p:nvSpPr>
        <p:spPr>
          <a:xfrm>
            <a:off x="4828032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93792" y="10149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abnormal vs normal results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74152" y="106984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36592" y="1618488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4828032" y="1773936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Text 39"/>
          <p:cNvSpPr/>
          <p:nvPr/>
        </p:nvSpPr>
        <p:spPr>
          <a:xfrm>
            <a:off x="4828032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93792" y="16733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results for a specific lab test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74152" y="172821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+ Lab Test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36592" y="2276856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4828032" y="2432304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Text 44"/>
          <p:cNvSpPr/>
          <p:nvPr/>
        </p:nvSpPr>
        <p:spPr>
          <a:xfrm>
            <a:off x="4828032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93792" y="2331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distinct abnormal lab tests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074152" y="23865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36592" y="2935224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4828032" y="3090672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Text 49"/>
          <p:cNvSpPr/>
          <p:nvPr/>
        </p:nvSpPr>
        <p:spPr>
          <a:xfrm>
            <a:off x="4828032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93792" y="2990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values within a date range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074152" y="304495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+ Lab Test + Dates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36592" y="3593592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4828032" y="374904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Text 54"/>
          <p:cNvSpPr/>
          <p:nvPr/>
        </p:nvSpPr>
        <p:spPr>
          <a:xfrm>
            <a:off x="4828032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193792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admissions for a patient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074152" y="370332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36592" y="4251960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4828032" y="440740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Text 59"/>
          <p:cNvSpPr/>
          <p:nvPr/>
        </p:nvSpPr>
        <p:spPr>
          <a:xfrm>
            <a:off x="4828032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193792" y="43068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vs normal across ALL admissions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074152" y="43616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(dataset-wide)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119872" y="4434840"/>
            <a:ext cx="822960" cy="219456"/>
          </a:xfrm>
          <a:prstGeom prst="roundRect">
            <a:avLst>
              <a:gd name="adj" fmla="val 291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5" name="Text 63"/>
          <p:cNvSpPr/>
          <p:nvPr/>
        </p:nvSpPr>
        <p:spPr>
          <a:xfrm>
            <a:off x="8119872" y="44348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dataset-wide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Code Generation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Template-based: QuestionSpec → runnable Python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QuestionSpec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(registry)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12848" y="117043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2450592" y="10241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17043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626864" y="10241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generate_code()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117043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03136" y="96012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6803136" y="10241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String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965960"/>
            <a:ext cx="5212080" cy="2926080"/>
          </a:xfrm>
          <a:prstGeom prst="roundRect">
            <a:avLst>
              <a:gd name="adj" fmla="val 3125"/>
            </a:avLst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438912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— Q3: Lab Trend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3957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AF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Generated by generate_code(spec, params)
</a:t>
            </a: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00" dirty="0">
                <a:solidFill>
                  <a:srgbClr val="66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get_lab_trend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hadm_id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107521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itemid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51221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2834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function in data_prep.py: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get_lab_trend(hadm_id, itemid):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merged_df.copy()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df[df['HADM_ID'] == hadm_id]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df[df['ITEMID'] == itemid]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df.sort_values('CHARTTIME')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23560" y="1965960"/>
            <a:ext cx="3200400" cy="621792"/>
          </a:xfrm>
          <a:prstGeom prst="roundRect">
            <a:avLst>
              <a:gd name="adj" fmla="val 1470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025" y="2046849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071616" y="20299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known functions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42432" y="228600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only ever calls a data function declared in data_prep.py — no free-text exec risk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23560" y="2679192"/>
            <a:ext cx="3200400" cy="621792"/>
          </a:xfrm>
          <a:prstGeom prst="roundRect">
            <a:avLst>
              <a:gd name="adj" fmla="val 1470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025" y="2749530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071616" y="27432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parameters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742432" y="299923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IDs, ITEMIDs, and dates are validated before being injected into the code string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623560" y="3392424"/>
            <a:ext cx="3200400" cy="621792"/>
          </a:xfrm>
          <a:prstGeom prst="roundRect">
            <a:avLst>
              <a:gd name="adj" fmla="val 1470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3462762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071616" y="34564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question → one template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742432" y="371246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QuestionSpec declares its function name; code generation is a one-line call per question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623560" y="4105656"/>
            <a:ext cx="3200400" cy="621792"/>
          </a:xfrm>
          <a:prstGeom prst="roundRect">
            <a:avLst>
              <a:gd name="adj" fmla="val 1470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4178808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071616" y="41696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transparency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742432" y="442569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code string is shown to the user in the 'Generated Code' tab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Execution &amp; Validation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8620" y="7223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exec() and per-question output checks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38328" y="960120"/>
            <a:ext cx="4270248" cy="2240280"/>
          </a:xfrm>
          <a:prstGeom prst="roundRect">
            <a:avLst>
              <a:gd name="adj" fmla="val 4082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078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(execution.py)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5819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5528" y="1572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exec() on the generated code string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965960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" y="19568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only the data functions namespace — no file/network access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350008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5528" y="23408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Captures: result DataFrame, error message, success status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34056"/>
            <a:ext cx="219456" cy="219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95528" y="27249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structured ExecutionResult to the pipeline</a:t>
            </a:r>
            <a:endParaRPr lang="en-US" sz="1050" dirty="0"/>
          </a:p>
        </p:txBody>
      </p:sp>
      <p:sp>
        <p:nvSpPr>
          <p:cNvPr id="15" name="Shape 8"/>
          <p:cNvSpPr/>
          <p:nvPr/>
        </p:nvSpPr>
        <p:spPr>
          <a:xfrm>
            <a:off x="4663440" y="960120"/>
            <a:ext cx="4302252" cy="2240280"/>
          </a:xfrm>
          <a:prstGeom prst="roundRect">
            <a:avLst>
              <a:gd name="adj" fmla="val 4082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078992"/>
            <a:ext cx="384048" cy="38404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321808" y="10789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(validation.py)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581912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20640" y="157276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a non-empty DataFrame</a:t>
            </a:r>
            <a:endParaRPr lang="en-US" sz="10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965960"/>
            <a:ext cx="219456" cy="2194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20640" y="195681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columns are all present</a:t>
            </a:r>
            <a:endParaRPr lang="en-US" sz="10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350008"/>
            <a:ext cx="219456" cy="21945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120640" y="234086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check (e.g. exactly 1 row for Q2 latest value)</a:t>
            </a:r>
            <a:endParaRPr lang="en-US" sz="10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734056"/>
            <a:ext cx="219456" cy="219456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120640" y="272491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rules: time-ascending for trends, only FLAG=abnormal for Q1/Q8, counts add up for Q7/Q12</a:t>
            </a:r>
            <a:endParaRPr lang="en-US" sz="1050" dirty="0"/>
          </a:p>
        </p:txBody>
      </p:sp>
      <p:pic>
        <p:nvPicPr>
          <p:cNvPr id="26" name="Image 10" descr="/home/claude/project/seminar-project-main/docs/assets/screenshots/validation_t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291840"/>
            <a:ext cx="4206240" cy="16459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27" name="Image 11" descr="/home/claude/project/seminar-project-main/docs/assets/screenshots/q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291840"/>
            <a:ext cx="4160520" cy="16459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28" name="Text 14"/>
          <p:cNvSpPr/>
          <p:nvPr/>
        </p:nvSpPr>
        <p:spPr>
          <a:xfrm>
            <a:off x="320040" y="49560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Details tab</a:t>
            </a:r>
            <a:endParaRPr lang="en-US" sz="900" dirty="0"/>
          </a:p>
        </p:txBody>
      </p:sp>
      <p:sp>
        <p:nvSpPr>
          <p:cNvPr id="29" name="Text 15"/>
          <p:cNvSpPr/>
          <p:nvPr/>
        </p:nvSpPr>
        <p:spPr>
          <a:xfrm>
            <a:off x="4663440" y="495604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Latest lab value — 1-row result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The Correction Loop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retry when generated code fails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Code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92224" y="111556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987552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965960" y="10241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38144" y="111556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11880" y="987552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3611880" y="10241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84064" y="111556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57800" y="987552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5257800" y="10241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Done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987552"/>
            <a:ext cx="1519311" cy="640080"/>
          </a:xfrm>
          <a:prstGeom prst="roundRect">
            <a:avLst>
              <a:gd name="adj" fmla="val 14286"/>
            </a:avLst>
          </a:prstGeom>
          <a:solidFill>
            <a:srgbClr val="2A1E00"/>
          </a:solidFill>
          <a:ln w="12700">
            <a:solidFill>
              <a:srgbClr val="2A1E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6400800" y="10241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Correct &amp; Retry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645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bounded retry (max N attempts)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938528"/>
            <a:ext cx="5212080" cy="2926080"/>
          </a:xfrm>
          <a:prstGeom prst="roundRect">
            <a:avLst>
              <a:gd name="adj" fmla="val 312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057400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14400" y="20574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Correction Works</a:t>
            </a:r>
            <a:endParaRPr lang="en-US" sz="14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560320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4672" y="252374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Whole-identifier matching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04672" y="27614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matches only full function names (word boundaries) — won't corrupt a valid similar name like get_abnormal_results_for_lab</a:t>
            </a:r>
            <a:endParaRPr lang="en-US" sz="1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108960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04672" y="30723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typo map (TYPO_FIXES)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04672" y="33101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map in correction.py covers the most common generated-code errors; REVERSE_TYPOS allows inverse repair</a:t>
            </a:r>
            <a:endParaRPr lang="en-US" sz="1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657600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04672" y="36210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retry loop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04672" y="38587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attempt limit prevents infinite loops; if correction still fails, the error is surfaced cleanly to the user</a:t>
            </a:r>
            <a:endParaRPr lang="en-US" sz="10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206240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04672" y="41696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attempts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804672" y="44074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(code tried, error received, fix applied) is saved and shown in the 'Correction Attempts' tab</a:t>
            </a:r>
            <a:endParaRPr lang="en-US" sz="1000" dirty="0"/>
          </a:p>
        </p:txBody>
      </p:sp>
      <p:pic>
        <p:nvPicPr>
          <p:cNvPr id="33" name="Image 5" descr="/home/claude/project/seminar-project-main/docs/assets/screenshots/correction_attemp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938528"/>
            <a:ext cx="3200400" cy="292608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34" name="Text 26"/>
          <p:cNvSpPr/>
          <p:nvPr/>
        </p:nvSpPr>
        <p:spPr>
          <a:xfrm>
            <a:off x="5623560" y="48828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Attempts tab — two attempts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Natural Language Input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2177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question in plain English — controlled routing to predefined templates</a:t>
            </a:r>
            <a:endParaRPr lang="en-US" sz="1200" dirty="0"/>
          </a:p>
        </p:txBody>
      </p:sp>
      <p:pic>
        <p:nvPicPr>
          <p:cNvPr id="4" name="Image 0" descr="/home/claude/project/seminar-project-main/docs/assets/screenshots/nl_qu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5120640" cy="34747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577840" y="960120"/>
            <a:ext cx="3246120" cy="1261872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1078992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1344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Only (default)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742432" y="1463040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/ keyword matching maps free text to a template ID + params. Fast, offline, deterministic. Always available.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577840" y="2350008"/>
            <a:ext cx="3246120" cy="1261872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246888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81344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→ AI Fallback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742432" y="2852928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rule matches and an LLM key is set (Anthropic / OpenAI / Gemini), the LLM selects the best template + params. Still never generates code.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577840" y="3739896"/>
            <a:ext cx="3246120" cy="1261872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2432" y="385876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81344" y="38587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Advanced: AI Writes Code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5742432" y="4242816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off by default. LLM programmer agent writes a pandas snippet for free-form questions. Sandboxed + validated. See next slide.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20040" y="4553712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2"/>
          <p:cNvSpPr/>
          <p:nvPr/>
        </p:nvSpPr>
        <p:spPr>
          <a:xfrm>
            <a:off x="457200" y="4617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"Show hematocrit trend for admission 107521" → Q3  |  "What is the latest chloride for admission 199884?" → Q2  |  "Show abnormal results for all admissions" → Q12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78779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Advanced: AI Writes Code (Experimental)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040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AgentCoder-style guarded LLM code generation — off by default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Free-text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38528" y="1170432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84832" y="96012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2084832" y="10058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Programmer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03320" y="1170432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9624" y="96012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3849624" y="10058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(AST check)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68112" y="1170432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14416" y="96012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5614416" y="10058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exec()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Validator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32904" y="1170432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79208" y="96012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7379208" y="10058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020824"/>
            <a:ext cx="8412480" cy="384048"/>
          </a:xfrm>
          <a:prstGeom prst="roundRect">
            <a:avLst>
              <a:gd name="adj" fmla="val 20833"/>
            </a:avLst>
          </a:prstGeom>
          <a:solidFill>
            <a:srgbClr val="0D2E44"/>
          </a:solidFill>
          <a:ln w="12700">
            <a:solidFill>
              <a:srgbClr val="0D2E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20" name="Text 18"/>
          <p:cNvSpPr/>
          <p:nvPr/>
        </p:nvSpPr>
        <p:spPr>
          <a:xfrm>
            <a:off x="457200" y="20345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by: AgentCoder (arXiv 2312.13010) — programmer agent + validator + executor, in a generate→test→refine loop. Orchestration is kept lightweight and in-repo (no CrewAI/AutoGen/LangGraph).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20930"/>
            <a:ext cx="4160520" cy="2578608"/>
          </a:xfrm>
          <a:prstGeom prst="roundRect">
            <a:avLst>
              <a:gd name="adj" fmla="val 38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630658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86968" y="263065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 Guardrails (sandbox.py)</a:t>
            </a:r>
            <a:endParaRPr lang="en-US" sz="13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097002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2376" y="308785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allowlist: no imports, no dunder/underscore attributes</a:t>
            </a: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444474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22376" y="343533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/ network / eval / exec methods allowed</a:t>
            </a:r>
            <a:endParaRPr lang="en-US" sz="1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791946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2376" y="378280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loops (for/while) in generated code</a:t>
            </a:r>
            <a:endParaRPr lang="en-US" sz="10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4139418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2376" y="413027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__builtins__: only pd and a read-only df exposed</a:t>
            </a:r>
            <a:endParaRPr lang="en-US" sz="10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4486890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2376" y="447774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thread with soft timeout and row cap</a:t>
            </a:r>
            <a:endParaRPr lang="en-US" sz="1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4834362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22376" y="482521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must pass validate_freeform_result() before display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4572000" y="2520929"/>
            <a:ext cx="4160520" cy="2578607"/>
          </a:xfrm>
          <a:prstGeom prst="roundRect">
            <a:avLst>
              <a:gd name="adj" fmla="val 38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630658"/>
            <a:ext cx="365760" cy="36576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184648" y="263065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It Activate?</a:t>
            </a:r>
            <a:endParaRPr lang="en-US" sz="13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3087858"/>
            <a:ext cx="237744" cy="23774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056632" y="305128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by default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5056632" y="328902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key set → Rules Only mode, always</a:t>
            </a:r>
            <a:endParaRPr lang="en-US" sz="95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3618210"/>
            <a:ext cx="237744" cy="23774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056632" y="358163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selection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5056632" y="381937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chooses 'Advanced: AI writes code' mode in the UI</a:t>
            </a:r>
            <a:endParaRPr lang="en-US" sz="95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4148562"/>
            <a:ext cx="237744" cy="23774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5056632" y="411198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dialog</a:t>
            </a:r>
            <a:endParaRPr lang="en-US" sz="1100" dirty="0"/>
          </a:p>
        </p:txBody>
      </p:sp>
      <p:sp>
        <p:nvSpPr>
          <p:cNvPr id="47" name="Text 34"/>
          <p:cNvSpPr/>
          <p:nvPr/>
        </p:nvSpPr>
        <p:spPr>
          <a:xfrm>
            <a:off x="5056632" y="434973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template mode cannot match, a popup offers one-click switch to Advanced</a:t>
            </a:r>
            <a:endParaRPr lang="en-US" sz="950" dirty="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4678914"/>
            <a:ext cx="237744" cy="237744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5056632" y="464233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questions</a:t>
            </a:r>
            <a:endParaRPr lang="en-US" sz="1100" dirty="0"/>
          </a:p>
        </p:txBody>
      </p:sp>
      <p:sp>
        <p:nvSpPr>
          <p:cNvPr id="50" name="Text 36"/>
          <p:cNvSpPr/>
          <p:nvPr/>
        </p:nvSpPr>
        <p:spPr>
          <a:xfrm>
            <a:off x="5056632" y="488008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outside the 12-template registry (e.g. 'last 10 abnormal across the dataset')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User Interface (Streamlit)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2061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app with dynamic inputs and rich result display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246120" cy="4160520"/>
          </a:xfrm>
          <a:prstGeom prst="roundRect">
            <a:avLst>
              <a:gd name="adj" fmla="val 2817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75488" y="1078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Features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1790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15087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selector with category filter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80136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8096" y="1792224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help caption (what it returns)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08483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8096" y="207568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inputs rendered dynamically from the registry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368296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096" y="235915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natural-language question box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651760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8096" y="264261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metric cards (latest value, min/max/mean, counts)</a:t>
            </a:r>
            <a:endParaRPr lang="en-US" sz="9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935224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68096" y="292608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trend line chart with axis labels + units</a:t>
            </a:r>
            <a:endParaRPr lang="en-US" sz="9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18688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68096" y="3209544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status: ✓ green / ✗ red / — blue no-records</a:t>
            </a:r>
            <a:endParaRPr lang="en-US" sz="9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502152"/>
            <a:ext cx="219456" cy="2194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8096" y="349300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tab: exact code that ran</a:t>
            </a:r>
            <a:endParaRPr lang="en-US" sz="9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785616"/>
            <a:ext cx="219456" cy="21945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68096" y="377647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Details tab</a:t>
            </a:r>
            <a:endParaRPr lang="en-US" sz="9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069080"/>
            <a:ext cx="219456" cy="219456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768096" y="405993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Attempts tab</a:t>
            </a:r>
            <a:endParaRPr lang="en-US" sz="95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352544"/>
            <a:ext cx="219456" cy="219456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768096" y="434340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download of results</a:t>
            </a:r>
            <a:endParaRPr lang="en-US" sz="95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636008"/>
            <a:ext cx="219456" cy="219456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768096" y="4626864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dark theme (config.toml)</a:t>
            </a:r>
            <a:endParaRPr lang="en-US" sz="950" dirty="0"/>
          </a:p>
        </p:txBody>
      </p:sp>
      <p:pic>
        <p:nvPicPr>
          <p:cNvPr id="30" name="Image 12" descr="/home/claude/project/seminar-project-main/docs/assets/screenshots/q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960120"/>
            <a:ext cx="2743200" cy="1755648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31" name="Image 13" descr="/home/claude/project/seminar-project-main/docs/assets/screenshots/q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2779776"/>
            <a:ext cx="2743200" cy="1755648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32" name="Image 14" descr="/home/claude/project/seminar-project-main/docs/assets/screenshots/q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945525"/>
            <a:ext cx="2743200" cy="1755648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33" name="Image 15" descr="/home/claude/project/seminar-project-main/docs/assets/screenshots/q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504" y="2807911"/>
            <a:ext cx="2743200" cy="1755648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34" name="Text 16"/>
          <p:cNvSpPr/>
          <p:nvPr/>
        </p:nvSpPr>
        <p:spPr>
          <a:xfrm>
            <a:off x="3520440" y="46085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Trend + chart   Q6: Summary stats</a:t>
            </a:r>
            <a:endParaRPr lang="en-US" sz="850" dirty="0"/>
          </a:p>
        </p:txBody>
      </p:sp>
      <p:sp>
        <p:nvSpPr>
          <p:cNvPr id="35" name="Text 17"/>
          <p:cNvSpPr/>
          <p:nvPr/>
        </p:nvSpPr>
        <p:spPr>
          <a:xfrm>
            <a:off x="3520440" y="480974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Abnormal results   Q7: Counts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 Live Demo: Lab Trend Chart (Q3)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040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Hematocrit trend for admission 107521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75488" y="10789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7218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Question: 'Show the trend of a selected lab test over time during an admission'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830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8096" y="177393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Admission ID: 107521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093976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8096" y="208483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Lab Test: Hematocrit (ITEMID 51221)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40487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096" y="23957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Click: Run Analysis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715768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8096" y="2706624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line chart showing decreasing trend ~57.9% → 44.4%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026664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68096" y="301752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tab: result = get_lab_trend(107521, 51221)</a:t>
            </a:r>
            <a:endParaRPr lang="en-US" sz="10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337560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68096" y="332841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Execution ✓ Validation ✓ Correction: No</a:t>
            </a:r>
            <a:endParaRPr lang="en-US" sz="1000" dirty="0"/>
          </a:p>
        </p:txBody>
      </p:sp>
      <p:pic>
        <p:nvPicPr>
          <p:cNvPr id="20" name="Image 7" descr="/home/claude/project/seminar-project-main/docs/assets/screenshots/q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960120"/>
            <a:ext cx="5166360" cy="292608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21" name="Shape 11"/>
          <p:cNvSpPr/>
          <p:nvPr/>
        </p:nvSpPr>
        <p:spPr>
          <a:xfrm>
            <a:off x="320040" y="3977640"/>
            <a:ext cx="8458200" cy="685800"/>
          </a:xfrm>
          <a:prstGeom prst="roundRect">
            <a:avLst>
              <a:gd name="adj" fmla="val 13333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2" name="Text 12"/>
          <p:cNvSpPr/>
          <p:nvPr/>
        </p:nvSpPr>
        <p:spPr>
          <a:xfrm>
            <a:off x="475488" y="40965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1234440" y="407822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Hematocrit trend for admission 107521: decreasing from 57.9% → 44.4% over admission period. Line chart + data table + generated code shown.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 Live Demo: Natural Language Query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8859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via plain English — no code needed from the user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7899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6070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types: "Show hematocrit trend for admission 107521"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1719072"/>
            <a:ext cx="4206240" cy="2464308"/>
          </a:xfrm>
          <a:prstGeom prst="roundRect">
            <a:avLst>
              <a:gd name="adj" fmla="val 3774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475488" y="18288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Router Does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24942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8096" y="224028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match: 'trend' → Q3 template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58775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8096" y="25786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HADM_ID: 107521 from the sentence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92608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8096" y="291693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lab: 'hematocrit' → ITEMID 51221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264408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68096" y="325526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route result: question_id=3, params={...}</a:t>
            </a:r>
            <a:endParaRPr lang="en-US" sz="10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602736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68096" y="35935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to pipeline — same path as dropdown</a:t>
            </a:r>
            <a:endParaRPr lang="en-US" sz="10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941064"/>
            <a:ext cx="219456" cy="21945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68096" y="39319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'Interpreted as: [3] ...  admission 107521, Hematocrit'</a:t>
            </a:r>
            <a:endParaRPr lang="en-US" sz="1050" dirty="0"/>
          </a:p>
        </p:txBody>
      </p:sp>
      <p:pic>
        <p:nvPicPr>
          <p:cNvPr id="21" name="Image 7" descr="/home/claude/project/seminar-project-main/docs/assets/screenshots/nl_que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719072"/>
            <a:ext cx="4160520" cy="242316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22" name="Shape 12"/>
          <p:cNvSpPr/>
          <p:nvPr/>
        </p:nvSpPr>
        <p:spPr>
          <a:xfrm>
            <a:off x="320040" y="4233672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0F3550"/>
          </a:solidFill>
          <a:ln w="12700">
            <a:solidFill>
              <a:srgbClr val="0F35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352544"/>
            <a:ext cx="320040" cy="32004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886968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maps the sentence to a predefined template + parameters — it NEVER generates or executes free-form code. The result is identical to the dropdown path.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 Live Demo: Correction Loop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8620" y="7269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Injecting a typo to show auto-repair in action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2070236"/>
          </a:xfrm>
          <a:prstGeom prst="roundRect">
            <a:avLst>
              <a:gd name="adj" fmla="val 5263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75488" y="974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Demo It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37715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23461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of Q1–Q5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6532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8096" y="14498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'Demo: inject a typo to force a correction'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09928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236" y="1709533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Click: Run Analysis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42660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236" y="1950551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 fails — function name is misspelled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89152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8096" y="216695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Corrector repairs the name → Attempt 2 succeeds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435645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45236" y="240443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row shows: Correction Applied = Yes</a:t>
            </a:r>
            <a:endParaRPr lang="en-US" sz="10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699678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68096" y="265844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Attempts tab shows both attempts</a:t>
            </a:r>
            <a:endParaRPr lang="en-US" sz="1050" dirty="0"/>
          </a:p>
        </p:txBody>
      </p:sp>
      <p:pic>
        <p:nvPicPr>
          <p:cNvPr id="20" name="Image 7" descr="/home/claude/project/seminar-project-main/docs/assets/screenshots/correction_attemp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45819"/>
            <a:ext cx="4160520" cy="2184537"/>
          </a:xfrm>
          <a:prstGeom prst="round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21" name="Shape 11"/>
          <p:cNvSpPr/>
          <p:nvPr/>
        </p:nvSpPr>
        <p:spPr>
          <a:xfrm>
            <a:off x="320040" y="3111246"/>
            <a:ext cx="8412480" cy="1882785"/>
          </a:xfrm>
          <a:prstGeom prst="roundRect">
            <a:avLst>
              <a:gd name="adj" fmla="val 3774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2" name="Text 12"/>
          <p:cNvSpPr/>
          <p:nvPr/>
        </p:nvSpPr>
        <p:spPr>
          <a:xfrm>
            <a:off x="475488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23" name="Text 13"/>
          <p:cNvSpPr/>
          <p:nvPr/>
        </p:nvSpPr>
        <p:spPr>
          <a:xfrm>
            <a:off x="475488" y="3246120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generator always emits correct code in normal use — the demo checkbox is the only reliable way to show the corrector firing live.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corrector uses whole-identifier matching (word boundaries) to avoid corrupting valid names like get_abnormal_results_for_lab.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bounded retry limit (N attempts) ensures the system never loops forever — if all attempts fail, the error is surfaced cleanly.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 Evaluation 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questions pass execution and validation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011680" cy="1207008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1700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Pass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2011680" cy="1207008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2514600" y="10515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514600" y="1700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2011680" cy="1207008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709160" y="10515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709160" y="1700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960120"/>
            <a:ext cx="2011680" cy="1207008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6903720" y="10515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903720" y="1700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Results (all from MIMIC-III dataset)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633472"/>
            <a:ext cx="4937760" cy="292608"/>
          </a:xfrm>
          <a:prstGeom prst="roundRect">
            <a:avLst>
              <a:gd name="adj" fmla="val 1562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384048" y="26700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26700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HADM 145834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14600" y="26700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results returned (FLAG = abnormal)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980944"/>
            <a:ext cx="4937760" cy="292608"/>
          </a:xfrm>
          <a:prstGeom prst="roundRect">
            <a:avLst>
              <a:gd name="adj" fmla="val 1562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384048" y="3017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30175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HADM 199884, Chloride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14600" y="30175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value: 103 mEq/L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937760" cy="292608"/>
          </a:xfrm>
          <a:prstGeom prst="roundRect">
            <a:avLst>
              <a:gd name="adj" fmla="val 1562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384048" y="33649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33649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HADM 107521, Hematocrit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14600" y="33649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Decreasing trend: 57.9% → 44.4%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75888"/>
            <a:ext cx="4937760" cy="292608"/>
          </a:xfrm>
          <a:prstGeom prst="roundRect">
            <a:avLst>
              <a:gd name="adj" fmla="val 1562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384048" y="37124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" y="37124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HADM 158675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14600" y="371246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lab tests listed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4937760" cy="292608"/>
          </a:xfrm>
          <a:prstGeom prst="roundRect">
            <a:avLst>
              <a:gd name="adj" fmla="val 1562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Text 32"/>
          <p:cNvSpPr/>
          <p:nvPr/>
        </p:nvSpPr>
        <p:spPr>
          <a:xfrm>
            <a:off x="384048" y="40599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" y="40599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HADM 177047, pO2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514600" y="40599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82, Last 103, Diff +21 mm Hg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370832"/>
            <a:ext cx="4937760" cy="292608"/>
          </a:xfrm>
          <a:prstGeom prst="roundRect">
            <a:avLst>
              <a:gd name="adj" fmla="val 1562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Text 36"/>
          <p:cNvSpPr/>
          <p:nvPr/>
        </p:nvSpPr>
        <p:spPr>
          <a:xfrm>
            <a:off x="384048" y="44074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2960" y="44074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Dataset-wide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514600" y="44074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admission, most abnormal first</a:t>
            </a:r>
            <a:endParaRPr lang="en-US" sz="950" dirty="0"/>
          </a:p>
        </p:txBody>
      </p:sp>
      <p:graphicFrame>
        <p:nvGraphicFramePr>
          <p:cNvPr id="41" name="Chart 0"/>
          <p:cNvGraphicFramePr/>
          <p:nvPr>
            <p:extLst>
              <p:ext uri="{D42A27DB-BD31-4B8C-83A1-F6EECF244321}">
                <p14:modId xmlns:p14="http://schemas.microsoft.com/office/powerpoint/2010/main" val="3879038026"/>
              </p:ext>
            </p:extLst>
          </p:nvPr>
        </p:nvGraphicFramePr>
        <p:xfrm>
          <a:off x="5349240" y="2212848"/>
          <a:ext cx="3474720" cy="28796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 Sample Results from MIMIC-III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040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across multiple questions and admissions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1832" y="10698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435608" y="106984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 Latest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4632" y="141732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 mEq/L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4632" y="181051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HADM 199884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36592" y="96012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097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58384" y="10698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852160" y="106984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Hematocrit Trend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01184" y="141732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57.9% → 44.4%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901184" y="181051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HADM 107521 (decreasing)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0040" y="219456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3317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1832" y="2304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435608" y="230428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 First vs Last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84632" y="265176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 mm Hg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484632" y="304495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HADM 177047: 82 → 103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36592" y="219456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23317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58384" y="2304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852160" y="230428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Dataset-Wide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901184" y="265176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2,839 admissions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4901184" y="304495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/ Normal counted per admission</a:t>
            </a:r>
            <a:endParaRPr lang="en-US" sz="950" dirty="0"/>
          </a:p>
        </p:txBody>
      </p:sp>
      <p:pic>
        <p:nvPicPr>
          <p:cNvPr id="28" name="Image 4" descr="/home/claude/project/seminar-project-main/docs/assets/screenshots/q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3456432"/>
            <a:ext cx="2084832" cy="1463040"/>
          </a:xfrm>
          <a:prstGeom prst="round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29" name="Text 22"/>
          <p:cNvSpPr/>
          <p:nvPr/>
        </p:nvSpPr>
        <p:spPr>
          <a:xfrm>
            <a:off x="320040" y="493776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First vs Last (pO2)</a:t>
            </a:r>
            <a:endParaRPr lang="en-US" sz="850" dirty="0"/>
          </a:p>
        </p:txBody>
      </p:sp>
      <p:pic>
        <p:nvPicPr>
          <p:cNvPr id="30" name="Image 5" descr="/home/claude/project/seminar-project-main/docs/assets/screenshots/q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2888" y="3456432"/>
            <a:ext cx="2084832" cy="1463040"/>
          </a:xfrm>
          <a:prstGeom prst="round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31" name="Text 23"/>
          <p:cNvSpPr/>
          <p:nvPr/>
        </p:nvSpPr>
        <p:spPr>
          <a:xfrm>
            <a:off x="2532888" y="493776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Q9: Distinct abnormal tests</a:t>
            </a:r>
            <a:endParaRPr lang="en-US" sz="850" dirty="0"/>
          </a:p>
        </p:txBody>
      </p:sp>
      <p:pic>
        <p:nvPicPr>
          <p:cNvPr id="32" name="Image 6" descr="/home/claude/project/seminar-project-main/docs/assets/screenshots/q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5736" y="3456432"/>
            <a:ext cx="2084832" cy="1463040"/>
          </a:xfrm>
          <a:prstGeom prst="round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33" name="Text 24"/>
          <p:cNvSpPr/>
          <p:nvPr/>
        </p:nvSpPr>
        <p:spPr>
          <a:xfrm>
            <a:off x="4745736" y="493776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Q10: Date range values</a:t>
            </a:r>
            <a:endParaRPr lang="en-US" sz="850" dirty="0"/>
          </a:p>
        </p:txBody>
      </p:sp>
      <p:pic>
        <p:nvPicPr>
          <p:cNvPr id="34" name="Image 7" descr="/home/claude/project/seminar-project-main/docs/assets/screenshots/q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8584" y="3456432"/>
            <a:ext cx="2084832" cy="1463040"/>
          </a:xfrm>
          <a:prstGeom prst="round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35" name="Text 25"/>
          <p:cNvSpPr/>
          <p:nvPr/>
        </p:nvSpPr>
        <p:spPr>
          <a:xfrm>
            <a:off x="6958584" y="493776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Q11: Patient admissions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 Engineering Quality &amp; Design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07605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tested, and maintainable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13385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8408" y="1133856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Source of Truth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" y="155448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questions in one registry (questions.py). Adding a question is a one-place change — no edits to app, pipeline, or validation.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36592" y="987552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13385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133856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Sandboxed Execution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01184" y="155448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allowlist + restricted builtins: no imports, no file/network, no loops. Worker thread timeout and row cap.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0040" y="2377440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52374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8408" y="2523744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159 Tests, 94% Coverage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4632" y="2944368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every module + end-to-end Streamlit AppTest for all 12 questions. 85% minimum coverage gate in pyproject.toml.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36592" y="2377440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2523744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2523744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AI, Controlled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901184" y="2944368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features are off by default. Both routing and code-gen use deterministic validators before any result is shown.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0040" y="3767328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391363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78408" y="3913632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Safety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84632" y="4334256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only calls declared data functions with typed parameters — never executes free-text or user-supplied code.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36592" y="3767328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184" y="391363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94960" y="3913632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&amp; Dependency Mgmt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4901184" y="4334256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only in .env (gitignored). Dependencies managed with uv + pyproject.toml + committed uv.lock.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344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 Limitations &amp; Future 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6492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 and what comes next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789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0789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5488" y="16002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1572768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predefined — free-form code-gen is experimental and off by default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" y="22860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2258568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local CSV dataset — no live SQL backend or real-time hospital connection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" y="29718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3232" y="2944368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or multi-user state isolation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488" y="36576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3630168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and chart presentation polish deferred (future iteration)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5488" y="43434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3232" y="4315968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results for valid-but-unmatched filters reported as 'no records' (not an error)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960120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078992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85232" y="10789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5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60020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93792" y="1572768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the guarded code-gen catalog with more safe question types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28600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93792" y="2258568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SQL backend for real-time hospital data integration</a:t>
            </a:r>
            <a:endParaRPr lang="en-US" sz="11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97180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93792" y="2944368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visualizations: heatmaps, multi-lab comparisons, distribution charts</a:t>
            </a:r>
            <a:endParaRPr lang="en-US" sz="11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65760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93792" y="3630168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broader MIMIC-III tables: vital signs, clinical notes, medications</a:t>
            </a:r>
            <a:endParaRPr lang="en-US" sz="11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34340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193792" y="4315968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question suggestion and parameter auto-fill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 Conclusion &amp; Key Takeaways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59430" y="723079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why it works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51960" cy="1207008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8408" y="109728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Clinical Analysis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" y="150876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predefined questions answered reliably from MIMIC-III without manual scripting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36592" y="960120"/>
            <a:ext cx="4251960" cy="1207008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0972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 + Transparent Code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01184" y="150876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ships with the exact Python code that produced it — full traceability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313432"/>
            <a:ext cx="4251960" cy="1207008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45059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8408" y="2450592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Registry to Rule Them All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4632" y="2862072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question registry drives UI, code gen, validation, and pipeline — zero duplication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36592" y="2313432"/>
            <a:ext cx="4251960" cy="1207008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24505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2450592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&amp; Validated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901184" y="2862072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execution, per-question validation, bounded correction, deterministic results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" y="3666744"/>
            <a:ext cx="4251960" cy="1042416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3803904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78408" y="3803904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User Experience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84632" y="4215384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cards, trend charts, NL input, dark theme, CSV export, generated-code tab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36592" y="3666744"/>
            <a:ext cx="4251960" cy="1042416"/>
          </a:xfrm>
          <a:prstGeom prst="roundRect">
            <a:avLst>
              <a:gd name="adj" fmla="val 757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184" y="3803904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94960" y="3803904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Production-Quality Engineering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4901184" y="4215384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 tests, 94% coverage, secrets in .env, managed with uv, clean git history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329184" y="4773168"/>
            <a:ext cx="8503920" cy="274320"/>
          </a:xfrm>
          <a:prstGeom prst="roundRect">
            <a:avLst>
              <a:gd name="adj" fmla="val 25000"/>
            </a:avLst>
          </a:prstGeom>
          <a:solidFill>
            <a:srgbClr val="113A5C"/>
          </a:solidFill>
          <a:ln w="12700">
            <a:solidFill>
              <a:srgbClr val="113A5C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9" name="Text 21"/>
          <p:cNvSpPr/>
          <p:nvPr/>
        </p:nvSpPr>
        <p:spPr>
          <a:xfrm>
            <a:off x="50292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Provide an automated, reliable, and user-friendly system for clinical laboratory data analysis.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97280"/>
            <a:ext cx="5029200" cy="50292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7315200" y="-731520"/>
            <a:ext cx="2286000" cy="2286000"/>
          </a:xfrm>
          <a:prstGeom prst="ellipse">
            <a:avLst/>
          </a:prstGeom>
          <a:solidFill>
            <a:srgbClr val="02C39A">
              <a:alpha val="8000"/>
            </a:srgbClr>
          </a:solidFill>
          <a:ln w="12700">
            <a:solidFill>
              <a:srgbClr val="02C39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50876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Shape 4"/>
          <p:cNvSpPr/>
          <p:nvPr/>
        </p:nvSpPr>
        <p:spPr>
          <a:xfrm>
            <a:off x="365760" y="2487168"/>
            <a:ext cx="4114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365760" y="26517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Lab Analysis System — MIMIC-III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3127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 Hillou   •   Dana Nmarny   •   Anas Khoury   •   Alon Engel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65760" y="4892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78608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159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578608" y="4892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91456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91456" y="4892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he-IL" sz="10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Tested</a:t>
            </a:r>
            <a:r>
              <a:rPr lang="he-IL" sz="1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he-IL" sz="10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Code</a:t>
            </a:r>
            <a:r>
              <a:rPr lang="he-IL" sz="1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he-IL" sz="10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Coverage</a:t>
            </a:r>
            <a:endParaRPr lang="en-US" sz="10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7004304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1M+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004304" y="4892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Rows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3457</Words>
  <Application>Microsoft Office PowerPoint</Application>
  <PresentationFormat>‫הצגה על המסך (16:9)</PresentationFormat>
  <Paragraphs>548</Paragraphs>
  <Slides>23</Slides>
  <Notes>23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Lab Analysis System</dc:title>
  <dc:subject>PptxGenJS Presentation</dc:subject>
  <dc:creator>Hala Hillou, Dana Nmarny, Anas Khoury, Alon Engel</dc:creator>
  <cp:lastModifiedBy>חלא חלו</cp:lastModifiedBy>
  <cp:revision>5</cp:revision>
  <dcterms:created xsi:type="dcterms:W3CDTF">2026-06-22T16:29:14Z</dcterms:created>
  <dcterms:modified xsi:type="dcterms:W3CDTF">2026-06-22T22:36:21Z</dcterms:modified>
</cp:coreProperties>
</file>